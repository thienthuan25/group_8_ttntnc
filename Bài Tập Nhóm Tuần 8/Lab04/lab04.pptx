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Muli Bold" charset="1" panose="00000800000000000000"/>
      <p:regular r:id="rId33"/>
    </p:embeddedFont>
    <p:embeddedFont>
      <p:font typeface="Cabin" charset="1" panose="00000500000000000000"/>
      <p:regular r:id="rId34"/>
    </p:embeddedFont>
    <p:embeddedFont>
      <p:font typeface="Cabin Bold" charset="1" panose="00000800000000000000"/>
      <p:regular r:id="rId35"/>
    </p:embeddedFont>
    <p:embeddedFont>
      <p:font typeface="Cabin Bold Italics" charset="1" panose="00000800000000000000"/>
      <p:regular r:id="rId36"/>
    </p:embeddedFont>
    <p:embeddedFont>
      <p:font typeface="Muli Ultra-Bold" charset="1" panose="00000900000000000000"/>
      <p:regular r:id="rId37"/>
    </p:embeddedFont>
    <p:embeddedFont>
      <p:font typeface="Muli Bold Italics" charset="1" panose="000008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slide20.xml" Type="http://schemas.openxmlformats.org/officeDocument/2006/relationships/slide"/><Relationship Id="rId11" Target="slide21.xml" Type="http://schemas.openxmlformats.org/officeDocument/2006/relationships/slide"/><Relationship Id="rId12" Target="slide22.xml" Type="http://schemas.openxmlformats.org/officeDocument/2006/relationships/slide"/><Relationship Id="rId13" Target="slide13.xml" Type="http://schemas.openxmlformats.org/officeDocument/2006/relationships/slide"/><Relationship Id="rId14" Target="slide3.xml" Type="http://schemas.openxmlformats.org/officeDocument/2006/relationships/slide"/><Relationship Id="rId15" Target="slide6.xml" Type="http://schemas.openxmlformats.org/officeDocument/2006/relationships/slide"/><Relationship Id="rId16" Target="slide4.xml" Type="http://schemas.openxmlformats.org/officeDocument/2006/relationships/slide"/><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slide18.xml" Type="http://schemas.openxmlformats.org/officeDocument/2006/relationship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 Id="rId9" Target="slide2.xml" Type="http://schemas.openxmlformats.org/officeDocument/2006/relationship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slide2.xml" Type="http://schemas.openxmlformats.org/officeDocument/2006/relationships/slide"/><Relationship Id="rId4" Target="../media/image2.png" Type="http://schemas.openxmlformats.org/officeDocument/2006/relationships/image"/><Relationship Id="rId5" Target="../media/image3.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slide2.xml" Type="http://schemas.openxmlformats.org/officeDocument/2006/relationships/slid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slide2.xml" Type="http://schemas.openxmlformats.org/officeDocument/2006/relationships/slide"/><Relationship Id="rId4" Target="../media/image16.png" Type="http://schemas.openxmlformats.org/officeDocument/2006/relationships/image"/><Relationship Id="rId5" Target="../media/image17.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slide2.xml" Type="http://schemas.openxmlformats.org/officeDocument/2006/relationships/slide"/><Relationship Id="rId6" Target="../media/image6.png" Type="http://schemas.openxmlformats.org/officeDocument/2006/relationships/image"/><Relationship Id="rId7" Target="../media/image7.svg" Type="http://schemas.openxmlformats.org/officeDocument/2006/relationships/image"/><Relationship Id="rId8"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24.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slide2.xml" Type="http://schemas.openxmlformats.org/officeDocument/2006/relationships/slide"/><Relationship Id="rId4" Target="../media/image10.png" Type="http://schemas.openxmlformats.org/officeDocument/2006/relationships/image"/><Relationship Id="rId5" Target="../media/image11.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svg" Type="http://schemas.openxmlformats.org/officeDocument/2006/relationships/image"/><Relationship Id="rId11" Target="slide2.xml" Type="http://schemas.openxmlformats.org/officeDocument/2006/relationships/slide"/><Relationship Id="rId12" Target="../media/image2.png" Type="http://schemas.openxmlformats.org/officeDocument/2006/relationships/image"/><Relationship Id="rId13" Target="../media/image3.svg" Type="http://schemas.openxmlformats.org/officeDocument/2006/relationships/image"/><Relationship Id="rId14" Target="../media/image6.png" Type="http://schemas.openxmlformats.org/officeDocument/2006/relationships/image"/><Relationship Id="rId15" Target="../media/image7.sv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2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slide2.xml" Type="http://schemas.openxmlformats.org/officeDocument/2006/relationships/slide"/><Relationship Id="rId4" Target="../media/image10.png" Type="http://schemas.openxmlformats.org/officeDocument/2006/relationships/image"/><Relationship Id="rId5" Target="../media/image11.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2" Target="../media/image1.png" Type="http://schemas.openxmlformats.org/officeDocument/2006/relationships/image"/><Relationship Id="rId3" Target="../media/image34.jpeg" Type="http://schemas.openxmlformats.org/officeDocument/2006/relationships/image"/><Relationship Id="rId4" Target="../media/image35.jpeg" Type="http://schemas.openxmlformats.org/officeDocument/2006/relationships/image"/><Relationship Id="rId5" Target="../media/image36.jpeg" Type="http://schemas.openxmlformats.org/officeDocument/2006/relationships/image"/><Relationship Id="rId6" Target="slide2.xml" Type="http://schemas.openxmlformats.org/officeDocument/2006/relationships/slide"/><Relationship Id="rId7" Target="../media/image16.png" Type="http://schemas.openxmlformats.org/officeDocument/2006/relationships/image"/><Relationship Id="rId8" Target="../media/image17.svg" Type="http://schemas.openxmlformats.org/officeDocument/2006/relationships/image"/><Relationship Id="rId9"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slide2.xml" Type="http://schemas.openxmlformats.org/officeDocument/2006/relationships/slide"/><Relationship Id="rId4" Target="../media/image10.png" Type="http://schemas.openxmlformats.org/officeDocument/2006/relationships/image"/><Relationship Id="rId5" Target="../media/image11.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37.jpeg" Type="http://schemas.openxmlformats.org/officeDocument/2006/relationships/image"/><Relationship Id="rId4" Target="../media/image38.jpeg" Type="http://schemas.openxmlformats.org/officeDocument/2006/relationships/image"/><Relationship Id="rId5" Target="slide2.xml" Type="http://schemas.openxmlformats.org/officeDocument/2006/relationship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slide2.xml" Type="http://schemas.openxmlformats.org/officeDocument/2006/relationships/slid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media/image45.png" Type="http://schemas.openxmlformats.org/officeDocument/2006/relationships/image"/><Relationship Id="rId14" Target="../media/image46.svg" Type="http://schemas.openxmlformats.org/officeDocument/2006/relationships/image"/><Relationship Id="rId15" Target="../media/image47.png" Type="http://schemas.openxmlformats.org/officeDocument/2006/relationships/image"/><Relationship Id="rId16" Target="../media/image48.svg" Type="http://schemas.openxmlformats.org/officeDocument/2006/relationships/image"/><Relationship Id="rId17" Target="../media/image49.png" Type="http://schemas.openxmlformats.org/officeDocument/2006/relationships/image"/><Relationship Id="rId18" Target="../media/image50.svg" Type="http://schemas.openxmlformats.org/officeDocument/2006/relationships/image"/><Relationship Id="rId19" Target="../media/image26.png" Type="http://schemas.openxmlformats.org/officeDocument/2006/relationships/image"/><Relationship Id="rId2" Target="../media/image1.png" Type="http://schemas.openxmlformats.org/officeDocument/2006/relationships/image"/><Relationship Id="rId20" Target="../media/image27.svg" Type="http://schemas.openxmlformats.org/officeDocument/2006/relationships/image"/><Relationship Id="rId21" Target="../media/image51.png" Type="http://schemas.openxmlformats.org/officeDocument/2006/relationships/image"/><Relationship Id="rId22" Target="../media/image52.svg" Type="http://schemas.openxmlformats.org/officeDocument/2006/relationships/image"/><Relationship Id="rId23" Target="../media/image53.png" Type="http://schemas.openxmlformats.org/officeDocument/2006/relationships/image"/><Relationship Id="rId24" Target="../media/image54.sv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1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2.png" Type="http://schemas.openxmlformats.org/officeDocument/2006/relationships/image"/><Relationship Id="rId12" Target="../media/image3.svg" Type="http://schemas.openxmlformats.org/officeDocument/2006/relationships/image"/><Relationship Id="rId13" Target="../media/image57.png" Type="http://schemas.openxmlformats.org/officeDocument/2006/relationships/image"/><Relationship Id="rId14" Target="../media/image58.svg" Type="http://schemas.openxmlformats.org/officeDocument/2006/relationships/image"/><Relationship Id="rId15" Target="../media/image59.png" Type="http://schemas.openxmlformats.org/officeDocument/2006/relationships/image"/><Relationship Id="rId16" Target="../media/image60.svg" Type="http://schemas.openxmlformats.org/officeDocument/2006/relationships/image"/><Relationship Id="rId17" Target="../media/image61.png" Type="http://schemas.openxmlformats.org/officeDocument/2006/relationships/image"/><Relationship Id="rId18" Target="../media/image62.svg" Type="http://schemas.openxmlformats.org/officeDocument/2006/relationships/image"/><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 Id="rId9" Target="../media/image1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71.png" Type="http://schemas.openxmlformats.org/officeDocument/2006/relationships/image"/><Relationship Id="rId12" Target="../media/image72.svg" Type="http://schemas.openxmlformats.org/officeDocument/2006/relationships/image"/><Relationship Id="rId13" Target="../media/image73.png" Type="http://schemas.openxmlformats.org/officeDocument/2006/relationships/image"/><Relationship Id="rId14" Target="../media/image74.svg" Type="http://schemas.openxmlformats.org/officeDocument/2006/relationships/image"/><Relationship Id="rId15" Target="../media/image75.png" Type="http://schemas.openxmlformats.org/officeDocument/2006/relationships/image"/><Relationship Id="rId16" Target="../media/image76.svg" Type="http://schemas.openxmlformats.org/officeDocument/2006/relationships/image"/><Relationship Id="rId17" Target="../media/image77.png" Type="http://schemas.openxmlformats.org/officeDocument/2006/relationships/image"/><Relationship Id="rId18" Target="../media/image78.svg" Type="http://schemas.openxmlformats.org/officeDocument/2006/relationships/image"/><Relationship Id="rId19" Target="../media/image79.png" Type="http://schemas.openxmlformats.org/officeDocument/2006/relationships/image"/><Relationship Id="rId2" Target="../media/image1.png" Type="http://schemas.openxmlformats.org/officeDocument/2006/relationships/image"/><Relationship Id="rId20" Target="../media/image80.svg" Type="http://schemas.openxmlformats.org/officeDocument/2006/relationships/image"/><Relationship Id="rId21" Target="../media/image81.png" Type="http://schemas.openxmlformats.org/officeDocument/2006/relationships/image"/><Relationship Id="rId22" Target="../media/image82.svg" Type="http://schemas.openxmlformats.org/officeDocument/2006/relationships/image"/><Relationship Id="rId23" Target="../media/image83.png" Type="http://schemas.openxmlformats.org/officeDocument/2006/relationships/image"/><Relationship Id="rId24" Target="../media/image84.svg" Type="http://schemas.openxmlformats.org/officeDocument/2006/relationships/image"/><Relationship Id="rId25" Target="../media/image85.png" Type="http://schemas.openxmlformats.org/officeDocument/2006/relationships/image"/><Relationship Id="rId26" Target="../media/image86.svg" Type="http://schemas.openxmlformats.org/officeDocument/2006/relationships/image"/><Relationship Id="rId27" Target="../media/image87.png" Type="http://schemas.openxmlformats.org/officeDocument/2006/relationships/image"/><Relationship Id="rId28" Target="../media/image88.svg" Type="http://schemas.openxmlformats.org/officeDocument/2006/relationships/image"/><Relationship Id="rId29" Target="../media/image89.png" Type="http://schemas.openxmlformats.org/officeDocument/2006/relationships/image"/><Relationship Id="rId3" Target="../media/image63.png" Type="http://schemas.openxmlformats.org/officeDocument/2006/relationships/image"/><Relationship Id="rId30" Target="../media/image90.svg" Type="http://schemas.openxmlformats.org/officeDocument/2006/relationships/image"/><Relationship Id="rId31" Target="../media/image91.png" Type="http://schemas.openxmlformats.org/officeDocument/2006/relationships/image"/><Relationship Id="rId32" Target="../media/image92.svg" Type="http://schemas.openxmlformats.org/officeDocument/2006/relationships/image"/><Relationship Id="rId33" Target="../media/image93.png" Type="http://schemas.openxmlformats.org/officeDocument/2006/relationships/image"/><Relationship Id="rId34" Target="../media/image94.svg" Type="http://schemas.openxmlformats.org/officeDocument/2006/relationships/image"/><Relationship Id="rId35" Target="../media/image95.png" Type="http://schemas.openxmlformats.org/officeDocument/2006/relationships/image"/><Relationship Id="rId36" Target="../media/image96.svg" Type="http://schemas.openxmlformats.org/officeDocument/2006/relationships/image"/><Relationship Id="rId37" Target="../media/image97.png" Type="http://schemas.openxmlformats.org/officeDocument/2006/relationships/image"/><Relationship Id="rId38" Target="../media/image98.svg" Type="http://schemas.openxmlformats.org/officeDocument/2006/relationships/image"/><Relationship Id="rId39" Target="../media/image99.png" Type="http://schemas.openxmlformats.org/officeDocument/2006/relationships/image"/><Relationship Id="rId4" Target="../media/image64.svg" Type="http://schemas.openxmlformats.org/officeDocument/2006/relationships/image"/><Relationship Id="rId40" Target="../media/image100.svg" Type="http://schemas.openxmlformats.org/officeDocument/2006/relationships/image"/><Relationship Id="rId41" Target="../media/image101.png" Type="http://schemas.openxmlformats.org/officeDocument/2006/relationships/image"/><Relationship Id="rId42" Target="../media/image102.svg" Type="http://schemas.openxmlformats.org/officeDocument/2006/relationships/image"/><Relationship Id="rId43" Target="../media/image103.png" Type="http://schemas.openxmlformats.org/officeDocument/2006/relationships/image"/><Relationship Id="rId44" Target="../media/image104.svg" Type="http://schemas.openxmlformats.org/officeDocument/2006/relationships/image"/><Relationship Id="rId5" Target="../media/image65.png" Type="http://schemas.openxmlformats.org/officeDocument/2006/relationships/image"/><Relationship Id="rId6" Target="../media/image66.svg" Type="http://schemas.openxmlformats.org/officeDocument/2006/relationships/image"/><Relationship Id="rId7" Target="../media/image67.png" Type="http://schemas.openxmlformats.org/officeDocument/2006/relationships/image"/><Relationship Id="rId8" Target="../media/image68.svg" Type="http://schemas.openxmlformats.org/officeDocument/2006/relationships/image"/><Relationship Id="rId9" Target="../media/image69.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1315441"/>
            <a:ext cx="9009410" cy="6082798"/>
            <a:chOff x="0" y="0"/>
            <a:chExt cx="3286657" cy="2219021"/>
          </a:xfrm>
        </p:grpSpPr>
        <p:sp>
          <p:nvSpPr>
            <p:cNvPr name="Freeform 4" id="4"/>
            <p:cNvSpPr/>
            <p:nvPr/>
          </p:nvSpPr>
          <p:spPr>
            <a:xfrm flipH="false" flipV="false" rot="0">
              <a:off x="0" y="0"/>
              <a:ext cx="3286657" cy="2219021"/>
            </a:xfrm>
            <a:custGeom>
              <a:avLst/>
              <a:gdLst/>
              <a:ahLst/>
              <a:cxnLst/>
              <a:rect r="r" b="b" t="t" l="l"/>
              <a:pathLst>
                <a:path h="2219021" w="3286657">
                  <a:moveTo>
                    <a:pt x="0" y="0"/>
                  </a:moveTo>
                  <a:lnTo>
                    <a:pt x="3286657" y="0"/>
                  </a:lnTo>
                  <a:lnTo>
                    <a:pt x="3286657" y="2219021"/>
                  </a:lnTo>
                  <a:lnTo>
                    <a:pt x="0" y="2219021"/>
                  </a:lnTo>
                  <a:close/>
                </a:path>
              </a:pathLst>
            </a:custGeom>
            <a:solidFill>
              <a:srgbClr val="FFFFFF"/>
            </a:solidFill>
          </p:spPr>
        </p:sp>
      </p:grpSp>
      <p:sp>
        <p:nvSpPr>
          <p:cNvPr name="Freeform 5" id="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0261150" y="1315441"/>
            <a:ext cx="7087021" cy="7701883"/>
            <a:chOff x="0" y="0"/>
            <a:chExt cx="2585364" cy="2809668"/>
          </a:xfrm>
        </p:grpSpPr>
        <p:sp>
          <p:nvSpPr>
            <p:cNvPr name="Freeform 8" id="8"/>
            <p:cNvSpPr/>
            <p:nvPr/>
          </p:nvSpPr>
          <p:spPr>
            <a:xfrm flipH="false" flipV="false" rot="0">
              <a:off x="0" y="0"/>
              <a:ext cx="2585364" cy="2809668"/>
            </a:xfrm>
            <a:custGeom>
              <a:avLst/>
              <a:gdLst/>
              <a:ahLst/>
              <a:cxnLst/>
              <a:rect r="r" b="b" t="t" l="l"/>
              <a:pathLst>
                <a:path h="2809668" w="2585364">
                  <a:moveTo>
                    <a:pt x="0" y="0"/>
                  </a:moveTo>
                  <a:lnTo>
                    <a:pt x="2585364" y="0"/>
                  </a:lnTo>
                  <a:lnTo>
                    <a:pt x="2585364" y="2809668"/>
                  </a:lnTo>
                  <a:lnTo>
                    <a:pt x="0" y="2809668"/>
                  </a:lnTo>
                  <a:close/>
                </a:path>
              </a:pathLst>
            </a:custGeom>
            <a:solidFill>
              <a:srgbClr val="FFFFFF"/>
            </a:solidFill>
          </p:spPr>
        </p:sp>
      </p:grpSp>
      <p:sp>
        <p:nvSpPr>
          <p:cNvPr name="Freeform 9" id="9"/>
          <p:cNvSpPr/>
          <p:nvPr/>
        </p:nvSpPr>
        <p:spPr>
          <a:xfrm flipH="false" flipV="false" rot="0">
            <a:off x="10692016" y="4401714"/>
            <a:ext cx="6225288" cy="3893634"/>
          </a:xfrm>
          <a:custGeom>
            <a:avLst/>
            <a:gdLst/>
            <a:ahLst/>
            <a:cxnLst/>
            <a:rect r="r" b="b" t="t" l="l"/>
            <a:pathLst>
              <a:path h="3893634" w="6225288">
                <a:moveTo>
                  <a:pt x="0" y="0"/>
                </a:moveTo>
                <a:lnTo>
                  <a:pt x="6225288" y="0"/>
                </a:lnTo>
                <a:lnTo>
                  <a:pt x="6225288" y="3893634"/>
                </a:lnTo>
                <a:lnTo>
                  <a:pt x="0" y="38936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6100246" y="300172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203414">
            <a:off x="11173930" y="3499519"/>
            <a:ext cx="321948" cy="461574"/>
          </a:xfrm>
          <a:custGeom>
            <a:avLst/>
            <a:gdLst/>
            <a:ahLst/>
            <a:cxnLst/>
            <a:rect r="r" b="b" t="t" l="l"/>
            <a:pathLst>
              <a:path h="461574" w="321948">
                <a:moveTo>
                  <a:pt x="0" y="0"/>
                </a:moveTo>
                <a:lnTo>
                  <a:pt x="321948" y="0"/>
                </a:lnTo>
                <a:lnTo>
                  <a:pt x="321948" y="461574"/>
                </a:lnTo>
                <a:lnTo>
                  <a:pt x="0" y="461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2690344" y="1991652"/>
            <a:ext cx="2228632" cy="1815322"/>
          </a:xfrm>
          <a:custGeom>
            <a:avLst/>
            <a:gdLst/>
            <a:ahLst/>
            <a:cxnLst/>
            <a:rect r="r" b="b" t="t" l="l"/>
            <a:pathLst>
              <a:path h="1815322" w="2228632">
                <a:moveTo>
                  <a:pt x="0" y="0"/>
                </a:moveTo>
                <a:lnTo>
                  <a:pt x="2228632" y="0"/>
                </a:lnTo>
                <a:lnTo>
                  <a:pt x="2228632" y="1815322"/>
                </a:lnTo>
                <a:lnTo>
                  <a:pt x="0" y="18153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1437079" y="1860886"/>
            <a:ext cx="7946241" cy="6229544"/>
            <a:chOff x="0" y="0"/>
            <a:chExt cx="10594989" cy="8306059"/>
          </a:xfrm>
        </p:grpSpPr>
        <p:sp>
          <p:nvSpPr>
            <p:cNvPr name="TextBox 14" id="14"/>
            <p:cNvSpPr txBox="true"/>
            <p:nvPr/>
          </p:nvSpPr>
          <p:spPr>
            <a:xfrm rot="0">
              <a:off x="0" y="0"/>
              <a:ext cx="10594989" cy="4597400"/>
            </a:xfrm>
            <a:prstGeom prst="rect">
              <a:avLst/>
            </a:prstGeom>
          </p:spPr>
          <p:txBody>
            <a:bodyPr anchor="t" rtlCol="false" tIns="0" lIns="0" bIns="0" rIns="0">
              <a:spAutoFit/>
            </a:bodyPr>
            <a:lstStyle/>
            <a:p>
              <a:pPr algn="l">
                <a:lnSpc>
                  <a:spcPts val="13589"/>
                </a:lnSpc>
              </a:pPr>
              <a:r>
                <a:rPr lang="en-US" sz="11324" spc="-169" b="true">
                  <a:solidFill>
                    <a:srgbClr val="003EA8"/>
                  </a:solidFill>
                  <a:latin typeface="Muli Bold"/>
                  <a:ea typeface="Muli Bold"/>
                  <a:cs typeface="Muli Bold"/>
                  <a:sym typeface="Muli Bold"/>
                </a:rPr>
                <a:t>BÀI TẬP LAB 04</a:t>
              </a:r>
            </a:p>
          </p:txBody>
        </p:sp>
        <p:sp>
          <p:nvSpPr>
            <p:cNvPr name="TextBox 15" id="15"/>
            <p:cNvSpPr txBox="true"/>
            <p:nvPr/>
          </p:nvSpPr>
          <p:spPr>
            <a:xfrm rot="0">
              <a:off x="0" y="4953259"/>
              <a:ext cx="10594989" cy="3352800"/>
            </a:xfrm>
            <a:prstGeom prst="rect">
              <a:avLst/>
            </a:prstGeom>
          </p:spPr>
          <p:txBody>
            <a:bodyPr anchor="t" rtlCol="false" tIns="0" lIns="0" bIns="0" rIns="0">
              <a:spAutoFit/>
            </a:bodyPr>
            <a:lstStyle/>
            <a:p>
              <a:pPr algn="l">
                <a:lnSpc>
                  <a:spcPts val="3359"/>
                </a:lnSpc>
              </a:pPr>
              <a:r>
                <a:rPr lang="en-US" sz="2799">
                  <a:solidFill>
                    <a:srgbClr val="000000"/>
                  </a:solidFill>
                  <a:latin typeface="Cabin"/>
                  <a:ea typeface="Cabin"/>
                  <a:cs typeface="Cabin"/>
                  <a:sym typeface="Cabin"/>
                </a:rPr>
                <a:t>NGUYỄN </a:t>
              </a:r>
              <a:r>
                <a:rPr lang="en-US" sz="2799">
                  <a:solidFill>
                    <a:srgbClr val="000000"/>
                  </a:solidFill>
                  <a:latin typeface="Cabin"/>
                  <a:ea typeface="Cabin"/>
                  <a:cs typeface="Cabin"/>
                  <a:sym typeface="Cabin"/>
                </a:rPr>
                <a:t>TIẾN THỌ            - 3122410398 </a:t>
              </a:r>
            </a:p>
            <a:p>
              <a:pPr algn="l">
                <a:lnSpc>
                  <a:spcPts val="3359"/>
                </a:lnSpc>
              </a:pPr>
              <a:r>
                <a:rPr lang="en-US" sz="2799">
                  <a:solidFill>
                    <a:srgbClr val="000000"/>
                  </a:solidFill>
                  <a:latin typeface="Cabin"/>
                  <a:ea typeface="Cabin"/>
                  <a:cs typeface="Cabin"/>
                  <a:sym typeface="Cabin"/>
                </a:rPr>
                <a:t>NGUYỄN THIÊN THUẬN    - 3122410403</a:t>
              </a:r>
            </a:p>
            <a:p>
              <a:pPr algn="l">
                <a:lnSpc>
                  <a:spcPts val="3359"/>
                </a:lnSpc>
              </a:pPr>
              <a:r>
                <a:rPr lang="en-US" sz="2799">
                  <a:solidFill>
                    <a:srgbClr val="000000"/>
                  </a:solidFill>
                  <a:latin typeface="Cabin"/>
                  <a:ea typeface="Cabin"/>
                  <a:cs typeface="Cabin"/>
                  <a:sym typeface="Cabin"/>
                </a:rPr>
                <a:t>NGUYỄN THẾ VINH            - 3122410475</a:t>
              </a:r>
            </a:p>
            <a:p>
              <a:pPr algn="l">
                <a:lnSpc>
                  <a:spcPts val="3359"/>
                </a:lnSpc>
              </a:pPr>
              <a:r>
                <a:rPr lang="en-US" sz="2799">
                  <a:solidFill>
                    <a:srgbClr val="000000"/>
                  </a:solidFill>
                  <a:latin typeface="Cabin"/>
                  <a:ea typeface="Cabin"/>
                  <a:cs typeface="Cabin"/>
                  <a:sym typeface="Cabin"/>
                </a:rPr>
                <a:t>NGUYỄN QUANG ĐẠT       - 3122410071</a:t>
              </a:r>
            </a:p>
            <a:p>
              <a:pPr algn="l">
                <a:lnSpc>
                  <a:spcPts val="3359"/>
                </a:lnSpc>
              </a:pPr>
            </a:p>
            <a:p>
              <a:pPr algn="l">
                <a:lnSpc>
                  <a:spcPts val="33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2910273"/>
            <a:ext cx="15795020" cy="6745738"/>
            <a:chOff x="0" y="0"/>
            <a:chExt cx="5762066" cy="2460863"/>
          </a:xfrm>
        </p:grpSpPr>
        <p:sp>
          <p:nvSpPr>
            <p:cNvPr name="Freeform 4" id="4"/>
            <p:cNvSpPr/>
            <p:nvPr/>
          </p:nvSpPr>
          <p:spPr>
            <a:xfrm flipH="false" flipV="false" rot="0">
              <a:off x="0" y="0"/>
              <a:ext cx="5762066" cy="2460863"/>
            </a:xfrm>
            <a:custGeom>
              <a:avLst/>
              <a:gdLst/>
              <a:ahLst/>
              <a:cxnLst/>
              <a:rect r="r" b="b" t="t" l="l"/>
              <a:pathLst>
                <a:path h="2460863" w="5762066">
                  <a:moveTo>
                    <a:pt x="0" y="0"/>
                  </a:moveTo>
                  <a:lnTo>
                    <a:pt x="5762066" y="0"/>
                  </a:lnTo>
                  <a:lnTo>
                    <a:pt x="5762066" y="2460863"/>
                  </a:lnTo>
                  <a:lnTo>
                    <a:pt x="0" y="2460863"/>
                  </a:lnTo>
                  <a:close/>
                </a:path>
              </a:pathLst>
            </a:custGeom>
            <a:solidFill>
              <a:srgbClr val="FFFFFF"/>
            </a:solidFill>
          </p:spPr>
        </p:sp>
      </p:grpSp>
      <p:grpSp>
        <p:nvGrpSpPr>
          <p:cNvPr name="Group 5" id="5"/>
          <p:cNvGrpSpPr/>
          <p:nvPr/>
        </p:nvGrpSpPr>
        <p:grpSpPr>
          <a:xfrm rot="0">
            <a:off x="1219294" y="657204"/>
            <a:ext cx="15795020" cy="1907038"/>
            <a:chOff x="0" y="0"/>
            <a:chExt cx="5762066" cy="695693"/>
          </a:xfrm>
        </p:grpSpPr>
        <p:sp>
          <p:nvSpPr>
            <p:cNvPr name="Freeform 6" id="6"/>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sp>
        <p:nvSpPr>
          <p:cNvPr name="Freeform 7" id="7"/>
          <p:cNvSpPr/>
          <p:nvPr/>
        </p:nvSpPr>
        <p:spPr>
          <a:xfrm flipH="false" flipV="false" rot="-278358">
            <a:off x="-1432939" y="-269558"/>
            <a:ext cx="5304464" cy="1668495"/>
          </a:xfrm>
          <a:custGeom>
            <a:avLst/>
            <a:gdLst/>
            <a:ahLst/>
            <a:cxnLst/>
            <a:rect r="r" b="b" t="t" l="l"/>
            <a:pathLst>
              <a:path h="1668495" w="5304464">
                <a:moveTo>
                  <a:pt x="0" y="0"/>
                </a:moveTo>
                <a:lnTo>
                  <a:pt x="5304465" y="0"/>
                </a:lnTo>
                <a:lnTo>
                  <a:pt x="5304465" y="1668495"/>
                </a:lnTo>
                <a:lnTo>
                  <a:pt x="0" y="16684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8" id="8"/>
          <p:cNvSpPr/>
          <p:nvPr/>
        </p:nvSpPr>
        <p:spPr>
          <a:xfrm rot="-5400000">
            <a:off x="-541453" y="6273617"/>
            <a:ext cx="6745738" cy="0"/>
          </a:xfrm>
          <a:prstGeom prst="line">
            <a:avLst/>
          </a:prstGeom>
          <a:ln cap="flat" w="19050">
            <a:solidFill>
              <a:srgbClr val="CCCCCC"/>
            </a:solidFill>
            <a:prstDash val="solid"/>
            <a:headEnd type="none" len="sm" w="sm"/>
            <a:tailEnd type="none" len="sm" w="sm"/>
          </a:ln>
        </p:spPr>
      </p:sp>
      <p:sp>
        <p:nvSpPr>
          <p:cNvPr name="AutoShape 9" id="9"/>
          <p:cNvSpPr/>
          <p:nvPr/>
        </p:nvSpPr>
        <p:spPr>
          <a:xfrm rot="-5400000">
            <a:off x="6878694" y="6273617"/>
            <a:ext cx="6745738" cy="0"/>
          </a:xfrm>
          <a:prstGeom prst="line">
            <a:avLst/>
          </a:prstGeom>
          <a:ln cap="flat" w="19050">
            <a:solidFill>
              <a:srgbClr val="CCCCCC"/>
            </a:solidFill>
            <a:prstDash val="solid"/>
            <a:headEnd type="none" len="sm" w="sm"/>
            <a:tailEnd type="none" len="sm" w="sm"/>
          </a:ln>
        </p:spPr>
      </p:sp>
      <p:sp>
        <p:nvSpPr>
          <p:cNvPr name="AutoShape 10" id="10"/>
          <p:cNvSpPr/>
          <p:nvPr/>
        </p:nvSpPr>
        <p:spPr>
          <a:xfrm rot="-5400000">
            <a:off x="5264035" y="6273617"/>
            <a:ext cx="6745738" cy="0"/>
          </a:xfrm>
          <a:prstGeom prst="line">
            <a:avLst/>
          </a:prstGeom>
          <a:ln cap="flat" w="19050">
            <a:solidFill>
              <a:srgbClr val="CCCCCC"/>
            </a:solidFill>
            <a:prstDash val="solid"/>
            <a:headEnd type="none" len="sm" w="sm"/>
            <a:tailEnd type="none" len="sm" w="sm"/>
          </a:ln>
        </p:spPr>
      </p:sp>
      <p:grpSp>
        <p:nvGrpSpPr>
          <p:cNvPr name="Group 11" id="11"/>
          <p:cNvGrpSpPr/>
          <p:nvPr/>
        </p:nvGrpSpPr>
        <p:grpSpPr>
          <a:xfrm rot="0">
            <a:off x="13821430" y="6055702"/>
            <a:ext cx="4791997" cy="4775719"/>
            <a:chOff x="0" y="0"/>
            <a:chExt cx="6389330" cy="6367625"/>
          </a:xfrm>
        </p:grpSpPr>
        <p:sp>
          <p:nvSpPr>
            <p:cNvPr name="Freeform 12" id="12"/>
            <p:cNvSpPr/>
            <p:nvPr/>
          </p:nvSpPr>
          <p:spPr>
            <a:xfrm flipH="false" flipV="false" rot="0">
              <a:off x="0" y="338421"/>
              <a:ext cx="6389330" cy="6029204"/>
            </a:xfrm>
            <a:custGeom>
              <a:avLst/>
              <a:gdLst/>
              <a:ahLst/>
              <a:cxnLst/>
              <a:rect r="r" b="b" t="t" l="l"/>
              <a:pathLst>
                <a:path h="6029204" w="6389330">
                  <a:moveTo>
                    <a:pt x="0" y="0"/>
                  </a:moveTo>
                  <a:lnTo>
                    <a:pt x="6389330" y="0"/>
                  </a:lnTo>
                  <a:lnTo>
                    <a:pt x="6389330" y="6029204"/>
                  </a:lnTo>
                  <a:lnTo>
                    <a:pt x="0" y="60292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203414">
              <a:off x="1228888" y="24588"/>
              <a:ext cx="868401" cy="1245020"/>
            </a:xfrm>
            <a:custGeom>
              <a:avLst/>
              <a:gdLst/>
              <a:ahLst/>
              <a:cxnLst/>
              <a:rect r="r" b="b" t="t" l="l"/>
              <a:pathLst>
                <a:path h="1245020" w="868401">
                  <a:moveTo>
                    <a:pt x="0" y="0"/>
                  </a:moveTo>
                  <a:lnTo>
                    <a:pt x="868401" y="0"/>
                  </a:lnTo>
                  <a:lnTo>
                    <a:pt x="868401" y="1245019"/>
                  </a:lnTo>
                  <a:lnTo>
                    <a:pt x="0" y="12450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grpSp>
        <p:nvGrpSpPr>
          <p:cNvPr name="Group 14" id="14"/>
          <p:cNvGrpSpPr/>
          <p:nvPr/>
        </p:nvGrpSpPr>
        <p:grpSpPr>
          <a:xfrm rot="0">
            <a:off x="10251563" y="3622356"/>
            <a:ext cx="4528284" cy="4363430"/>
            <a:chOff x="0" y="0"/>
            <a:chExt cx="6037712" cy="5817907"/>
          </a:xfrm>
        </p:grpSpPr>
        <p:sp>
          <p:nvSpPr>
            <p:cNvPr name="TextBox 15" id="15"/>
            <p:cNvSpPr txBox="true"/>
            <p:nvPr/>
          </p:nvSpPr>
          <p:spPr>
            <a:xfrm rot="0">
              <a:off x="0" y="-47625"/>
              <a:ext cx="6037712" cy="531355"/>
            </a:xfrm>
            <a:prstGeom prst="rect">
              <a:avLst/>
            </a:prstGeom>
          </p:spPr>
          <p:txBody>
            <a:bodyPr anchor="t" rtlCol="false" tIns="0" lIns="0" bIns="0" rIns="0">
              <a:spAutoFit/>
            </a:bodyPr>
            <a:lstStyle/>
            <a:p>
              <a:pPr algn="l">
                <a:lnSpc>
                  <a:spcPts val="3339"/>
                </a:lnSpc>
              </a:pPr>
              <a:r>
                <a:rPr lang="en-US" sz="2385">
                  <a:solidFill>
                    <a:srgbClr val="000000"/>
                  </a:solidFill>
                  <a:latin typeface="Cabin"/>
                  <a:ea typeface="Cabin"/>
                  <a:cs typeface="Cabin"/>
                  <a:sym typeface="Cabin"/>
                  <a:hlinkClick r:id="rId9" action="ppaction://hlinksldjump"/>
                </a:rPr>
                <a:t>Heuristi</a:t>
              </a:r>
              <a:r>
                <a:rPr lang="en-US" sz="2385">
                  <a:solidFill>
                    <a:srgbClr val="000000"/>
                  </a:solidFill>
                  <a:latin typeface="Cabin"/>
                  <a:ea typeface="Cabin"/>
                  <a:cs typeface="Cabin"/>
                  <a:sym typeface="Cabin"/>
                  <a:hlinkClick r:id="rId9" action="ppaction://hlinksldjump"/>
                </a:rPr>
                <a:t>c Alpha-Beta Tree Search</a:t>
              </a:r>
            </a:p>
          </p:txBody>
        </p:sp>
        <p:sp>
          <p:nvSpPr>
            <p:cNvPr name="TextBox 16" id="16"/>
            <p:cNvSpPr txBox="true"/>
            <p:nvPr/>
          </p:nvSpPr>
          <p:spPr>
            <a:xfrm rot="0">
              <a:off x="0" y="1551646"/>
              <a:ext cx="6037712" cy="1095859"/>
            </a:xfrm>
            <a:prstGeom prst="rect">
              <a:avLst/>
            </a:prstGeom>
          </p:spPr>
          <p:txBody>
            <a:bodyPr anchor="t" rtlCol="false" tIns="0" lIns="0" bIns="0" rIns="0">
              <a:spAutoFit/>
            </a:bodyPr>
            <a:lstStyle/>
            <a:p>
              <a:pPr algn="l">
                <a:lnSpc>
                  <a:spcPts val="3339"/>
                </a:lnSpc>
              </a:pPr>
              <a:r>
                <a:rPr lang="en-US" sz="2385">
                  <a:solidFill>
                    <a:srgbClr val="000000"/>
                  </a:solidFill>
                  <a:latin typeface="Cabin"/>
                  <a:ea typeface="Cabin"/>
                  <a:cs typeface="Cabin"/>
                  <a:sym typeface="Cabin"/>
                  <a:hlinkClick r:id="rId10" action="ppaction://hlinksldjump"/>
                </a:rPr>
                <a:t>Connect 4 &amp; </a:t>
              </a:r>
              <a:r>
                <a:rPr lang="en-US" sz="2385">
                  <a:solidFill>
                    <a:srgbClr val="000000"/>
                  </a:solidFill>
                  <a:latin typeface="Cabin"/>
                  <a:ea typeface="Cabin"/>
                  <a:cs typeface="Cabin"/>
                  <a:sym typeface="Cabin"/>
                  <a:hlinkClick r:id="rId10" action="ppaction://hlinksldjump"/>
                </a:rPr>
                <a:t>Pure Monte Carlo Search</a:t>
              </a:r>
            </a:p>
          </p:txBody>
        </p:sp>
        <p:sp>
          <p:nvSpPr>
            <p:cNvPr name="TextBox 17" id="17"/>
            <p:cNvSpPr txBox="true"/>
            <p:nvPr/>
          </p:nvSpPr>
          <p:spPr>
            <a:xfrm rot="0">
              <a:off x="0" y="3419099"/>
              <a:ext cx="6037712" cy="1095859"/>
            </a:xfrm>
            <a:prstGeom prst="rect">
              <a:avLst/>
            </a:prstGeom>
          </p:spPr>
          <p:txBody>
            <a:bodyPr anchor="t" rtlCol="false" tIns="0" lIns="0" bIns="0" rIns="0">
              <a:spAutoFit/>
            </a:bodyPr>
            <a:lstStyle/>
            <a:p>
              <a:pPr algn="l">
                <a:lnSpc>
                  <a:spcPts val="3339"/>
                </a:lnSpc>
              </a:pPr>
              <a:r>
                <a:rPr lang="en-US" sz="2385">
                  <a:solidFill>
                    <a:srgbClr val="000000"/>
                  </a:solidFill>
                  <a:latin typeface="Cabin"/>
                  <a:ea typeface="Cabin"/>
                  <a:cs typeface="Cabin"/>
                  <a:sym typeface="Cabin"/>
                  <a:hlinkClick r:id="rId11" action="ppaction://hlinksldjump"/>
                </a:rPr>
                <a:t>“Mean” Connect 4 – Biến thể nâng cao</a:t>
              </a:r>
            </a:p>
          </p:txBody>
        </p:sp>
        <p:sp>
          <p:nvSpPr>
            <p:cNvPr name="TextBox 18" id="18"/>
            <p:cNvSpPr txBox="true"/>
            <p:nvPr/>
          </p:nvSpPr>
          <p:spPr>
            <a:xfrm rot="0">
              <a:off x="0" y="5286553"/>
              <a:ext cx="6037712" cy="531355"/>
            </a:xfrm>
            <a:prstGeom prst="rect">
              <a:avLst/>
            </a:prstGeom>
          </p:spPr>
          <p:txBody>
            <a:bodyPr anchor="t" rtlCol="false" tIns="0" lIns="0" bIns="0" rIns="0">
              <a:spAutoFit/>
            </a:bodyPr>
            <a:lstStyle/>
            <a:p>
              <a:pPr algn="l">
                <a:lnSpc>
                  <a:spcPts val="3339"/>
                </a:lnSpc>
              </a:pPr>
              <a:r>
                <a:rPr lang="en-US" sz="2385">
                  <a:solidFill>
                    <a:srgbClr val="000000"/>
                  </a:solidFill>
                  <a:latin typeface="Cabin"/>
                  <a:ea typeface="Cabin"/>
                  <a:cs typeface="Cabin"/>
                  <a:sym typeface="Cabin"/>
                  <a:hlinkClick r:id="rId12" action="ppaction://hlinksldjump"/>
                </a:rPr>
                <a:t>Tổ</a:t>
              </a:r>
              <a:r>
                <a:rPr lang="en-US" sz="2385">
                  <a:solidFill>
                    <a:srgbClr val="000000"/>
                  </a:solidFill>
                  <a:latin typeface="Cabin"/>
                  <a:ea typeface="Cabin"/>
                  <a:cs typeface="Cabin"/>
                  <a:sym typeface="Cabin"/>
                  <a:hlinkClick r:id="rId12" action="ppaction://hlinksldjump"/>
                </a:rPr>
                <a:t>ng kết chung</a:t>
              </a:r>
            </a:p>
          </p:txBody>
        </p:sp>
      </p:grpSp>
      <p:sp>
        <p:nvSpPr>
          <p:cNvPr name="TextBox 19" id="19"/>
          <p:cNvSpPr txBox="true"/>
          <p:nvPr/>
        </p:nvSpPr>
        <p:spPr>
          <a:xfrm rot="0">
            <a:off x="3683996" y="924916"/>
            <a:ext cx="10839717"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MỤC LỤC</a:t>
            </a:r>
          </a:p>
        </p:txBody>
      </p:sp>
      <p:grpSp>
        <p:nvGrpSpPr>
          <p:cNvPr name="Group 20" id="20"/>
          <p:cNvGrpSpPr/>
          <p:nvPr/>
        </p:nvGrpSpPr>
        <p:grpSpPr>
          <a:xfrm rot="0">
            <a:off x="2838351" y="3544440"/>
            <a:ext cx="5817829" cy="4573946"/>
            <a:chOff x="0" y="0"/>
            <a:chExt cx="7757105" cy="6098595"/>
          </a:xfrm>
        </p:grpSpPr>
        <p:sp>
          <p:nvSpPr>
            <p:cNvPr name="TextBox 21" id="21"/>
            <p:cNvSpPr txBox="true"/>
            <p:nvPr/>
          </p:nvSpPr>
          <p:spPr>
            <a:xfrm rot="0">
              <a:off x="0" y="1269056"/>
              <a:ext cx="7704102" cy="531231"/>
            </a:xfrm>
            <a:prstGeom prst="rect">
              <a:avLst/>
            </a:prstGeom>
          </p:spPr>
          <p:txBody>
            <a:bodyPr anchor="t" rtlCol="false" tIns="0" lIns="0" bIns="0" rIns="0">
              <a:spAutoFit/>
            </a:bodyPr>
            <a:lstStyle/>
            <a:p>
              <a:pPr algn="l">
                <a:lnSpc>
                  <a:spcPts val="3338"/>
                </a:lnSpc>
              </a:pPr>
              <a:r>
                <a:rPr lang="en-US" sz="2384">
                  <a:solidFill>
                    <a:srgbClr val="000000"/>
                  </a:solidFill>
                  <a:latin typeface="Cabin"/>
                  <a:ea typeface="Cabin"/>
                  <a:cs typeface="Cabin"/>
                  <a:sym typeface="Cabin"/>
                  <a:hlinkClick r:id="rId13" action="ppaction://hlinksldjump"/>
                </a:rPr>
                <a:t>Bài toán Tic-Tac-Toe (Search P</a:t>
              </a:r>
              <a:r>
                <a:rPr lang="en-US" sz="2384">
                  <a:solidFill>
                    <a:srgbClr val="000000"/>
                  </a:solidFill>
                  <a:latin typeface="Cabin"/>
                  <a:ea typeface="Cabin"/>
                  <a:cs typeface="Cabin"/>
                  <a:sym typeface="Cabin"/>
                  <a:hlinkClick r:id="rId13" action="ppaction://hlinksldjump"/>
                </a:rPr>
                <a:t>roblem)</a:t>
              </a:r>
            </a:p>
          </p:txBody>
        </p:sp>
        <p:sp>
          <p:nvSpPr>
            <p:cNvPr name="TextBox 22" id="22"/>
            <p:cNvSpPr txBox="true"/>
            <p:nvPr/>
          </p:nvSpPr>
          <p:spPr>
            <a:xfrm rot="0">
              <a:off x="0" y="2853851"/>
              <a:ext cx="7704102" cy="1095590"/>
            </a:xfrm>
            <a:prstGeom prst="rect">
              <a:avLst/>
            </a:prstGeom>
          </p:spPr>
          <p:txBody>
            <a:bodyPr anchor="t" rtlCol="false" tIns="0" lIns="0" bIns="0" rIns="0">
              <a:spAutoFit/>
            </a:bodyPr>
            <a:lstStyle/>
            <a:p>
              <a:pPr algn="l">
                <a:lnSpc>
                  <a:spcPts val="3338"/>
                </a:lnSpc>
              </a:pPr>
              <a:r>
                <a:rPr lang="en-US" sz="2384">
                  <a:solidFill>
                    <a:srgbClr val="000000"/>
                  </a:solidFill>
                  <a:latin typeface="Cabin"/>
                  <a:ea typeface="Cabin"/>
                  <a:cs typeface="Cabin"/>
                  <a:sym typeface="Cabin"/>
                  <a:hlinkClick r:id="rId14" action="ppaction://hlinksldjump"/>
                </a:rPr>
                <a:t>AND-OR T</a:t>
              </a:r>
              <a:r>
                <a:rPr lang="en-US" sz="2384">
                  <a:solidFill>
                    <a:srgbClr val="000000"/>
                  </a:solidFill>
                  <a:latin typeface="Cabin"/>
                  <a:ea typeface="Cabin"/>
                  <a:cs typeface="Cabin"/>
                  <a:sym typeface="Cabin"/>
                  <a:hlinkClick r:id="rId14" action="ppaction://hlinksldjump"/>
                </a:rPr>
                <a:t>ree Search (Môi trường không xác định)</a:t>
              </a:r>
            </a:p>
          </p:txBody>
        </p:sp>
        <p:sp>
          <p:nvSpPr>
            <p:cNvPr name="TextBox 23" id="23"/>
            <p:cNvSpPr txBox="true"/>
            <p:nvPr/>
          </p:nvSpPr>
          <p:spPr>
            <a:xfrm rot="0">
              <a:off x="53003" y="5003005"/>
              <a:ext cx="7704102" cy="1095590"/>
            </a:xfrm>
            <a:prstGeom prst="rect">
              <a:avLst/>
            </a:prstGeom>
          </p:spPr>
          <p:txBody>
            <a:bodyPr anchor="t" rtlCol="false" tIns="0" lIns="0" bIns="0" rIns="0">
              <a:spAutoFit/>
            </a:bodyPr>
            <a:lstStyle/>
            <a:p>
              <a:pPr algn="l">
                <a:lnSpc>
                  <a:spcPts val="3338"/>
                </a:lnSpc>
              </a:pPr>
              <a:r>
                <a:rPr lang="en-US" sz="2384">
                  <a:solidFill>
                    <a:srgbClr val="000000"/>
                  </a:solidFill>
                  <a:latin typeface="Cabin"/>
                  <a:ea typeface="Cabin"/>
                  <a:cs typeface="Cabin"/>
                  <a:sym typeface="Cabin"/>
                  <a:hlinkClick r:id="rId15" action="ppaction://hlinksldjump"/>
                </a:rPr>
                <a:t>Adversar</a:t>
              </a:r>
              <a:r>
                <a:rPr lang="en-US" sz="2384">
                  <a:solidFill>
                    <a:srgbClr val="000000"/>
                  </a:solidFill>
                  <a:latin typeface="Cabin"/>
                  <a:ea typeface="Cabin"/>
                  <a:cs typeface="Cabin"/>
                  <a:sym typeface="Cabin"/>
                  <a:hlinkClick r:id="rId15" action="ppaction://hlinksldjump"/>
                </a:rPr>
                <a:t>ial Search (Minimax, Alpha-Beta, Move Ordering)</a:t>
              </a:r>
            </a:p>
          </p:txBody>
        </p:sp>
        <p:sp>
          <p:nvSpPr>
            <p:cNvPr name="TextBox 24" id="24"/>
            <p:cNvSpPr txBox="true"/>
            <p:nvPr/>
          </p:nvSpPr>
          <p:spPr>
            <a:xfrm rot="0">
              <a:off x="0" y="-47625"/>
              <a:ext cx="7704102" cy="531231"/>
            </a:xfrm>
            <a:prstGeom prst="rect">
              <a:avLst/>
            </a:prstGeom>
          </p:spPr>
          <p:txBody>
            <a:bodyPr anchor="t" rtlCol="false" tIns="0" lIns="0" bIns="0" rIns="0">
              <a:spAutoFit/>
            </a:bodyPr>
            <a:lstStyle/>
            <a:p>
              <a:pPr algn="l">
                <a:lnSpc>
                  <a:spcPts val="3338"/>
                </a:lnSpc>
              </a:pPr>
              <a:r>
                <a:rPr lang="en-US" sz="2384">
                  <a:solidFill>
                    <a:srgbClr val="000000"/>
                  </a:solidFill>
                  <a:latin typeface="Cabin"/>
                  <a:ea typeface="Cabin"/>
                  <a:cs typeface="Cabin"/>
                  <a:sym typeface="Cabin"/>
                  <a:hlinkClick r:id="rId16" action="ppaction://hlinksldjump"/>
                </a:rPr>
                <a:t>Giới thiệu chung</a:t>
              </a:r>
            </a:p>
          </p:txBody>
        </p:sp>
      </p:grpSp>
      <p:sp>
        <p:nvSpPr>
          <p:cNvPr name="TextBox 25" id="25"/>
          <p:cNvSpPr txBox="true"/>
          <p:nvPr/>
        </p:nvSpPr>
        <p:spPr>
          <a:xfrm rot="0">
            <a:off x="1650988" y="3219266"/>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1.</a:t>
            </a:r>
          </a:p>
        </p:txBody>
      </p:sp>
      <p:sp>
        <p:nvSpPr>
          <p:cNvPr name="TextBox 26" id="26"/>
          <p:cNvSpPr txBox="true"/>
          <p:nvPr/>
        </p:nvSpPr>
        <p:spPr>
          <a:xfrm rot="0">
            <a:off x="9103855" y="3350151"/>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5.</a:t>
            </a:r>
          </a:p>
        </p:txBody>
      </p:sp>
      <p:sp>
        <p:nvSpPr>
          <p:cNvPr name="TextBox 27" id="27"/>
          <p:cNvSpPr txBox="true"/>
          <p:nvPr/>
        </p:nvSpPr>
        <p:spPr>
          <a:xfrm rot="0">
            <a:off x="1650988" y="4318171"/>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2.</a:t>
            </a:r>
          </a:p>
        </p:txBody>
      </p:sp>
      <p:sp>
        <p:nvSpPr>
          <p:cNvPr name="TextBox 28" id="28"/>
          <p:cNvSpPr txBox="true"/>
          <p:nvPr/>
        </p:nvSpPr>
        <p:spPr>
          <a:xfrm rot="0">
            <a:off x="9103855" y="4702926"/>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6.</a:t>
            </a:r>
          </a:p>
        </p:txBody>
      </p:sp>
      <p:sp>
        <p:nvSpPr>
          <p:cNvPr name="TextBox 29" id="29"/>
          <p:cNvSpPr txBox="true"/>
          <p:nvPr/>
        </p:nvSpPr>
        <p:spPr>
          <a:xfrm rot="0">
            <a:off x="1624359" y="5804071"/>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3.</a:t>
            </a:r>
          </a:p>
        </p:txBody>
      </p:sp>
      <p:sp>
        <p:nvSpPr>
          <p:cNvPr name="TextBox 30" id="30"/>
          <p:cNvSpPr txBox="true"/>
          <p:nvPr/>
        </p:nvSpPr>
        <p:spPr>
          <a:xfrm rot="0">
            <a:off x="9144000" y="6055702"/>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7.</a:t>
            </a:r>
          </a:p>
        </p:txBody>
      </p:sp>
      <p:sp>
        <p:nvSpPr>
          <p:cNvPr name="TextBox 31" id="31"/>
          <p:cNvSpPr txBox="true"/>
          <p:nvPr/>
        </p:nvSpPr>
        <p:spPr>
          <a:xfrm rot="0">
            <a:off x="1650988" y="7240231"/>
            <a:ext cx="76609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4.</a:t>
            </a:r>
          </a:p>
        </p:txBody>
      </p:sp>
      <p:sp>
        <p:nvSpPr>
          <p:cNvPr name="TextBox 32" id="32"/>
          <p:cNvSpPr txBox="true"/>
          <p:nvPr/>
        </p:nvSpPr>
        <p:spPr>
          <a:xfrm rot="0">
            <a:off x="8992978" y="7293952"/>
            <a:ext cx="1013741" cy="828675"/>
          </a:xfrm>
          <a:prstGeom prst="rect">
            <a:avLst/>
          </a:prstGeom>
        </p:spPr>
        <p:txBody>
          <a:bodyPr anchor="t" rtlCol="false" tIns="0" lIns="0" bIns="0" rIns="0">
            <a:spAutoFit/>
          </a:bodyPr>
          <a:lstStyle/>
          <a:p>
            <a:pPr algn="ctr" marL="0" indent="0" lvl="0">
              <a:lnSpc>
                <a:spcPts val="6599"/>
              </a:lnSpc>
              <a:spcBef>
                <a:spcPct val="0"/>
              </a:spcBef>
            </a:pPr>
            <a:r>
              <a:rPr lang="en-US" b="true" sz="5499">
                <a:solidFill>
                  <a:srgbClr val="003EA8"/>
                </a:solidFill>
                <a:latin typeface="Muli Bold"/>
                <a:ea typeface="Muli Bold"/>
                <a:cs typeface="Muli Bold"/>
                <a:sym typeface="Muli Bold"/>
              </a:rPr>
              <a:t>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9625957" y="2915205"/>
            <a:ext cx="7724783" cy="5768744"/>
            <a:chOff x="0" y="0"/>
            <a:chExt cx="2818022" cy="2104453"/>
          </a:xfrm>
        </p:grpSpPr>
        <p:sp>
          <p:nvSpPr>
            <p:cNvPr name="Freeform 6" id="6"/>
            <p:cNvSpPr/>
            <p:nvPr/>
          </p:nvSpPr>
          <p:spPr>
            <a:xfrm flipH="false" flipV="false" rot="0">
              <a:off x="0" y="0"/>
              <a:ext cx="2818022" cy="2104453"/>
            </a:xfrm>
            <a:custGeom>
              <a:avLst/>
              <a:gdLst/>
              <a:ahLst/>
              <a:cxnLst/>
              <a:rect r="r" b="b" t="t" l="l"/>
              <a:pathLst>
                <a:path h="2104453" w="2818022">
                  <a:moveTo>
                    <a:pt x="0" y="0"/>
                  </a:moveTo>
                  <a:lnTo>
                    <a:pt x="2818022" y="0"/>
                  </a:lnTo>
                  <a:lnTo>
                    <a:pt x="2818022" y="2104453"/>
                  </a:lnTo>
                  <a:lnTo>
                    <a:pt x="0" y="2104453"/>
                  </a:lnTo>
                  <a:close/>
                </a:path>
              </a:pathLst>
            </a:custGeom>
            <a:solidFill>
              <a:srgbClr val="FFFFFF"/>
            </a:solidFill>
          </p:spPr>
        </p:sp>
      </p:grpSp>
      <p:grpSp>
        <p:nvGrpSpPr>
          <p:cNvPr name="Group 7" id="7"/>
          <p:cNvGrpSpPr/>
          <p:nvPr/>
        </p:nvGrpSpPr>
        <p:grpSpPr>
          <a:xfrm rot="0">
            <a:off x="926069" y="2915205"/>
            <a:ext cx="8358265" cy="5768744"/>
            <a:chOff x="0" y="0"/>
            <a:chExt cx="3049118" cy="2104453"/>
          </a:xfrm>
        </p:grpSpPr>
        <p:sp>
          <p:nvSpPr>
            <p:cNvPr name="Freeform 8" id="8"/>
            <p:cNvSpPr/>
            <p:nvPr/>
          </p:nvSpPr>
          <p:spPr>
            <a:xfrm flipH="false" flipV="false" rot="0">
              <a:off x="0" y="0"/>
              <a:ext cx="3049118" cy="2104453"/>
            </a:xfrm>
            <a:custGeom>
              <a:avLst/>
              <a:gdLst/>
              <a:ahLst/>
              <a:cxnLst/>
              <a:rect r="r" b="b" t="t" l="l"/>
              <a:pathLst>
                <a:path h="2104453" w="3049118">
                  <a:moveTo>
                    <a:pt x="0" y="0"/>
                  </a:moveTo>
                  <a:lnTo>
                    <a:pt x="3049118" y="0"/>
                  </a:lnTo>
                  <a:lnTo>
                    <a:pt x="3049118" y="2104453"/>
                  </a:lnTo>
                  <a:lnTo>
                    <a:pt x="0" y="2104453"/>
                  </a:lnTo>
                  <a:close/>
                </a:path>
              </a:pathLst>
            </a:custGeom>
            <a:solidFill>
              <a:srgbClr val="FFFFFF"/>
            </a:solidFill>
          </p:spPr>
        </p:sp>
      </p:grpSp>
      <p:sp>
        <p:nvSpPr>
          <p:cNvPr name="Freeform 9" id="9"/>
          <p:cNvSpPr/>
          <p:nvPr/>
        </p:nvSpPr>
        <p:spPr>
          <a:xfrm flipH="false" flipV="false" rot="0">
            <a:off x="10231960" y="3545972"/>
            <a:ext cx="5778474" cy="4507210"/>
          </a:xfrm>
          <a:custGeom>
            <a:avLst/>
            <a:gdLst/>
            <a:ahLst/>
            <a:cxnLst/>
            <a:rect r="r" b="b" t="t" l="l"/>
            <a:pathLst>
              <a:path h="4507210" w="5778474">
                <a:moveTo>
                  <a:pt x="0" y="0"/>
                </a:moveTo>
                <a:lnTo>
                  <a:pt x="5778474" y="0"/>
                </a:lnTo>
                <a:lnTo>
                  <a:pt x="5778474" y="4507210"/>
                </a:lnTo>
                <a:lnTo>
                  <a:pt x="0" y="45072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203414">
            <a:off x="16137868" y="4585735"/>
            <a:ext cx="417336" cy="598331"/>
          </a:xfrm>
          <a:custGeom>
            <a:avLst/>
            <a:gdLst/>
            <a:ahLst/>
            <a:cxnLst/>
            <a:rect r="r" b="b" t="t" l="l"/>
            <a:pathLst>
              <a:path h="598331" w="417336">
                <a:moveTo>
                  <a:pt x="0" y="0"/>
                </a:moveTo>
                <a:lnTo>
                  <a:pt x="417336" y="0"/>
                </a:lnTo>
                <a:lnTo>
                  <a:pt x="417336" y="598330"/>
                </a:lnTo>
                <a:lnTo>
                  <a:pt x="0" y="5983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9908900" y="3235000"/>
            <a:ext cx="121908" cy="121908"/>
            <a:chOff x="0" y="0"/>
            <a:chExt cx="6350000" cy="6350000"/>
          </a:xfrm>
        </p:grpSpPr>
        <p:sp>
          <p:nvSpPr>
            <p:cNvPr name="Freeform 12" id="1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grpSp>
        <p:nvGrpSpPr>
          <p:cNvPr name="Group 13" id="13"/>
          <p:cNvGrpSpPr/>
          <p:nvPr/>
        </p:nvGrpSpPr>
        <p:grpSpPr>
          <a:xfrm rot="0">
            <a:off x="10055579" y="7995212"/>
            <a:ext cx="121908" cy="121908"/>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alpha val="0"/>
              </a:srgbClr>
            </a:solidFill>
          </p:spPr>
        </p:sp>
      </p:grpSp>
      <p:sp>
        <p:nvSpPr>
          <p:cNvPr name="TextBox 15" id="15"/>
          <p:cNvSpPr txBox="true"/>
          <p:nvPr/>
        </p:nvSpPr>
        <p:spPr>
          <a:xfrm rot="0">
            <a:off x="3343782" y="924697"/>
            <a:ext cx="11600436" cy="1371600"/>
          </a:xfrm>
          <a:prstGeom prst="rect">
            <a:avLst/>
          </a:prstGeom>
        </p:spPr>
        <p:txBody>
          <a:bodyPr anchor="t" rtlCol="false" tIns="0" lIns="0" bIns="0" rIns="0">
            <a:spAutoFit/>
          </a:bodyPr>
          <a:lstStyle/>
          <a:p>
            <a:pPr algn="ctr" marL="1943100" indent="-971550" lvl="1">
              <a:lnSpc>
                <a:spcPts val="10800"/>
              </a:lnSpc>
              <a:buAutoNum type="arabicPeriod" startAt="1"/>
            </a:pPr>
            <a:r>
              <a:rPr lang="en-US" b="true" sz="9000">
                <a:solidFill>
                  <a:srgbClr val="003EA8"/>
                </a:solidFill>
                <a:latin typeface="Muli Bold"/>
                <a:ea typeface="Muli Bold"/>
                <a:cs typeface="Muli Bold"/>
                <a:sym typeface="Muli Bold"/>
              </a:rPr>
              <a:t>Giới thiệu chung</a:t>
            </a:r>
          </a:p>
        </p:txBody>
      </p:sp>
      <p:sp>
        <p:nvSpPr>
          <p:cNvPr name="Freeform 16" id="16"/>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203414">
            <a:off x="11489227" y="4583034"/>
            <a:ext cx="321948" cy="461574"/>
          </a:xfrm>
          <a:custGeom>
            <a:avLst/>
            <a:gdLst/>
            <a:ahLst/>
            <a:cxnLst/>
            <a:rect r="r" b="b" t="t" l="l"/>
            <a:pathLst>
              <a:path h="461574" w="321948">
                <a:moveTo>
                  <a:pt x="0" y="0"/>
                </a:moveTo>
                <a:lnTo>
                  <a:pt x="321948" y="0"/>
                </a:lnTo>
                <a:lnTo>
                  <a:pt x="321948" y="461575"/>
                </a:lnTo>
                <a:lnTo>
                  <a:pt x="0" y="4615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895970" y="9044945"/>
            <a:ext cx="3539104" cy="617207"/>
            <a:chOff x="0" y="0"/>
            <a:chExt cx="4718805" cy="822943"/>
          </a:xfrm>
        </p:grpSpPr>
        <p:grpSp>
          <p:nvGrpSpPr>
            <p:cNvPr name="Group 19" id="19"/>
            <p:cNvGrpSpPr/>
            <p:nvPr/>
          </p:nvGrpSpPr>
          <p:grpSpPr>
            <a:xfrm rot="0">
              <a:off x="0" y="0"/>
              <a:ext cx="4718805" cy="822943"/>
              <a:chOff x="0" y="0"/>
              <a:chExt cx="1291075" cy="225159"/>
            </a:xfrm>
          </p:grpSpPr>
          <p:sp>
            <p:nvSpPr>
              <p:cNvPr name="Freeform 20" id="20"/>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21" id="21"/>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9" action="ppaction://hlinksldjump"/>
                </a:rPr>
                <a:t>Quay lại Trang Chương trình</a:t>
              </a:r>
            </a:p>
          </p:txBody>
        </p:sp>
      </p:grpSp>
      <p:sp>
        <p:nvSpPr>
          <p:cNvPr name="Freeform 22" id="22"/>
          <p:cNvSpPr/>
          <p:nvPr/>
        </p:nvSpPr>
        <p:spPr>
          <a:xfrm flipH="false" flipV="false" rot="-278358">
            <a:off x="13186236" y="8430575"/>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3" id="23"/>
          <p:cNvSpPr txBox="true"/>
          <p:nvPr/>
        </p:nvSpPr>
        <p:spPr>
          <a:xfrm rot="0">
            <a:off x="1469927" y="3507872"/>
            <a:ext cx="7674073" cy="4261221"/>
          </a:xfrm>
          <a:prstGeom prst="rect">
            <a:avLst/>
          </a:prstGeom>
        </p:spPr>
        <p:txBody>
          <a:bodyPr anchor="t" rtlCol="false" tIns="0" lIns="0" bIns="0" rIns="0">
            <a:spAutoFit/>
          </a:bodyPr>
          <a:lstStyle/>
          <a:p>
            <a:pPr algn="just" marL="521097" indent="-260549" lvl="1">
              <a:lnSpc>
                <a:spcPts val="3379"/>
              </a:lnSpc>
              <a:spcBef>
                <a:spcPct val="0"/>
              </a:spcBef>
              <a:buFont typeface="Arial"/>
              <a:buChar char="•"/>
            </a:pPr>
            <a:r>
              <a:rPr lang="en-US" sz="2413">
                <a:solidFill>
                  <a:srgbClr val="000000"/>
                </a:solidFill>
                <a:latin typeface="Cabin"/>
                <a:ea typeface="Cabin"/>
                <a:cs typeface="Cabin"/>
                <a:sym typeface="Cabin"/>
              </a:rPr>
              <a:t>Mục tiêu: Mô phỏng và giải các trò chơi như Tic-Tac-Toe và Connect 4 để minh họa các kỹ thuật tìm kiếm trong AI.</a:t>
            </a:r>
          </a:p>
          <a:p>
            <a:pPr algn="just" marL="521097" indent="-260549" lvl="1">
              <a:lnSpc>
                <a:spcPts val="3379"/>
              </a:lnSpc>
              <a:spcBef>
                <a:spcPct val="0"/>
              </a:spcBef>
              <a:buFont typeface="Arial"/>
              <a:buChar char="•"/>
            </a:pPr>
            <a:r>
              <a:rPr lang="en-US" sz="2413">
                <a:solidFill>
                  <a:srgbClr val="000000"/>
                </a:solidFill>
                <a:latin typeface="Cabin"/>
                <a:ea typeface="Cabin"/>
                <a:cs typeface="Cabin"/>
                <a:sym typeface="Cabin"/>
              </a:rPr>
              <a:t>Trình tự bài lab:</a:t>
            </a:r>
          </a:p>
          <a:p>
            <a:pPr algn="just">
              <a:lnSpc>
                <a:spcPts val="3379"/>
              </a:lnSpc>
              <a:spcBef>
                <a:spcPct val="0"/>
              </a:spcBef>
            </a:pPr>
            <a:r>
              <a:rPr lang="en-US" sz="2413">
                <a:solidFill>
                  <a:srgbClr val="000000"/>
                </a:solidFill>
                <a:latin typeface="Cabin"/>
                <a:ea typeface="Cabin"/>
                <a:cs typeface="Cabin"/>
                <a:sym typeface="Cabin"/>
              </a:rPr>
              <a:t>1) </a:t>
            </a:r>
            <a:r>
              <a:rPr lang="en-US" sz="2413">
                <a:solidFill>
                  <a:srgbClr val="000000"/>
                </a:solidFill>
                <a:latin typeface="Cabin"/>
                <a:ea typeface="Cabin"/>
                <a:cs typeface="Cabin"/>
                <a:sym typeface="Cabin"/>
              </a:rPr>
              <a:t>Mô hình hóa Tic-Tac-Toe như bài toán tìm kiếm.</a:t>
            </a:r>
          </a:p>
          <a:p>
            <a:pPr algn="just">
              <a:lnSpc>
                <a:spcPts val="3379"/>
              </a:lnSpc>
              <a:spcBef>
                <a:spcPct val="0"/>
              </a:spcBef>
            </a:pPr>
            <a:r>
              <a:rPr lang="en-US" sz="2413">
                <a:solidFill>
                  <a:srgbClr val="000000"/>
                </a:solidFill>
                <a:latin typeface="Cabin"/>
                <a:ea typeface="Cabin"/>
                <a:cs typeface="Cabin"/>
                <a:sym typeface="Cabin"/>
              </a:rPr>
              <a:t>2) Giải trong môi trường không xác định bằng AND-OR Tree Search.</a:t>
            </a:r>
          </a:p>
          <a:p>
            <a:pPr algn="just">
              <a:lnSpc>
                <a:spcPts val="3379"/>
              </a:lnSpc>
              <a:spcBef>
                <a:spcPct val="0"/>
              </a:spcBef>
            </a:pPr>
            <a:r>
              <a:rPr lang="en-US" sz="2413">
                <a:solidFill>
                  <a:srgbClr val="000000"/>
                </a:solidFill>
                <a:latin typeface="Cabin"/>
                <a:ea typeface="Cabin"/>
                <a:cs typeface="Cabin"/>
                <a:sym typeface="Cabin"/>
              </a:rPr>
              <a:t>3) Mở rộng sang Adversarial Search (Minimax, Alpha-Beta).</a:t>
            </a:r>
          </a:p>
          <a:p>
            <a:pPr algn="just">
              <a:lnSpc>
                <a:spcPts val="3379"/>
              </a:lnSpc>
              <a:spcBef>
                <a:spcPct val="0"/>
              </a:spcBef>
            </a:pPr>
            <a:r>
              <a:rPr lang="en-US" sz="2413">
                <a:solidFill>
                  <a:srgbClr val="000000"/>
                </a:solidFill>
                <a:latin typeface="Cabin"/>
                <a:ea typeface="Cabin"/>
                <a:cs typeface="Cabin"/>
                <a:sym typeface="Cabin"/>
              </a:rPr>
              <a:t>4) Thêm Heuristic Evaluation và Depth Cutoff.</a:t>
            </a:r>
          </a:p>
          <a:p>
            <a:pPr algn="just">
              <a:lnSpc>
                <a:spcPts val="3379"/>
              </a:lnSpc>
              <a:spcBef>
                <a:spcPct val="0"/>
              </a:spcBef>
            </a:pPr>
            <a:r>
              <a:rPr lang="en-US" sz="2413">
                <a:solidFill>
                  <a:srgbClr val="000000"/>
                </a:solidFill>
                <a:latin typeface="Cabin"/>
                <a:ea typeface="Cabin"/>
                <a:cs typeface="Cabin"/>
                <a:sym typeface="Cabin"/>
              </a:rPr>
              <a:t>5) Ứng dụng Monte Carlo Search và biến thể Mean Connect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80808"/>
            <a:ext cx="16439375" cy="3503822"/>
            <a:chOff x="0" y="0"/>
            <a:chExt cx="5997128" cy="1278204"/>
          </a:xfrm>
        </p:grpSpPr>
        <p:sp>
          <p:nvSpPr>
            <p:cNvPr name="Freeform 4" id="4"/>
            <p:cNvSpPr/>
            <p:nvPr/>
          </p:nvSpPr>
          <p:spPr>
            <a:xfrm flipH="false" flipV="false" rot="0">
              <a:off x="0" y="0"/>
              <a:ext cx="5997129" cy="1278204"/>
            </a:xfrm>
            <a:custGeom>
              <a:avLst/>
              <a:gdLst/>
              <a:ahLst/>
              <a:cxnLst/>
              <a:rect r="r" b="b" t="t" l="l"/>
              <a:pathLst>
                <a:path h="1278204" w="5997129">
                  <a:moveTo>
                    <a:pt x="0" y="0"/>
                  </a:moveTo>
                  <a:lnTo>
                    <a:pt x="5997129" y="0"/>
                  </a:lnTo>
                  <a:lnTo>
                    <a:pt x="5997129" y="1278204"/>
                  </a:lnTo>
                  <a:lnTo>
                    <a:pt x="0" y="1278204"/>
                  </a:lnTo>
                  <a:close/>
                </a:path>
              </a:pathLst>
            </a:custGeom>
            <a:solidFill>
              <a:srgbClr val="FFFFFF"/>
            </a:solidFill>
          </p:spPr>
        </p:sp>
      </p:grpSp>
      <p:grpSp>
        <p:nvGrpSpPr>
          <p:cNvPr name="Group 5" id="5"/>
          <p:cNvGrpSpPr/>
          <p:nvPr/>
        </p:nvGrpSpPr>
        <p:grpSpPr>
          <a:xfrm rot="0">
            <a:off x="895970" y="9044945"/>
            <a:ext cx="3539104" cy="617207"/>
            <a:chOff x="0" y="0"/>
            <a:chExt cx="4718805" cy="822943"/>
          </a:xfrm>
        </p:grpSpPr>
        <p:grpSp>
          <p:nvGrpSpPr>
            <p:cNvPr name="Group 6" id="6"/>
            <p:cNvGrpSpPr/>
            <p:nvPr/>
          </p:nvGrpSpPr>
          <p:grpSpPr>
            <a:xfrm rot="0">
              <a:off x="0" y="0"/>
              <a:ext cx="4718805" cy="822943"/>
              <a:chOff x="0" y="0"/>
              <a:chExt cx="1291075" cy="225159"/>
            </a:xfrm>
          </p:grpSpPr>
          <p:sp>
            <p:nvSpPr>
              <p:cNvPr name="Freeform 7" id="7"/>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8" id="8"/>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3" action="ppaction://hlinksldjump"/>
                </a:rPr>
                <a:t>Quay lại Trang Chương trình</a:t>
              </a:r>
            </a:p>
          </p:txBody>
        </p:sp>
      </p:grpSp>
      <p:sp>
        <p:nvSpPr>
          <p:cNvPr name="Freeform 9" id="9"/>
          <p:cNvSpPr/>
          <p:nvPr/>
        </p:nvSpPr>
        <p:spPr>
          <a:xfrm flipH="false" flipV="false" rot="0">
            <a:off x="11989663" y="8797919"/>
            <a:ext cx="7147788" cy="1728465"/>
          </a:xfrm>
          <a:custGeom>
            <a:avLst/>
            <a:gdLst/>
            <a:ahLst/>
            <a:cxnLst/>
            <a:rect r="r" b="b" t="t" l="l"/>
            <a:pathLst>
              <a:path h="1728465" w="7147788">
                <a:moveTo>
                  <a:pt x="0" y="0"/>
                </a:moveTo>
                <a:lnTo>
                  <a:pt x="7147788" y="0"/>
                </a:lnTo>
                <a:lnTo>
                  <a:pt x="7147788" y="1728465"/>
                </a:lnTo>
                <a:lnTo>
                  <a:pt x="0" y="1728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1702764" y="8942224"/>
            <a:ext cx="573798" cy="822649"/>
          </a:xfrm>
          <a:custGeom>
            <a:avLst/>
            <a:gdLst/>
            <a:ahLst/>
            <a:cxnLst/>
            <a:rect r="r" b="b" t="t" l="l"/>
            <a:pathLst>
              <a:path h="822649" w="573798">
                <a:moveTo>
                  <a:pt x="0" y="0"/>
                </a:moveTo>
                <a:lnTo>
                  <a:pt x="573798" y="0"/>
                </a:lnTo>
                <a:lnTo>
                  <a:pt x="573798" y="822649"/>
                </a:lnTo>
                <a:lnTo>
                  <a:pt x="0" y="8226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3318882" y="-411324"/>
            <a:ext cx="573798" cy="822649"/>
          </a:xfrm>
          <a:custGeom>
            <a:avLst/>
            <a:gdLst/>
            <a:ahLst/>
            <a:cxnLst/>
            <a:rect r="r" b="b" t="t" l="l"/>
            <a:pathLst>
              <a:path h="822649" w="573798">
                <a:moveTo>
                  <a:pt x="0" y="0"/>
                </a:moveTo>
                <a:lnTo>
                  <a:pt x="573798" y="0"/>
                </a:lnTo>
                <a:lnTo>
                  <a:pt x="573798" y="822648"/>
                </a:lnTo>
                <a:lnTo>
                  <a:pt x="0" y="82264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608297" y="158885"/>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355293" y="4287312"/>
            <a:ext cx="8983051" cy="4175766"/>
          </a:xfrm>
          <a:custGeom>
            <a:avLst/>
            <a:gdLst/>
            <a:ahLst/>
            <a:cxnLst/>
            <a:rect r="r" b="b" t="t" l="l"/>
            <a:pathLst>
              <a:path h="4175766" w="8983051">
                <a:moveTo>
                  <a:pt x="0" y="0"/>
                </a:moveTo>
                <a:lnTo>
                  <a:pt x="8983051" y="0"/>
                </a:lnTo>
                <a:lnTo>
                  <a:pt x="8983051" y="4175766"/>
                </a:lnTo>
                <a:lnTo>
                  <a:pt x="0" y="4175766"/>
                </a:lnTo>
                <a:lnTo>
                  <a:pt x="0" y="0"/>
                </a:lnTo>
                <a:close/>
              </a:path>
            </a:pathLst>
          </a:custGeom>
          <a:blipFill>
            <a:blip r:embed="rId10"/>
            <a:stretch>
              <a:fillRect l="0" t="0" r="0" b="0"/>
            </a:stretch>
          </a:blipFill>
        </p:spPr>
      </p:sp>
      <p:sp>
        <p:nvSpPr>
          <p:cNvPr name="TextBox 14" id="14"/>
          <p:cNvSpPr txBox="true"/>
          <p:nvPr/>
        </p:nvSpPr>
        <p:spPr>
          <a:xfrm rot="0">
            <a:off x="2460195" y="1247996"/>
            <a:ext cx="13395565" cy="2457450"/>
          </a:xfrm>
          <a:prstGeom prst="rect">
            <a:avLst/>
          </a:prstGeom>
        </p:spPr>
        <p:txBody>
          <a:bodyPr anchor="t" rtlCol="false" tIns="0" lIns="0" bIns="0" rIns="0">
            <a:spAutoFit/>
          </a:bodyPr>
          <a:lstStyle/>
          <a:p>
            <a:pPr algn="ctr">
              <a:lnSpc>
                <a:spcPts val="9720"/>
              </a:lnSpc>
            </a:pPr>
            <a:r>
              <a:rPr lang="en-US" sz="8100" b="true">
                <a:solidFill>
                  <a:srgbClr val="003EA8"/>
                </a:solidFill>
                <a:latin typeface="Muli Bold"/>
                <a:ea typeface="Muli Bold"/>
                <a:cs typeface="Muli Bold"/>
                <a:sym typeface="Muli Bold"/>
              </a:rPr>
              <a:t>2. Bài toán Tic-Tac-Toe (Search Problem)</a:t>
            </a:r>
          </a:p>
        </p:txBody>
      </p:sp>
      <p:sp>
        <p:nvSpPr>
          <p:cNvPr name="TextBox 15" id="15"/>
          <p:cNvSpPr txBox="true"/>
          <p:nvPr/>
        </p:nvSpPr>
        <p:spPr>
          <a:xfrm rot="0">
            <a:off x="11069896" y="4704842"/>
            <a:ext cx="5831086" cy="3515716"/>
          </a:xfrm>
          <a:prstGeom prst="rect">
            <a:avLst/>
          </a:prstGeom>
        </p:spPr>
        <p:txBody>
          <a:bodyPr anchor="t" rtlCol="false" tIns="0" lIns="0" bIns="0" rIns="0">
            <a:spAutoFit/>
          </a:bodyPr>
          <a:lstStyle/>
          <a:p>
            <a:pPr algn="l">
              <a:lnSpc>
                <a:spcPts val="4670"/>
              </a:lnSpc>
            </a:pPr>
            <a:r>
              <a:rPr lang="en-US" sz="3335" b="true">
                <a:solidFill>
                  <a:srgbClr val="000000"/>
                </a:solidFill>
                <a:latin typeface="Cabin Bold"/>
                <a:ea typeface="Cabin Bold"/>
                <a:cs typeface="Cabin Bold"/>
                <a:sym typeface="Cabin Bold"/>
              </a:rPr>
              <a:t>🔹 Các hàm chính trong Python</a:t>
            </a:r>
          </a:p>
          <a:p>
            <a:pPr algn="l">
              <a:lnSpc>
                <a:spcPts val="4670"/>
              </a:lnSpc>
              <a:spcBef>
                <a:spcPct val="0"/>
              </a:spcBef>
            </a:pPr>
            <a:r>
              <a:rPr lang="en-US" sz="3335">
                <a:solidFill>
                  <a:srgbClr val="000000"/>
                </a:solidFill>
                <a:latin typeface="Cabin"/>
                <a:ea typeface="Cabin"/>
                <a:cs typeface="Cabin"/>
                <a:sym typeface="Cabin"/>
              </a:rPr>
              <a:t>actions(s) – nước hợp lệ</a:t>
            </a:r>
          </a:p>
          <a:p>
            <a:pPr algn="l">
              <a:lnSpc>
                <a:spcPts val="4670"/>
              </a:lnSpc>
              <a:spcBef>
                <a:spcPct val="0"/>
              </a:spcBef>
            </a:pPr>
            <a:r>
              <a:rPr lang="en-US" sz="3335">
                <a:solidFill>
                  <a:srgbClr val="000000"/>
                </a:solidFill>
                <a:latin typeface="Cabin"/>
                <a:ea typeface="Cabin"/>
                <a:cs typeface="Cabin"/>
                <a:sym typeface="Cabin"/>
              </a:rPr>
              <a:t>result(s,a) – trạng thái mới</a:t>
            </a:r>
          </a:p>
          <a:p>
            <a:pPr algn="l">
              <a:lnSpc>
                <a:spcPts val="4670"/>
              </a:lnSpc>
              <a:spcBef>
                <a:spcPct val="0"/>
              </a:spcBef>
            </a:pPr>
            <a:r>
              <a:rPr lang="en-US" sz="3335">
                <a:solidFill>
                  <a:srgbClr val="000000"/>
                </a:solidFill>
                <a:latin typeface="Cabin"/>
                <a:ea typeface="Cabin"/>
                <a:cs typeface="Cabin"/>
                <a:sym typeface="Cabin"/>
              </a:rPr>
              <a:t>terminal(s) – trò chơi kết thúc?</a:t>
            </a:r>
          </a:p>
          <a:p>
            <a:pPr algn="l">
              <a:lnSpc>
                <a:spcPts val="4670"/>
              </a:lnSpc>
              <a:spcBef>
                <a:spcPct val="0"/>
              </a:spcBef>
            </a:pPr>
            <a:r>
              <a:rPr lang="en-US" sz="3335">
                <a:solidFill>
                  <a:srgbClr val="000000"/>
                </a:solidFill>
                <a:latin typeface="Cabin"/>
                <a:ea typeface="Cabin"/>
                <a:cs typeface="Cabin"/>
                <a:sym typeface="Cabin"/>
              </a:rPr>
              <a:t>utility(s) – điểm thắng/thua/hòa</a:t>
            </a:r>
          </a:p>
          <a:p>
            <a:pPr algn="l">
              <a:lnSpc>
                <a:spcPts val="467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false" flipV="false" rot="0">
            <a:off x="-608297" y="158885"/>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989663" y="8797919"/>
            <a:ext cx="7147788" cy="1728465"/>
          </a:xfrm>
          <a:custGeom>
            <a:avLst/>
            <a:gdLst/>
            <a:ahLst/>
            <a:cxnLst/>
            <a:rect r="r" b="b" t="t" l="l"/>
            <a:pathLst>
              <a:path h="1728465" w="7147788">
                <a:moveTo>
                  <a:pt x="0" y="0"/>
                </a:moveTo>
                <a:lnTo>
                  <a:pt x="7147788" y="0"/>
                </a:lnTo>
                <a:lnTo>
                  <a:pt x="7147788" y="1728465"/>
                </a:lnTo>
                <a:lnTo>
                  <a:pt x="0" y="17284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1702764" y="8942224"/>
            <a:ext cx="573798" cy="822649"/>
          </a:xfrm>
          <a:custGeom>
            <a:avLst/>
            <a:gdLst/>
            <a:ahLst/>
            <a:cxnLst/>
            <a:rect r="r" b="b" t="t" l="l"/>
            <a:pathLst>
              <a:path h="822649" w="573798">
                <a:moveTo>
                  <a:pt x="0" y="0"/>
                </a:moveTo>
                <a:lnTo>
                  <a:pt x="573798" y="0"/>
                </a:lnTo>
                <a:lnTo>
                  <a:pt x="573798" y="822649"/>
                </a:lnTo>
                <a:lnTo>
                  <a:pt x="0" y="82264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488584" y="1835945"/>
            <a:ext cx="7111917" cy="6529386"/>
          </a:xfrm>
          <a:prstGeom prst="rect">
            <a:avLst/>
          </a:prstGeom>
        </p:spPr>
        <p:txBody>
          <a:bodyPr anchor="t" rtlCol="false" tIns="0" lIns="0" bIns="0" rIns="0">
            <a:spAutoFit/>
          </a:bodyPr>
          <a:lstStyle/>
          <a:p>
            <a:pPr algn="l">
              <a:lnSpc>
                <a:spcPts val="6478"/>
              </a:lnSpc>
              <a:spcBef>
                <a:spcPct val="0"/>
              </a:spcBef>
            </a:pPr>
            <a:r>
              <a:rPr lang="en-US" b="true" sz="4627">
                <a:solidFill>
                  <a:srgbClr val="000000"/>
                </a:solidFill>
                <a:latin typeface="Cabin Bold"/>
                <a:ea typeface="Cabin Bold"/>
                <a:cs typeface="Cabin Bold"/>
                <a:sym typeface="Cabin Bold"/>
              </a:rPr>
              <a:t>🔹 Phân tích độ phức tạp</a:t>
            </a:r>
          </a:p>
          <a:p>
            <a:pPr algn="l" marL="999149" indent="-499574" lvl="1">
              <a:lnSpc>
                <a:spcPts val="6478"/>
              </a:lnSpc>
              <a:spcBef>
                <a:spcPct val="0"/>
              </a:spcBef>
              <a:buFont typeface="Arial"/>
              <a:buChar char="•"/>
            </a:pPr>
            <a:r>
              <a:rPr lang="en-US" sz="4627">
                <a:solidFill>
                  <a:srgbClr val="000000"/>
                </a:solidFill>
                <a:latin typeface="Cabin"/>
                <a:ea typeface="Cabin"/>
                <a:cs typeface="Cabin"/>
                <a:sym typeface="Cabin"/>
              </a:rPr>
              <a:t>Hệ số phân nhánh b = 9, độ sâu m = 9</a:t>
            </a:r>
          </a:p>
          <a:p>
            <a:pPr algn="l" marL="999149" indent="-499574" lvl="1">
              <a:lnSpc>
                <a:spcPts val="6478"/>
              </a:lnSpc>
              <a:spcBef>
                <a:spcPct val="0"/>
              </a:spcBef>
              <a:buFont typeface="Arial"/>
              <a:buChar char="•"/>
            </a:pPr>
            <a:r>
              <a:rPr lang="en-US" sz="4627">
                <a:solidFill>
                  <a:srgbClr val="000000"/>
                </a:solidFill>
                <a:latin typeface="Cabin"/>
                <a:ea typeface="Cabin"/>
                <a:cs typeface="Cabin"/>
                <a:sym typeface="Cabin"/>
              </a:rPr>
              <a:t>Cỡ không gian trạng thái &lt; 19,683</a:t>
            </a:r>
          </a:p>
          <a:p>
            <a:pPr algn="l" marL="999149" indent="-499574" lvl="1">
              <a:lnSpc>
                <a:spcPts val="6478"/>
              </a:lnSpc>
              <a:spcBef>
                <a:spcPct val="0"/>
              </a:spcBef>
              <a:buFont typeface="Arial"/>
              <a:buChar char="•"/>
            </a:pPr>
            <a:r>
              <a:rPr lang="en-US" sz="4627">
                <a:solidFill>
                  <a:srgbClr val="000000"/>
                </a:solidFill>
                <a:latin typeface="Cabin"/>
                <a:ea typeface="Cabin"/>
                <a:cs typeface="Cabin"/>
                <a:sym typeface="Cabin"/>
              </a:rPr>
              <a:t>Số bước tối đa: ~3.9×10⁸</a:t>
            </a:r>
          </a:p>
          <a:p>
            <a:pPr algn="l" marL="999149" indent="-499574" lvl="1">
              <a:lnSpc>
                <a:spcPts val="6478"/>
              </a:lnSpc>
              <a:spcBef>
                <a:spcPct val="0"/>
              </a:spcBef>
              <a:buFont typeface="Arial"/>
              <a:buChar char="•"/>
            </a:pPr>
            <a:r>
              <a:rPr lang="en-US" sz="4627">
                <a:solidFill>
                  <a:srgbClr val="000000"/>
                </a:solidFill>
                <a:latin typeface="Cabin"/>
                <a:ea typeface="Cabin"/>
                <a:cs typeface="Cabin"/>
                <a:sym typeface="Cabin"/>
              </a:rPr>
              <a:t>Trong thực tế nhỏ hơn do trò chơi kết thúc sớm.</a:t>
            </a:r>
          </a:p>
        </p:txBody>
      </p:sp>
      <p:sp>
        <p:nvSpPr>
          <p:cNvPr name="TextBox 7" id="7"/>
          <p:cNvSpPr txBox="true"/>
          <p:nvPr/>
        </p:nvSpPr>
        <p:spPr>
          <a:xfrm rot="0">
            <a:off x="9144000" y="1826420"/>
            <a:ext cx="8528303" cy="4443741"/>
          </a:xfrm>
          <a:prstGeom prst="rect">
            <a:avLst/>
          </a:prstGeom>
        </p:spPr>
        <p:txBody>
          <a:bodyPr anchor="t" rtlCol="false" tIns="0" lIns="0" bIns="0" rIns="0">
            <a:spAutoFit/>
          </a:bodyPr>
          <a:lstStyle/>
          <a:p>
            <a:pPr algn="l">
              <a:lnSpc>
                <a:spcPts val="7069"/>
              </a:lnSpc>
              <a:spcBef>
                <a:spcPct val="0"/>
              </a:spcBef>
            </a:pPr>
            <a:r>
              <a:rPr lang="en-US" sz="5049">
                <a:solidFill>
                  <a:srgbClr val="000000"/>
                </a:solidFill>
                <a:latin typeface="Cabin"/>
                <a:ea typeface="Cabin"/>
                <a:cs typeface="Cabin"/>
                <a:sym typeface="Cabin"/>
              </a:rPr>
              <a:t>🔹</a:t>
            </a:r>
            <a:r>
              <a:rPr lang="en-US" b="true" sz="5049">
                <a:solidFill>
                  <a:srgbClr val="000000"/>
                </a:solidFill>
                <a:latin typeface="Cabin Bold"/>
                <a:ea typeface="Cabin Bold"/>
                <a:cs typeface="Cabin Bold"/>
                <a:sym typeface="Cabin Bold"/>
              </a:rPr>
              <a:t> Kết quả</a:t>
            </a:r>
          </a:p>
          <a:p>
            <a:pPr algn="l" marL="1090197" indent="-545099" lvl="1">
              <a:lnSpc>
                <a:spcPts val="7069"/>
              </a:lnSpc>
              <a:spcBef>
                <a:spcPct val="0"/>
              </a:spcBef>
              <a:buFont typeface="Arial"/>
              <a:buChar char="•"/>
            </a:pPr>
            <a:r>
              <a:rPr lang="en-US" sz="5049">
                <a:solidFill>
                  <a:srgbClr val="000000"/>
                </a:solidFill>
                <a:latin typeface="Cabin"/>
                <a:ea typeface="Cabin"/>
                <a:cs typeface="Cabin"/>
                <a:sym typeface="Cabin"/>
              </a:rPr>
              <a:t>N</a:t>
            </a:r>
            <a:r>
              <a:rPr lang="en-US" sz="5049">
                <a:solidFill>
                  <a:srgbClr val="000000"/>
                </a:solidFill>
                <a:latin typeface="Cabin"/>
                <a:ea typeface="Cabin"/>
                <a:cs typeface="Cabin"/>
                <a:sym typeface="Cabin"/>
              </a:rPr>
              <a:t>gười đi trước (X) có lợi thế.</a:t>
            </a:r>
          </a:p>
          <a:p>
            <a:pPr algn="l" marL="1090197" indent="-545099" lvl="1">
              <a:lnSpc>
                <a:spcPts val="7069"/>
              </a:lnSpc>
              <a:spcBef>
                <a:spcPct val="0"/>
              </a:spcBef>
              <a:buFont typeface="Arial"/>
              <a:buChar char="•"/>
            </a:pPr>
            <a:r>
              <a:rPr lang="en-US" sz="5049">
                <a:solidFill>
                  <a:srgbClr val="000000"/>
                </a:solidFill>
                <a:latin typeface="Cabin"/>
                <a:ea typeface="Cabin"/>
                <a:cs typeface="Cabin"/>
                <a:sym typeface="Cabin"/>
              </a:rPr>
              <a:t>Giúp hiểu cách mô hình hóa game thành Search Problem.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4364600"/>
            <a:ext cx="15795020" cy="4507970"/>
            <a:chOff x="0" y="0"/>
            <a:chExt cx="5762066" cy="1644520"/>
          </a:xfrm>
        </p:grpSpPr>
        <p:sp>
          <p:nvSpPr>
            <p:cNvPr name="Freeform 4" id="4"/>
            <p:cNvSpPr/>
            <p:nvPr/>
          </p:nvSpPr>
          <p:spPr>
            <a:xfrm flipH="false" flipV="false" rot="0">
              <a:off x="0" y="0"/>
              <a:ext cx="5762066" cy="1644520"/>
            </a:xfrm>
            <a:custGeom>
              <a:avLst/>
              <a:gdLst/>
              <a:ahLst/>
              <a:cxnLst/>
              <a:rect r="r" b="b" t="t" l="l"/>
              <a:pathLst>
                <a:path h="1644520" w="5762066">
                  <a:moveTo>
                    <a:pt x="0" y="0"/>
                  </a:moveTo>
                  <a:lnTo>
                    <a:pt x="5762066" y="0"/>
                  </a:lnTo>
                  <a:lnTo>
                    <a:pt x="5762066" y="1644520"/>
                  </a:lnTo>
                  <a:lnTo>
                    <a:pt x="0" y="1644520"/>
                  </a:lnTo>
                  <a:close/>
                </a:path>
              </a:pathLst>
            </a:custGeom>
            <a:solidFill>
              <a:srgbClr val="FFFFFF"/>
            </a:solidFill>
          </p:spPr>
        </p:sp>
      </p:grpSp>
      <p:grpSp>
        <p:nvGrpSpPr>
          <p:cNvPr name="Group 5" id="5"/>
          <p:cNvGrpSpPr/>
          <p:nvPr/>
        </p:nvGrpSpPr>
        <p:grpSpPr>
          <a:xfrm rot="0">
            <a:off x="1219294" y="657204"/>
            <a:ext cx="15795020" cy="3535020"/>
            <a:chOff x="0" y="0"/>
            <a:chExt cx="5762066" cy="1289585"/>
          </a:xfrm>
        </p:grpSpPr>
        <p:sp>
          <p:nvSpPr>
            <p:cNvPr name="Freeform 6" id="6"/>
            <p:cNvSpPr/>
            <p:nvPr/>
          </p:nvSpPr>
          <p:spPr>
            <a:xfrm flipH="false" flipV="false" rot="0">
              <a:off x="0" y="0"/>
              <a:ext cx="5762066" cy="1289585"/>
            </a:xfrm>
            <a:custGeom>
              <a:avLst/>
              <a:gdLst/>
              <a:ahLst/>
              <a:cxnLst/>
              <a:rect r="r" b="b" t="t" l="l"/>
              <a:pathLst>
                <a:path h="1289585" w="5762066">
                  <a:moveTo>
                    <a:pt x="0" y="0"/>
                  </a:moveTo>
                  <a:lnTo>
                    <a:pt x="5762066" y="0"/>
                  </a:lnTo>
                  <a:lnTo>
                    <a:pt x="5762066" y="1289585"/>
                  </a:lnTo>
                  <a:lnTo>
                    <a:pt x="0" y="1289585"/>
                  </a:lnTo>
                  <a:close/>
                </a:path>
              </a:pathLst>
            </a:custGeom>
            <a:solidFill>
              <a:srgbClr val="FFFFFF"/>
            </a:solidFill>
          </p:spPr>
        </p:sp>
      </p:grpSp>
      <p:sp>
        <p:nvSpPr>
          <p:cNvPr name="Freeform 7" id="7"/>
          <p:cNvSpPr/>
          <p:nvPr/>
        </p:nvSpPr>
        <p:spPr>
          <a:xfrm flipH="true" flipV="false" rot="0">
            <a:off x="14972495" y="7296334"/>
            <a:ext cx="5533751" cy="1961966"/>
          </a:xfrm>
          <a:custGeom>
            <a:avLst/>
            <a:gdLst/>
            <a:ahLst/>
            <a:cxnLst/>
            <a:rect r="r" b="b" t="t" l="l"/>
            <a:pathLst>
              <a:path h="1961966" w="5533751">
                <a:moveTo>
                  <a:pt x="5533751" y="0"/>
                </a:moveTo>
                <a:lnTo>
                  <a:pt x="0" y="0"/>
                </a:lnTo>
                <a:lnTo>
                  <a:pt x="0" y="1961966"/>
                </a:lnTo>
                <a:lnTo>
                  <a:pt x="5533751" y="1961966"/>
                </a:lnTo>
                <a:lnTo>
                  <a:pt x="553375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2218246" y="7296334"/>
            <a:ext cx="5533751" cy="1961966"/>
          </a:xfrm>
          <a:custGeom>
            <a:avLst/>
            <a:gdLst/>
            <a:ahLst/>
            <a:cxnLst/>
            <a:rect r="r" b="b" t="t" l="l"/>
            <a:pathLst>
              <a:path h="1961966" w="5533751">
                <a:moveTo>
                  <a:pt x="0" y="0"/>
                </a:moveTo>
                <a:lnTo>
                  <a:pt x="5533751" y="0"/>
                </a:lnTo>
                <a:lnTo>
                  <a:pt x="5533751" y="1961966"/>
                </a:lnTo>
                <a:lnTo>
                  <a:pt x="0" y="19619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170659" y="1457927"/>
            <a:ext cx="13892290" cy="1847850"/>
          </a:xfrm>
          <a:prstGeom prst="rect">
            <a:avLst/>
          </a:prstGeom>
        </p:spPr>
        <p:txBody>
          <a:bodyPr anchor="t" rtlCol="false" tIns="0" lIns="0" bIns="0" rIns="0">
            <a:spAutoFit/>
          </a:bodyPr>
          <a:lstStyle/>
          <a:p>
            <a:pPr algn="ctr">
              <a:lnSpc>
                <a:spcPts val="7424"/>
              </a:lnSpc>
            </a:pPr>
            <a:r>
              <a:rPr lang="en-US" sz="5499" b="true">
                <a:solidFill>
                  <a:srgbClr val="003EA8"/>
                </a:solidFill>
                <a:latin typeface="Muli Bold"/>
                <a:ea typeface="Muli Bold"/>
                <a:cs typeface="Muli Bold"/>
                <a:sym typeface="Muli Bold"/>
              </a:rPr>
              <a:t>3. AND-OR Tree Search (Môi trường không xác định)</a:t>
            </a:r>
          </a:p>
        </p:txBody>
      </p:sp>
      <p:grpSp>
        <p:nvGrpSpPr>
          <p:cNvPr name="Group 10" id="10"/>
          <p:cNvGrpSpPr/>
          <p:nvPr/>
        </p:nvGrpSpPr>
        <p:grpSpPr>
          <a:xfrm rot="0">
            <a:off x="7374448" y="9044945"/>
            <a:ext cx="3539104" cy="617207"/>
            <a:chOff x="0" y="0"/>
            <a:chExt cx="4718805" cy="822943"/>
          </a:xfrm>
        </p:grpSpPr>
        <p:grpSp>
          <p:nvGrpSpPr>
            <p:cNvPr name="Group 11" id="11"/>
            <p:cNvGrpSpPr/>
            <p:nvPr/>
          </p:nvGrpSpPr>
          <p:grpSpPr>
            <a:xfrm rot="0">
              <a:off x="0" y="0"/>
              <a:ext cx="4718805" cy="822943"/>
              <a:chOff x="0" y="0"/>
              <a:chExt cx="1291075" cy="225159"/>
            </a:xfrm>
          </p:grpSpPr>
          <p:sp>
            <p:nvSpPr>
              <p:cNvPr name="Freeform 12" id="12"/>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13" id="13"/>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5" action="ppaction://hlinksldjump"/>
                </a:rPr>
                <a:t>Quay lại Trang Chương trình</a:t>
              </a:r>
            </a:p>
          </p:txBody>
        </p:sp>
      </p:grpSp>
      <p:sp>
        <p:nvSpPr>
          <p:cNvPr name="Freeform 14" id="14"/>
          <p:cNvSpPr/>
          <p:nvPr/>
        </p:nvSpPr>
        <p:spPr>
          <a:xfrm flipH="false" flipV="false" rot="0">
            <a:off x="16793505" y="374230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009650" y="128171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3152467" y="5086350"/>
            <a:ext cx="12785059" cy="2378290"/>
          </a:xfrm>
          <a:prstGeom prst="rect">
            <a:avLst/>
          </a:prstGeom>
        </p:spPr>
        <p:txBody>
          <a:bodyPr anchor="t" rtlCol="false" tIns="0" lIns="0" bIns="0" rIns="0">
            <a:spAutoFit/>
          </a:bodyPr>
          <a:lstStyle/>
          <a:p>
            <a:pPr algn="l" marL="739206" indent="-369603" lvl="1">
              <a:lnSpc>
                <a:spcPts val="4793"/>
              </a:lnSpc>
              <a:spcBef>
                <a:spcPct val="0"/>
              </a:spcBef>
              <a:buFont typeface="Arial"/>
              <a:buChar char="•"/>
            </a:pPr>
            <a:r>
              <a:rPr lang="en-US" sz="3423">
                <a:solidFill>
                  <a:srgbClr val="000000"/>
                </a:solidFill>
                <a:latin typeface="Cabin"/>
                <a:ea typeface="Cabin"/>
                <a:cs typeface="Cabin"/>
                <a:sym typeface="Cabin"/>
              </a:rPr>
              <a:t>Đối thủ được coi như môi trường ngẫu nhiên, không dự đoán được.</a:t>
            </a:r>
          </a:p>
          <a:p>
            <a:pPr algn="l" marL="739206" indent="-369603" lvl="1">
              <a:lnSpc>
                <a:spcPts val="4793"/>
              </a:lnSpc>
              <a:spcBef>
                <a:spcPct val="0"/>
              </a:spcBef>
              <a:buFont typeface="Arial"/>
              <a:buChar char="•"/>
            </a:pPr>
            <a:r>
              <a:rPr lang="en-US" sz="3423">
                <a:solidFill>
                  <a:srgbClr val="000000"/>
                </a:solidFill>
                <a:latin typeface="Cabin"/>
                <a:ea typeface="Cabin"/>
                <a:cs typeface="Cabin"/>
                <a:sym typeface="Cabin"/>
              </a:rPr>
              <a:t>OR-node: lựa chọn của người chơi.</a:t>
            </a:r>
          </a:p>
          <a:p>
            <a:pPr algn="l" marL="739206" indent="-369603" lvl="1">
              <a:lnSpc>
                <a:spcPts val="4793"/>
              </a:lnSpc>
              <a:spcBef>
                <a:spcPct val="0"/>
              </a:spcBef>
              <a:buFont typeface="Arial"/>
              <a:buChar char="•"/>
            </a:pPr>
            <a:r>
              <a:rPr lang="en-US" sz="3423">
                <a:solidFill>
                  <a:srgbClr val="000000"/>
                </a:solidFill>
                <a:latin typeface="Cabin"/>
                <a:ea typeface="Cabin"/>
                <a:cs typeface="Cabin"/>
                <a:sym typeface="Cabin"/>
              </a:rPr>
              <a:t>AND-node: phản ứng có thể của đối thủ.</a:t>
            </a:r>
          </a:p>
          <a:p>
            <a:pPr algn="l" marL="739206" indent="-369603" lvl="1">
              <a:lnSpc>
                <a:spcPts val="4793"/>
              </a:lnSpc>
              <a:spcBef>
                <a:spcPct val="0"/>
              </a:spcBef>
              <a:buFont typeface="Arial"/>
              <a:buChar char="•"/>
            </a:pPr>
            <a:r>
              <a:rPr lang="en-US" sz="3423">
                <a:solidFill>
                  <a:srgbClr val="000000"/>
                </a:solidFill>
                <a:latin typeface="Cabin"/>
                <a:ea typeface="Cabin"/>
                <a:cs typeface="Cabin"/>
                <a:sym typeface="Cabin"/>
              </a:rPr>
              <a:t>Mục tiêu: tìm conditional plan giúp thắng/hòa mọi trường hợp.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1028700" y="2143459"/>
            <a:ext cx="7770725" cy="5961982"/>
          </a:xfrm>
          <a:prstGeom prst="rect">
            <a:avLst/>
          </a:prstGeom>
        </p:spPr>
        <p:txBody>
          <a:bodyPr anchor="t" rtlCol="false" tIns="0" lIns="0" bIns="0" rIns="0">
            <a:spAutoFit/>
          </a:bodyPr>
          <a:lstStyle/>
          <a:p>
            <a:pPr algn="just">
              <a:lnSpc>
                <a:spcPts val="5977"/>
              </a:lnSpc>
              <a:spcBef>
                <a:spcPct val="0"/>
              </a:spcBef>
            </a:pPr>
            <a:r>
              <a:rPr lang="en-US" sz="4598">
                <a:solidFill>
                  <a:srgbClr val="000000"/>
                </a:solidFill>
                <a:latin typeface="Cabin"/>
                <a:ea typeface="Cabin"/>
                <a:cs typeface="Cabin"/>
                <a:sym typeface="Cabin"/>
              </a:rPr>
              <a:t>🔹</a:t>
            </a:r>
            <a:r>
              <a:rPr lang="en-US" b="true" sz="4598">
                <a:solidFill>
                  <a:srgbClr val="000000"/>
                </a:solidFill>
                <a:latin typeface="Cabin Bold"/>
                <a:ea typeface="Cabin Bold"/>
                <a:cs typeface="Cabin Bold"/>
                <a:sym typeface="Cabin Bold"/>
              </a:rPr>
              <a:t> Thuật toán</a:t>
            </a:r>
          </a:p>
          <a:p>
            <a:pPr algn="just" marL="992715" indent="-496357" lvl="1">
              <a:lnSpc>
                <a:spcPts val="5977"/>
              </a:lnSpc>
              <a:spcBef>
                <a:spcPct val="0"/>
              </a:spcBef>
              <a:buFont typeface="Arial"/>
              <a:buChar char="•"/>
            </a:pPr>
            <a:r>
              <a:rPr lang="en-US" b="true" sz="4598">
                <a:solidFill>
                  <a:srgbClr val="000000"/>
                </a:solidFill>
                <a:latin typeface="Cabin Bold"/>
                <a:ea typeface="Cabin Bold"/>
                <a:cs typeface="Cabin Bold"/>
                <a:sym typeface="Cabin Bold"/>
              </a:rPr>
              <a:t>a</a:t>
            </a:r>
            <a:r>
              <a:rPr lang="en-US" sz="4598">
                <a:solidFill>
                  <a:srgbClr val="000000"/>
                </a:solidFill>
                <a:latin typeface="Cabin"/>
                <a:ea typeface="Cabin"/>
                <a:cs typeface="Cabin"/>
                <a:sym typeface="Cabin"/>
              </a:rPr>
              <a:t>nd_or_search() → tìm kế hoạch tổng thể.</a:t>
            </a:r>
          </a:p>
          <a:p>
            <a:pPr algn="just" marL="992715" indent="-496357" lvl="1">
              <a:lnSpc>
                <a:spcPts val="5977"/>
              </a:lnSpc>
              <a:spcBef>
                <a:spcPct val="0"/>
              </a:spcBef>
              <a:buFont typeface="Arial"/>
              <a:buChar char="•"/>
            </a:pPr>
            <a:r>
              <a:rPr lang="en-US" sz="4598">
                <a:solidFill>
                  <a:srgbClr val="000000"/>
                </a:solidFill>
                <a:latin typeface="Cabin"/>
                <a:ea typeface="Cabin"/>
                <a:cs typeface="Cabin"/>
                <a:sym typeface="Cabin"/>
              </a:rPr>
              <a:t>or_search() → chọn hành động đầu tiên có thể thắng/hòa.</a:t>
            </a:r>
          </a:p>
          <a:p>
            <a:pPr algn="just" marL="992715" indent="-496357" lvl="1">
              <a:lnSpc>
                <a:spcPts val="5977"/>
              </a:lnSpc>
              <a:spcBef>
                <a:spcPct val="0"/>
              </a:spcBef>
              <a:buFont typeface="Arial"/>
              <a:buChar char="•"/>
            </a:pPr>
            <a:r>
              <a:rPr lang="en-US" sz="4598">
                <a:solidFill>
                  <a:srgbClr val="000000"/>
                </a:solidFill>
                <a:latin typeface="Cabin"/>
                <a:ea typeface="Cabin"/>
                <a:cs typeface="Cabin"/>
                <a:sym typeface="Cabin"/>
              </a:rPr>
              <a:t>and_search() → kiểm tra tất cả phản ứng của đối thủ.</a:t>
            </a:r>
          </a:p>
        </p:txBody>
      </p:sp>
      <p:sp>
        <p:nvSpPr>
          <p:cNvPr name="Freeform 4" id="4"/>
          <p:cNvSpPr/>
          <p:nvPr/>
        </p:nvSpPr>
        <p:spPr>
          <a:xfrm flipH="false" flipV="false" rot="0">
            <a:off x="-608297" y="158885"/>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989663" y="8797919"/>
            <a:ext cx="7147788" cy="1728465"/>
          </a:xfrm>
          <a:custGeom>
            <a:avLst/>
            <a:gdLst/>
            <a:ahLst/>
            <a:cxnLst/>
            <a:rect r="r" b="b" t="t" l="l"/>
            <a:pathLst>
              <a:path h="1728465" w="7147788">
                <a:moveTo>
                  <a:pt x="0" y="0"/>
                </a:moveTo>
                <a:lnTo>
                  <a:pt x="7147788" y="0"/>
                </a:lnTo>
                <a:lnTo>
                  <a:pt x="7147788" y="1728465"/>
                </a:lnTo>
                <a:lnTo>
                  <a:pt x="0" y="17284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9144000" y="2143459"/>
            <a:ext cx="8115300" cy="6419362"/>
          </a:xfrm>
          <a:prstGeom prst="rect">
            <a:avLst/>
          </a:prstGeom>
        </p:spPr>
        <p:txBody>
          <a:bodyPr anchor="t" rtlCol="false" tIns="0" lIns="0" bIns="0" rIns="0">
            <a:spAutoFit/>
          </a:bodyPr>
          <a:lstStyle/>
          <a:p>
            <a:pPr algn="just">
              <a:lnSpc>
                <a:spcPts val="5762"/>
              </a:lnSpc>
              <a:spcBef>
                <a:spcPct val="0"/>
              </a:spcBef>
            </a:pPr>
            <a:r>
              <a:rPr lang="en-US" b="true" sz="4432">
                <a:solidFill>
                  <a:srgbClr val="000000"/>
                </a:solidFill>
                <a:latin typeface="Cabin Bold"/>
                <a:ea typeface="Cabin Bold"/>
                <a:cs typeface="Cabin Bold"/>
                <a:sym typeface="Cabin Bold"/>
              </a:rPr>
              <a:t>🔹 </a:t>
            </a:r>
            <a:r>
              <a:rPr lang="en-US" b="true" sz="4432">
                <a:solidFill>
                  <a:srgbClr val="000000"/>
                </a:solidFill>
                <a:latin typeface="Cabin Bold"/>
                <a:ea typeface="Cabin Bold"/>
                <a:cs typeface="Cabin Bold"/>
                <a:sym typeface="Cabin Bold"/>
              </a:rPr>
              <a:t>Kết quả &amp; nhận xét</a:t>
            </a:r>
          </a:p>
          <a:p>
            <a:pPr algn="just" marL="957023" indent="-478511" lvl="1">
              <a:lnSpc>
                <a:spcPts val="5762"/>
              </a:lnSpc>
              <a:spcBef>
                <a:spcPct val="0"/>
              </a:spcBef>
              <a:buFont typeface="Arial"/>
              <a:buChar char="•"/>
            </a:pPr>
            <a:r>
              <a:rPr lang="en-US" sz="4432">
                <a:solidFill>
                  <a:srgbClr val="000000"/>
                </a:solidFill>
                <a:latin typeface="Cabin"/>
                <a:ea typeface="Cabin"/>
                <a:cs typeface="Cabin"/>
                <a:sym typeface="Cabin"/>
              </a:rPr>
              <a:t>Bảo đảm an toàn (safe plan): X thắng hoặc hòa dù đối thủ đi thế nào.</a:t>
            </a:r>
          </a:p>
          <a:p>
            <a:pPr algn="just" marL="957023" indent="-478511" lvl="1">
              <a:lnSpc>
                <a:spcPts val="5762"/>
              </a:lnSpc>
              <a:spcBef>
                <a:spcPct val="0"/>
              </a:spcBef>
              <a:buFont typeface="Arial"/>
              <a:buChar char="•"/>
            </a:pPr>
            <a:r>
              <a:rPr lang="en-US" sz="4432">
                <a:solidFill>
                  <a:srgbClr val="000000"/>
                </a:solidFill>
                <a:latin typeface="Cabin"/>
                <a:ea typeface="Cabin"/>
                <a:cs typeface="Cabin"/>
                <a:sym typeface="Cabin"/>
              </a:rPr>
              <a:t>Chậm, không phù hợp cho game lớn.</a:t>
            </a:r>
          </a:p>
          <a:p>
            <a:pPr algn="just" marL="957023" indent="-478511" lvl="1">
              <a:lnSpc>
                <a:spcPts val="5762"/>
              </a:lnSpc>
              <a:spcBef>
                <a:spcPct val="0"/>
              </a:spcBef>
              <a:buFont typeface="Arial"/>
              <a:buChar char="•"/>
            </a:pPr>
            <a:r>
              <a:rPr lang="en-US" sz="4432">
                <a:solidFill>
                  <a:srgbClr val="000000"/>
                </a:solidFill>
                <a:latin typeface="Cabin"/>
                <a:ea typeface="Cabin"/>
                <a:cs typeface="Cabin"/>
                <a:sym typeface="Cabin"/>
              </a:rPr>
              <a:t>Là nền tảng cho Adversarial Search sau này.</a:t>
            </a:r>
          </a:p>
          <a:p>
            <a:pPr algn="just">
              <a:lnSpc>
                <a:spcPts val="5762"/>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36355" cy="1907038"/>
            <a:chOff x="0" y="0"/>
            <a:chExt cx="5996027" cy="695693"/>
          </a:xfrm>
        </p:grpSpPr>
        <p:sp>
          <p:nvSpPr>
            <p:cNvPr name="Freeform 4" id="4"/>
            <p:cNvSpPr/>
            <p:nvPr/>
          </p:nvSpPr>
          <p:spPr>
            <a:xfrm flipH="false" flipV="false" rot="0">
              <a:off x="0" y="0"/>
              <a:ext cx="5996027" cy="695693"/>
            </a:xfrm>
            <a:custGeom>
              <a:avLst/>
              <a:gdLst/>
              <a:ahLst/>
              <a:cxnLst/>
              <a:rect r="r" b="b" t="t" l="l"/>
              <a:pathLst>
                <a:path h="695693" w="5996027">
                  <a:moveTo>
                    <a:pt x="0" y="0"/>
                  </a:moveTo>
                  <a:lnTo>
                    <a:pt x="5996027" y="0"/>
                  </a:lnTo>
                  <a:lnTo>
                    <a:pt x="5996027" y="695693"/>
                  </a:lnTo>
                  <a:lnTo>
                    <a:pt x="0" y="695693"/>
                  </a:lnTo>
                  <a:close/>
                </a:path>
              </a:pathLst>
            </a:custGeom>
            <a:solidFill>
              <a:srgbClr val="FFFFFF"/>
            </a:solidFill>
          </p:spPr>
        </p:sp>
      </p:grpSp>
      <p:grpSp>
        <p:nvGrpSpPr>
          <p:cNvPr name="Group 5" id="5"/>
          <p:cNvGrpSpPr/>
          <p:nvPr/>
        </p:nvGrpSpPr>
        <p:grpSpPr>
          <a:xfrm rot="0">
            <a:off x="925823" y="2920136"/>
            <a:ext cx="16436355" cy="5768915"/>
            <a:chOff x="0" y="0"/>
            <a:chExt cx="5996027" cy="2104516"/>
          </a:xfrm>
        </p:grpSpPr>
        <p:sp>
          <p:nvSpPr>
            <p:cNvPr name="Freeform 6" id="6"/>
            <p:cNvSpPr/>
            <p:nvPr/>
          </p:nvSpPr>
          <p:spPr>
            <a:xfrm flipH="false" flipV="false" rot="0">
              <a:off x="0" y="0"/>
              <a:ext cx="5996027" cy="2104516"/>
            </a:xfrm>
            <a:custGeom>
              <a:avLst/>
              <a:gdLst/>
              <a:ahLst/>
              <a:cxnLst/>
              <a:rect r="r" b="b" t="t" l="l"/>
              <a:pathLst>
                <a:path h="2104516" w="5996027">
                  <a:moveTo>
                    <a:pt x="0" y="0"/>
                  </a:moveTo>
                  <a:lnTo>
                    <a:pt x="5996027" y="0"/>
                  </a:lnTo>
                  <a:lnTo>
                    <a:pt x="5996027" y="2104516"/>
                  </a:lnTo>
                  <a:lnTo>
                    <a:pt x="0" y="2104516"/>
                  </a:lnTo>
                  <a:close/>
                </a:path>
              </a:pathLst>
            </a:custGeom>
            <a:solidFill>
              <a:srgbClr val="FFFFFF"/>
            </a:solidFill>
          </p:spPr>
        </p:sp>
      </p:grpSp>
      <p:sp>
        <p:nvSpPr>
          <p:cNvPr name="TextBox 7" id="7"/>
          <p:cNvSpPr txBox="true"/>
          <p:nvPr/>
        </p:nvSpPr>
        <p:spPr>
          <a:xfrm rot="0">
            <a:off x="58374" y="1343004"/>
            <a:ext cx="18229626" cy="628650"/>
          </a:xfrm>
          <a:prstGeom prst="rect">
            <a:avLst/>
          </a:prstGeom>
        </p:spPr>
        <p:txBody>
          <a:bodyPr anchor="t" rtlCol="false" tIns="0" lIns="0" bIns="0" rIns="0">
            <a:spAutoFit/>
          </a:bodyPr>
          <a:lstStyle/>
          <a:p>
            <a:pPr algn="ctr">
              <a:lnSpc>
                <a:spcPts val="4980"/>
              </a:lnSpc>
            </a:pPr>
            <a:r>
              <a:rPr lang="en-US" b="true" sz="4150">
                <a:solidFill>
                  <a:srgbClr val="003EA8"/>
                </a:solidFill>
                <a:latin typeface="Muli Bold"/>
                <a:ea typeface="Muli Bold"/>
                <a:cs typeface="Muli Bold"/>
                <a:sym typeface="Muli Bold"/>
              </a:rPr>
              <a:t>4. Adversar</a:t>
            </a:r>
            <a:r>
              <a:rPr lang="en-US" b="true" sz="4150">
                <a:solidFill>
                  <a:srgbClr val="003EA8"/>
                </a:solidFill>
                <a:latin typeface="Muli Bold"/>
                <a:ea typeface="Muli Bold"/>
                <a:cs typeface="Muli Bold"/>
                <a:sym typeface="Muli Bold"/>
              </a:rPr>
              <a:t>ial Search (Minimax, Alpha-Beta, Move Ordering)</a:t>
            </a:r>
          </a:p>
        </p:txBody>
      </p:sp>
      <p:grpSp>
        <p:nvGrpSpPr>
          <p:cNvPr name="Group 8" id="8"/>
          <p:cNvGrpSpPr/>
          <p:nvPr/>
        </p:nvGrpSpPr>
        <p:grpSpPr>
          <a:xfrm rot="0">
            <a:off x="7374448" y="9044945"/>
            <a:ext cx="3539104" cy="617207"/>
            <a:chOff x="0" y="0"/>
            <a:chExt cx="4718805" cy="822943"/>
          </a:xfrm>
        </p:grpSpPr>
        <p:grpSp>
          <p:nvGrpSpPr>
            <p:cNvPr name="Group 9" id="9"/>
            <p:cNvGrpSpPr/>
            <p:nvPr/>
          </p:nvGrpSpPr>
          <p:grpSpPr>
            <a:xfrm rot="0">
              <a:off x="0" y="0"/>
              <a:ext cx="4718805" cy="822943"/>
              <a:chOff x="0" y="0"/>
              <a:chExt cx="1291075" cy="225159"/>
            </a:xfrm>
          </p:grpSpPr>
          <p:sp>
            <p:nvSpPr>
              <p:cNvPr name="Freeform 10" id="10"/>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11" id="11"/>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3" action="ppaction://hlinksldjump"/>
                </a:rPr>
                <a:t>Quay lại Trang Chương trình</a:t>
              </a:r>
            </a:p>
          </p:txBody>
        </p:sp>
      </p:grpSp>
      <p:sp>
        <p:nvSpPr>
          <p:cNvPr name="Freeform 12" id="12"/>
          <p:cNvSpPr/>
          <p:nvPr/>
        </p:nvSpPr>
        <p:spPr>
          <a:xfrm flipH="true" flipV="false" rot="0">
            <a:off x="15484919" y="8123782"/>
            <a:ext cx="4585506" cy="1625770"/>
          </a:xfrm>
          <a:custGeom>
            <a:avLst/>
            <a:gdLst/>
            <a:ahLst/>
            <a:cxnLst/>
            <a:rect r="r" b="b" t="t" l="l"/>
            <a:pathLst>
              <a:path h="1625770" w="4585506">
                <a:moveTo>
                  <a:pt x="4585506" y="0"/>
                </a:moveTo>
                <a:lnTo>
                  <a:pt x="0" y="0"/>
                </a:lnTo>
                <a:lnTo>
                  <a:pt x="0" y="1625770"/>
                </a:lnTo>
                <a:lnTo>
                  <a:pt x="4585506" y="1625770"/>
                </a:lnTo>
                <a:lnTo>
                  <a:pt x="458550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782425" y="8123782"/>
            <a:ext cx="4585506" cy="1625770"/>
          </a:xfrm>
          <a:custGeom>
            <a:avLst/>
            <a:gdLst/>
            <a:ahLst/>
            <a:cxnLst/>
            <a:rect r="r" b="b" t="t" l="l"/>
            <a:pathLst>
              <a:path h="1625770" w="4585506">
                <a:moveTo>
                  <a:pt x="0" y="0"/>
                </a:moveTo>
                <a:lnTo>
                  <a:pt x="4585506" y="0"/>
                </a:lnTo>
                <a:lnTo>
                  <a:pt x="4585506" y="1625770"/>
                </a:lnTo>
                <a:lnTo>
                  <a:pt x="0" y="16257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641794">
            <a:off x="8923192" y="-178822"/>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905495" y="3197112"/>
            <a:ext cx="5316552" cy="4772017"/>
          </a:xfrm>
          <a:prstGeom prst="rect">
            <a:avLst/>
          </a:prstGeom>
        </p:spPr>
        <p:txBody>
          <a:bodyPr anchor="t" rtlCol="false" tIns="0" lIns="0" bIns="0" rIns="0">
            <a:spAutoFit/>
          </a:bodyPr>
          <a:lstStyle/>
          <a:p>
            <a:pPr algn="just">
              <a:lnSpc>
                <a:spcPts val="4199"/>
              </a:lnSpc>
              <a:spcBef>
                <a:spcPct val="0"/>
              </a:spcBef>
            </a:pPr>
            <a:r>
              <a:rPr lang="en-US" sz="2999">
                <a:solidFill>
                  <a:srgbClr val="000000"/>
                </a:solidFill>
                <a:latin typeface="Cabin"/>
                <a:ea typeface="Cabin"/>
                <a:cs typeface="Cabin"/>
                <a:sym typeface="Cabin"/>
              </a:rPr>
              <a:t>🔹</a:t>
            </a:r>
            <a:r>
              <a:rPr lang="en-US" b="true" sz="2999">
                <a:solidFill>
                  <a:srgbClr val="000000"/>
                </a:solidFill>
                <a:latin typeface="Cabin Bold"/>
                <a:ea typeface="Cabin Bold"/>
                <a:cs typeface="Cabin Bold"/>
                <a:sym typeface="Cabin Bold"/>
              </a:rPr>
              <a:t> Minimax</a:t>
            </a:r>
          </a:p>
          <a:p>
            <a:pPr algn="just" marL="647680" indent="-323840" lvl="1">
              <a:lnSpc>
                <a:spcPts val="4199"/>
              </a:lnSpc>
              <a:spcBef>
                <a:spcPct val="0"/>
              </a:spcBef>
              <a:buFont typeface="Arial"/>
              <a:buChar char="•"/>
            </a:pPr>
            <a:r>
              <a:rPr lang="en-US" b="true" sz="2999">
                <a:solidFill>
                  <a:srgbClr val="000000"/>
                </a:solidFill>
                <a:latin typeface="Cabin Bold"/>
                <a:ea typeface="Cabin Bold"/>
                <a:cs typeface="Cabin Bold"/>
                <a:sym typeface="Cabin Bold"/>
              </a:rPr>
              <a:t>G</a:t>
            </a:r>
            <a:r>
              <a:rPr lang="en-US" sz="2999">
                <a:solidFill>
                  <a:srgbClr val="000000"/>
                </a:solidFill>
                <a:latin typeface="Cabin"/>
                <a:ea typeface="Cabin"/>
                <a:cs typeface="Cabin"/>
                <a:sym typeface="Cabin"/>
              </a:rPr>
              <a:t>iả định đối thủ luôn chơi tối ưu.</a:t>
            </a:r>
          </a:p>
          <a:p>
            <a:pPr algn="just" marL="647680" indent="-323840" lvl="1">
              <a:lnSpc>
                <a:spcPts val="4199"/>
              </a:lnSpc>
              <a:spcBef>
                <a:spcPct val="0"/>
              </a:spcBef>
              <a:buFont typeface="Arial"/>
              <a:buChar char="•"/>
            </a:pPr>
            <a:r>
              <a:rPr lang="en-US" sz="2999">
                <a:solidFill>
                  <a:srgbClr val="000000"/>
                </a:solidFill>
                <a:latin typeface="Cabin"/>
                <a:ea typeface="Cabin"/>
                <a:cs typeface="Cabin"/>
                <a:sym typeface="Cabin"/>
              </a:rPr>
              <a:t>Hai loại nút: MAX (người chơi) và MIN (đối thủ).</a:t>
            </a:r>
          </a:p>
          <a:p>
            <a:pPr algn="just" marL="647680" indent="-323840" lvl="1">
              <a:lnSpc>
                <a:spcPts val="4199"/>
              </a:lnSpc>
              <a:spcBef>
                <a:spcPct val="0"/>
              </a:spcBef>
              <a:buFont typeface="Arial"/>
              <a:buChar char="•"/>
            </a:pPr>
            <a:r>
              <a:rPr lang="en-US" sz="2999">
                <a:solidFill>
                  <a:srgbClr val="000000"/>
                </a:solidFill>
                <a:latin typeface="Cabin"/>
                <a:ea typeface="Cabin"/>
                <a:cs typeface="Cabin"/>
                <a:sym typeface="Cabin"/>
              </a:rPr>
              <a:t>Duyệt toàn bộ cây trò chơi để chọn nước tốt nhất.</a:t>
            </a:r>
          </a:p>
          <a:p>
            <a:pPr algn="just" marL="647680" indent="-323840" lvl="1">
              <a:lnSpc>
                <a:spcPts val="4199"/>
              </a:lnSpc>
              <a:spcBef>
                <a:spcPct val="0"/>
              </a:spcBef>
              <a:buFont typeface="Arial"/>
              <a:buChar char="•"/>
            </a:pPr>
            <a:r>
              <a:rPr lang="en-US" sz="2999">
                <a:solidFill>
                  <a:srgbClr val="000000"/>
                </a:solidFill>
                <a:latin typeface="Cabin"/>
                <a:ea typeface="Cabin"/>
                <a:cs typeface="Cabin"/>
                <a:sym typeface="Cabin"/>
              </a:rPr>
              <a:t>Trả về: {move, value} với value ∈ {+1, 0, -1}.</a:t>
            </a:r>
          </a:p>
        </p:txBody>
      </p:sp>
      <p:sp>
        <p:nvSpPr>
          <p:cNvPr name="AutoShape 16" id="16"/>
          <p:cNvSpPr/>
          <p:nvPr/>
        </p:nvSpPr>
        <p:spPr>
          <a:xfrm flipH="true">
            <a:off x="6728284" y="2898766"/>
            <a:ext cx="0" cy="5790285"/>
          </a:xfrm>
          <a:prstGeom prst="line">
            <a:avLst/>
          </a:prstGeom>
          <a:ln cap="flat" w="38100">
            <a:solidFill>
              <a:srgbClr val="000000"/>
            </a:solidFill>
            <a:prstDash val="solid"/>
            <a:headEnd type="none" len="sm" w="sm"/>
            <a:tailEnd type="none" len="sm" w="sm"/>
          </a:ln>
        </p:spPr>
      </p:sp>
      <p:sp>
        <p:nvSpPr>
          <p:cNvPr name="TextBox 17" id="17"/>
          <p:cNvSpPr txBox="true"/>
          <p:nvPr/>
        </p:nvSpPr>
        <p:spPr>
          <a:xfrm rot="0">
            <a:off x="7208098" y="3096824"/>
            <a:ext cx="4376916" cy="5314168"/>
          </a:xfrm>
          <a:prstGeom prst="rect">
            <a:avLst/>
          </a:prstGeom>
        </p:spPr>
        <p:txBody>
          <a:bodyPr anchor="t" rtlCol="false" tIns="0" lIns="0" bIns="0" rIns="0">
            <a:spAutoFit/>
          </a:bodyPr>
          <a:lstStyle/>
          <a:p>
            <a:pPr algn="just">
              <a:lnSpc>
                <a:spcPts val="4243"/>
              </a:lnSpc>
              <a:spcBef>
                <a:spcPct val="0"/>
              </a:spcBef>
            </a:pPr>
            <a:r>
              <a:rPr lang="en-US" sz="3030">
                <a:solidFill>
                  <a:srgbClr val="000000"/>
                </a:solidFill>
                <a:latin typeface="Cabin"/>
                <a:ea typeface="Cabin"/>
                <a:cs typeface="Cabin"/>
                <a:sym typeface="Cabin"/>
              </a:rPr>
              <a:t>🔹</a:t>
            </a:r>
            <a:r>
              <a:rPr lang="en-US" b="true" sz="3030">
                <a:solidFill>
                  <a:srgbClr val="000000"/>
                </a:solidFill>
                <a:latin typeface="Cabin Bold"/>
                <a:ea typeface="Cabin Bold"/>
                <a:cs typeface="Cabin Bold"/>
                <a:sym typeface="Cabin Bold"/>
              </a:rPr>
              <a:t> Alpha-Beta Pruning</a:t>
            </a:r>
          </a:p>
          <a:p>
            <a:pPr algn="just" marL="654349" indent="-327174" lvl="1">
              <a:lnSpc>
                <a:spcPts val="4243"/>
              </a:lnSpc>
              <a:spcBef>
                <a:spcPct val="0"/>
              </a:spcBef>
              <a:buFont typeface="Arial"/>
              <a:buChar char="•"/>
            </a:pPr>
            <a:r>
              <a:rPr lang="en-US" sz="3030">
                <a:solidFill>
                  <a:srgbClr val="000000"/>
                </a:solidFill>
                <a:latin typeface="Cabin"/>
                <a:ea typeface="Cabin"/>
                <a:cs typeface="Cabin"/>
                <a:sym typeface="Cabin"/>
              </a:rPr>
              <a:t>T</a:t>
            </a:r>
            <a:r>
              <a:rPr lang="en-US" sz="3030">
                <a:solidFill>
                  <a:srgbClr val="000000"/>
                </a:solidFill>
                <a:latin typeface="Cabin"/>
                <a:ea typeface="Cabin"/>
                <a:cs typeface="Cabin"/>
                <a:sym typeface="Cabin"/>
              </a:rPr>
              <a:t>hêm ngưỡng α (tốt nhất của MAX) và β (tốt nhất của MIN).</a:t>
            </a:r>
          </a:p>
          <a:p>
            <a:pPr algn="just" marL="654349" indent="-327174" lvl="1">
              <a:lnSpc>
                <a:spcPts val="4243"/>
              </a:lnSpc>
              <a:spcBef>
                <a:spcPct val="0"/>
              </a:spcBef>
              <a:buFont typeface="Arial"/>
              <a:buChar char="•"/>
            </a:pPr>
            <a:r>
              <a:rPr lang="en-US" sz="3030">
                <a:solidFill>
                  <a:srgbClr val="000000"/>
                </a:solidFill>
                <a:latin typeface="Cabin"/>
                <a:ea typeface="Cabin"/>
                <a:cs typeface="Cabin"/>
                <a:sym typeface="Cabin"/>
              </a:rPr>
              <a:t>Cắt tỉa nhánh khi:</a:t>
            </a:r>
          </a:p>
          <a:p>
            <a:pPr algn="just">
              <a:lnSpc>
                <a:spcPts val="4243"/>
              </a:lnSpc>
              <a:spcBef>
                <a:spcPct val="0"/>
              </a:spcBef>
            </a:pPr>
            <a:r>
              <a:rPr lang="en-US" sz="3030">
                <a:solidFill>
                  <a:srgbClr val="000000"/>
                </a:solidFill>
                <a:latin typeface="Cabin"/>
                <a:ea typeface="Cabin"/>
                <a:cs typeface="Cabin"/>
                <a:sym typeface="Cabin"/>
              </a:rPr>
              <a:t>      - </a:t>
            </a:r>
            <a:r>
              <a:rPr lang="en-US" sz="3030">
                <a:solidFill>
                  <a:srgbClr val="000000"/>
                </a:solidFill>
                <a:latin typeface="Cabin"/>
                <a:ea typeface="Cabin"/>
                <a:cs typeface="Cabin"/>
                <a:sym typeface="Cabin"/>
              </a:rPr>
              <a:t>MAX: v ≥ β ⇒ dừng.</a:t>
            </a:r>
          </a:p>
          <a:p>
            <a:pPr algn="just">
              <a:lnSpc>
                <a:spcPts val="4243"/>
              </a:lnSpc>
              <a:spcBef>
                <a:spcPct val="0"/>
              </a:spcBef>
            </a:pPr>
            <a:r>
              <a:rPr lang="en-US" sz="3030">
                <a:solidFill>
                  <a:srgbClr val="000000"/>
                </a:solidFill>
                <a:latin typeface="Cabin"/>
                <a:ea typeface="Cabin"/>
                <a:cs typeface="Cabin"/>
                <a:sym typeface="Cabin"/>
              </a:rPr>
              <a:t>      - MIN: v ≤ α ⇒ dừng.</a:t>
            </a:r>
          </a:p>
          <a:p>
            <a:pPr algn="just" marL="654349" indent="-327174" lvl="1">
              <a:lnSpc>
                <a:spcPts val="4243"/>
              </a:lnSpc>
              <a:spcBef>
                <a:spcPct val="0"/>
              </a:spcBef>
              <a:buFont typeface="Arial"/>
              <a:buChar char="•"/>
            </a:pPr>
            <a:r>
              <a:rPr lang="en-US" sz="3030">
                <a:solidFill>
                  <a:srgbClr val="000000"/>
                </a:solidFill>
                <a:latin typeface="Cabin"/>
                <a:ea typeface="Cabin"/>
                <a:cs typeface="Cabin"/>
                <a:sym typeface="Cabin"/>
              </a:rPr>
              <a:t>Kết quả: cùng kết quả như Minimax nhưng nhanh hơn rất nhiều.</a:t>
            </a:r>
          </a:p>
        </p:txBody>
      </p:sp>
      <p:sp>
        <p:nvSpPr>
          <p:cNvPr name="AutoShape 18" id="18"/>
          <p:cNvSpPr/>
          <p:nvPr/>
        </p:nvSpPr>
        <p:spPr>
          <a:xfrm>
            <a:off x="12064828" y="2920136"/>
            <a:ext cx="0" cy="5748515"/>
          </a:xfrm>
          <a:prstGeom prst="line">
            <a:avLst/>
          </a:prstGeom>
          <a:ln cap="flat" w="38100">
            <a:solidFill>
              <a:srgbClr val="000000"/>
            </a:solidFill>
            <a:prstDash val="solid"/>
            <a:headEnd type="none" len="sm" w="sm"/>
            <a:tailEnd type="none" len="sm" w="sm"/>
          </a:ln>
        </p:spPr>
      </p:sp>
      <p:sp>
        <p:nvSpPr>
          <p:cNvPr name="TextBox 19" id="19"/>
          <p:cNvSpPr txBox="true"/>
          <p:nvPr/>
        </p:nvSpPr>
        <p:spPr>
          <a:xfrm rot="0">
            <a:off x="12358855" y="3115331"/>
            <a:ext cx="4784593" cy="4334061"/>
          </a:xfrm>
          <a:prstGeom prst="rect">
            <a:avLst/>
          </a:prstGeom>
        </p:spPr>
        <p:txBody>
          <a:bodyPr anchor="t" rtlCol="false" tIns="0" lIns="0" bIns="0" rIns="0">
            <a:spAutoFit/>
          </a:bodyPr>
          <a:lstStyle/>
          <a:p>
            <a:pPr algn="just">
              <a:lnSpc>
                <a:spcPts val="4294"/>
              </a:lnSpc>
              <a:spcBef>
                <a:spcPct val="0"/>
              </a:spcBef>
            </a:pPr>
            <a:r>
              <a:rPr lang="en-US" b="true" sz="3067">
                <a:solidFill>
                  <a:srgbClr val="000000"/>
                </a:solidFill>
                <a:latin typeface="Cabin Bold"/>
                <a:ea typeface="Cabin Bold"/>
                <a:cs typeface="Cabin Bold"/>
                <a:sym typeface="Cabin Bold"/>
              </a:rPr>
              <a:t>🔹 Move Ordering</a:t>
            </a:r>
          </a:p>
          <a:p>
            <a:pPr algn="just" marL="662296" indent="-331148" lvl="1">
              <a:lnSpc>
                <a:spcPts val="4294"/>
              </a:lnSpc>
              <a:spcBef>
                <a:spcPct val="0"/>
              </a:spcBef>
              <a:buFont typeface="Arial"/>
              <a:buChar char="•"/>
            </a:pPr>
            <a:r>
              <a:rPr lang="en-US" b="true" sz="3067">
                <a:solidFill>
                  <a:srgbClr val="000000"/>
                </a:solidFill>
                <a:latin typeface="Cabin Bold"/>
                <a:ea typeface="Cabin Bold"/>
                <a:cs typeface="Cabin Bold"/>
                <a:sym typeface="Cabin Bold"/>
              </a:rPr>
              <a:t>S</a:t>
            </a:r>
            <a:r>
              <a:rPr lang="en-US" sz="3067">
                <a:solidFill>
                  <a:srgbClr val="000000"/>
                </a:solidFill>
                <a:latin typeface="Cabin"/>
                <a:ea typeface="Cabin"/>
                <a:cs typeface="Cabin"/>
                <a:sym typeface="Cabin"/>
              </a:rPr>
              <a:t>ắp xếp nước đi giúp tăng hiệu quả cắt tỉa:</a:t>
            </a:r>
          </a:p>
          <a:p>
            <a:pPr algn="just">
              <a:lnSpc>
                <a:spcPts val="4294"/>
              </a:lnSpc>
              <a:spcBef>
                <a:spcPct val="0"/>
              </a:spcBef>
            </a:pPr>
            <a:r>
              <a:rPr lang="en-US" sz="3067">
                <a:solidFill>
                  <a:srgbClr val="000000"/>
                </a:solidFill>
                <a:latin typeface="Cabin"/>
                <a:ea typeface="Cabin"/>
                <a:cs typeface="Cabin"/>
                <a:sym typeface="Cabin"/>
              </a:rPr>
              <a:t>1) </a:t>
            </a:r>
            <a:r>
              <a:rPr lang="en-US" sz="3067">
                <a:solidFill>
                  <a:srgbClr val="000000"/>
                </a:solidFill>
                <a:latin typeface="Cabin"/>
                <a:ea typeface="Cabin"/>
                <a:cs typeface="Cabin"/>
                <a:sym typeface="Cabin"/>
              </a:rPr>
              <a:t>Trung tâm (4)</a:t>
            </a:r>
          </a:p>
          <a:p>
            <a:pPr algn="just">
              <a:lnSpc>
                <a:spcPts val="4294"/>
              </a:lnSpc>
              <a:spcBef>
                <a:spcPct val="0"/>
              </a:spcBef>
            </a:pPr>
            <a:r>
              <a:rPr lang="en-US" sz="3067">
                <a:solidFill>
                  <a:srgbClr val="000000"/>
                </a:solidFill>
                <a:latin typeface="Cabin"/>
                <a:ea typeface="Cabin"/>
                <a:cs typeface="Cabin"/>
                <a:sym typeface="Cabin"/>
              </a:rPr>
              <a:t>2) </a:t>
            </a:r>
            <a:r>
              <a:rPr lang="en-US" sz="3067">
                <a:solidFill>
                  <a:srgbClr val="000000"/>
                </a:solidFill>
                <a:latin typeface="Cabin"/>
                <a:ea typeface="Cabin"/>
                <a:cs typeface="Cabin"/>
                <a:sym typeface="Cabin"/>
              </a:rPr>
              <a:t>Các góc (0, 2, 6, 8)</a:t>
            </a:r>
          </a:p>
          <a:p>
            <a:pPr algn="just">
              <a:lnSpc>
                <a:spcPts val="4294"/>
              </a:lnSpc>
              <a:spcBef>
                <a:spcPct val="0"/>
              </a:spcBef>
            </a:pPr>
            <a:r>
              <a:rPr lang="en-US" sz="3067">
                <a:solidFill>
                  <a:srgbClr val="000000"/>
                </a:solidFill>
                <a:latin typeface="Cabin"/>
                <a:ea typeface="Cabin"/>
                <a:cs typeface="Cabin"/>
                <a:sym typeface="Cabin"/>
              </a:rPr>
              <a:t>3) Cạnh (1, 3, 5, 7)</a:t>
            </a:r>
          </a:p>
          <a:p>
            <a:pPr algn="just" marL="662296" indent="-331148" lvl="1">
              <a:lnSpc>
                <a:spcPts val="4294"/>
              </a:lnSpc>
              <a:spcBef>
                <a:spcPct val="0"/>
              </a:spcBef>
              <a:buFont typeface="Arial"/>
              <a:buChar char="•"/>
            </a:pPr>
            <a:r>
              <a:rPr lang="en-US" sz="3067">
                <a:solidFill>
                  <a:srgbClr val="000000"/>
                </a:solidFill>
                <a:latin typeface="Cabin"/>
                <a:ea typeface="Cabin"/>
                <a:cs typeface="Cabin"/>
                <a:sym typeface="Cabin"/>
              </a:rPr>
              <a:t>Giảm hơn 50% số node duyệt.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8297" y="158885"/>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89663" y="8797919"/>
            <a:ext cx="7147788" cy="1728465"/>
          </a:xfrm>
          <a:custGeom>
            <a:avLst/>
            <a:gdLst/>
            <a:ahLst/>
            <a:cxnLst/>
            <a:rect r="r" b="b" t="t" l="l"/>
            <a:pathLst>
              <a:path h="1728465" w="7147788">
                <a:moveTo>
                  <a:pt x="0" y="0"/>
                </a:moveTo>
                <a:lnTo>
                  <a:pt x="7147788" y="0"/>
                </a:lnTo>
                <a:lnTo>
                  <a:pt x="7147788" y="1728465"/>
                </a:lnTo>
                <a:lnTo>
                  <a:pt x="0" y="17284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887143"/>
            <a:ext cx="15511102" cy="2578721"/>
          </a:xfrm>
          <a:custGeom>
            <a:avLst/>
            <a:gdLst/>
            <a:ahLst/>
            <a:cxnLst/>
            <a:rect r="r" b="b" t="t" l="l"/>
            <a:pathLst>
              <a:path h="2578721" w="15511102">
                <a:moveTo>
                  <a:pt x="0" y="0"/>
                </a:moveTo>
                <a:lnTo>
                  <a:pt x="15511102" y="0"/>
                </a:lnTo>
                <a:lnTo>
                  <a:pt x="15511102" y="2578721"/>
                </a:lnTo>
                <a:lnTo>
                  <a:pt x="0" y="2578721"/>
                </a:lnTo>
                <a:lnTo>
                  <a:pt x="0" y="0"/>
                </a:lnTo>
                <a:close/>
              </a:path>
            </a:pathLst>
          </a:custGeom>
          <a:blipFill>
            <a:blip r:embed="rId6"/>
            <a:stretch>
              <a:fillRect l="0" t="0" r="0" b="0"/>
            </a:stretch>
          </a:blipFill>
        </p:spPr>
      </p:sp>
      <p:sp>
        <p:nvSpPr>
          <p:cNvPr name="TextBox 5" id="5"/>
          <p:cNvSpPr txBox="true"/>
          <p:nvPr/>
        </p:nvSpPr>
        <p:spPr>
          <a:xfrm rot="0">
            <a:off x="547469" y="1465523"/>
            <a:ext cx="3062089" cy="827407"/>
          </a:xfrm>
          <a:prstGeom prst="rect">
            <a:avLst/>
          </a:prstGeom>
        </p:spPr>
        <p:txBody>
          <a:bodyPr anchor="t" rtlCol="false" tIns="0" lIns="0" bIns="0" rIns="0">
            <a:spAutoFit/>
          </a:bodyPr>
          <a:lstStyle/>
          <a:p>
            <a:pPr algn="ctr">
              <a:lnSpc>
                <a:spcPts val="6894"/>
              </a:lnSpc>
              <a:spcBef>
                <a:spcPct val="0"/>
              </a:spcBef>
            </a:pPr>
            <a:r>
              <a:rPr lang="en-US" b="true" sz="4924">
                <a:solidFill>
                  <a:srgbClr val="000000"/>
                </a:solidFill>
                <a:latin typeface="Cabin Bold"/>
                <a:ea typeface="Cabin Bold"/>
                <a:cs typeface="Cabin Bold"/>
                <a:sym typeface="Cabin Bold"/>
              </a:rPr>
              <a:t>🔹 Kết quả</a:t>
            </a:r>
          </a:p>
        </p:txBody>
      </p:sp>
      <p:sp>
        <p:nvSpPr>
          <p:cNvPr name="TextBox 6" id="6"/>
          <p:cNvSpPr txBox="true"/>
          <p:nvPr/>
        </p:nvSpPr>
        <p:spPr>
          <a:xfrm rot="0">
            <a:off x="154601" y="6350011"/>
            <a:ext cx="17259300" cy="712537"/>
          </a:xfrm>
          <a:prstGeom prst="rect">
            <a:avLst/>
          </a:prstGeom>
        </p:spPr>
        <p:txBody>
          <a:bodyPr anchor="t" rtlCol="false" tIns="0" lIns="0" bIns="0" rIns="0">
            <a:spAutoFit/>
          </a:bodyPr>
          <a:lstStyle/>
          <a:p>
            <a:pPr algn="ctr">
              <a:lnSpc>
                <a:spcPts val="5876"/>
              </a:lnSpc>
              <a:spcBef>
                <a:spcPct val="0"/>
              </a:spcBef>
            </a:pPr>
            <a:r>
              <a:rPr lang="en-US" b="true" sz="4197">
                <a:solidFill>
                  <a:srgbClr val="000000"/>
                </a:solidFill>
                <a:latin typeface="Cabin Bold"/>
                <a:ea typeface="Cabin Bold"/>
                <a:cs typeface="Cabin Bold"/>
                <a:sym typeface="Cabin Bold"/>
              </a:rPr>
              <a:t>➡ Không bao giờ thua, hiệu quả vượt trội so với Minimax.</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144000" y="3556502"/>
            <a:ext cx="8115300" cy="5777998"/>
            <a:chOff x="0" y="0"/>
            <a:chExt cx="2960483" cy="2107829"/>
          </a:xfrm>
        </p:grpSpPr>
        <p:sp>
          <p:nvSpPr>
            <p:cNvPr name="Freeform 4" id="4"/>
            <p:cNvSpPr/>
            <p:nvPr/>
          </p:nvSpPr>
          <p:spPr>
            <a:xfrm flipH="false" flipV="false" rot="0">
              <a:off x="0" y="0"/>
              <a:ext cx="2960483" cy="2107829"/>
            </a:xfrm>
            <a:custGeom>
              <a:avLst/>
              <a:gdLst/>
              <a:ahLst/>
              <a:cxnLst/>
              <a:rect r="r" b="b" t="t" l="l"/>
              <a:pathLst>
                <a:path h="2107829" w="2960483">
                  <a:moveTo>
                    <a:pt x="0" y="0"/>
                  </a:moveTo>
                  <a:lnTo>
                    <a:pt x="2960483" y="0"/>
                  </a:lnTo>
                  <a:lnTo>
                    <a:pt x="2960483" y="2107829"/>
                  </a:lnTo>
                  <a:lnTo>
                    <a:pt x="0" y="2107829"/>
                  </a:lnTo>
                  <a:close/>
                </a:path>
              </a:pathLst>
            </a:custGeom>
            <a:solidFill>
              <a:srgbClr val="FFFFFF"/>
            </a:solidFill>
          </p:spPr>
        </p:sp>
      </p:grpSp>
      <p:grpSp>
        <p:nvGrpSpPr>
          <p:cNvPr name="Group 5" id="5"/>
          <p:cNvGrpSpPr/>
          <p:nvPr/>
        </p:nvGrpSpPr>
        <p:grpSpPr>
          <a:xfrm rot="0">
            <a:off x="905495" y="3556502"/>
            <a:ext cx="7484193" cy="5777998"/>
            <a:chOff x="0" y="0"/>
            <a:chExt cx="2730254" cy="2107829"/>
          </a:xfrm>
        </p:grpSpPr>
        <p:sp>
          <p:nvSpPr>
            <p:cNvPr name="Freeform 6" id="6"/>
            <p:cNvSpPr/>
            <p:nvPr/>
          </p:nvSpPr>
          <p:spPr>
            <a:xfrm flipH="false" flipV="false" rot="0">
              <a:off x="0" y="0"/>
              <a:ext cx="2730254" cy="2107829"/>
            </a:xfrm>
            <a:custGeom>
              <a:avLst/>
              <a:gdLst/>
              <a:ahLst/>
              <a:cxnLst/>
              <a:rect r="r" b="b" t="t" l="l"/>
              <a:pathLst>
                <a:path h="2107829" w="2730254">
                  <a:moveTo>
                    <a:pt x="0" y="0"/>
                  </a:moveTo>
                  <a:lnTo>
                    <a:pt x="2730254" y="0"/>
                  </a:lnTo>
                  <a:lnTo>
                    <a:pt x="2730254" y="2107829"/>
                  </a:lnTo>
                  <a:lnTo>
                    <a:pt x="0" y="2107829"/>
                  </a:lnTo>
                  <a:close/>
                </a:path>
              </a:pathLst>
            </a:custGeom>
            <a:solidFill>
              <a:srgbClr val="FFFFFF"/>
            </a:solidFill>
          </p:spPr>
        </p:sp>
      </p:grpSp>
      <p:grpSp>
        <p:nvGrpSpPr>
          <p:cNvPr name="Group 7" id="7"/>
          <p:cNvGrpSpPr/>
          <p:nvPr/>
        </p:nvGrpSpPr>
        <p:grpSpPr>
          <a:xfrm rot="0">
            <a:off x="905495" y="973442"/>
            <a:ext cx="16425212" cy="1919447"/>
            <a:chOff x="0" y="0"/>
            <a:chExt cx="5991962" cy="700220"/>
          </a:xfrm>
        </p:grpSpPr>
        <p:sp>
          <p:nvSpPr>
            <p:cNvPr name="Freeform 8" id="8"/>
            <p:cNvSpPr/>
            <p:nvPr/>
          </p:nvSpPr>
          <p:spPr>
            <a:xfrm flipH="false" flipV="false" rot="0">
              <a:off x="0" y="0"/>
              <a:ext cx="5991962" cy="700219"/>
            </a:xfrm>
            <a:custGeom>
              <a:avLst/>
              <a:gdLst/>
              <a:ahLst/>
              <a:cxnLst/>
              <a:rect r="r" b="b" t="t" l="l"/>
              <a:pathLst>
                <a:path h="700219" w="5991962">
                  <a:moveTo>
                    <a:pt x="0" y="0"/>
                  </a:moveTo>
                  <a:lnTo>
                    <a:pt x="5991962" y="0"/>
                  </a:lnTo>
                  <a:lnTo>
                    <a:pt x="5991962" y="700219"/>
                  </a:lnTo>
                  <a:lnTo>
                    <a:pt x="0" y="700219"/>
                  </a:lnTo>
                  <a:close/>
                </a:path>
              </a:pathLst>
            </a:custGeom>
            <a:solidFill>
              <a:srgbClr val="FFFFFF"/>
            </a:solidFill>
          </p:spPr>
        </p:sp>
      </p:grpSp>
      <p:sp>
        <p:nvSpPr>
          <p:cNvPr name="TextBox 9" id="9"/>
          <p:cNvSpPr txBox="true"/>
          <p:nvPr/>
        </p:nvSpPr>
        <p:spPr>
          <a:xfrm rot="0">
            <a:off x="-900071" y="1399765"/>
            <a:ext cx="20088143" cy="1066800"/>
          </a:xfrm>
          <a:prstGeom prst="rect">
            <a:avLst/>
          </a:prstGeom>
        </p:spPr>
        <p:txBody>
          <a:bodyPr anchor="t" rtlCol="false" tIns="0" lIns="0" bIns="0" rIns="0">
            <a:spAutoFit/>
          </a:bodyPr>
          <a:lstStyle/>
          <a:p>
            <a:pPr algn="ctr">
              <a:lnSpc>
                <a:spcPts val="8400"/>
              </a:lnSpc>
            </a:pPr>
            <a:r>
              <a:rPr lang="en-US" b="true" sz="7000">
                <a:solidFill>
                  <a:srgbClr val="003EA8"/>
                </a:solidFill>
                <a:latin typeface="Muli Bold"/>
                <a:ea typeface="Muli Bold"/>
                <a:cs typeface="Muli Bold"/>
                <a:sym typeface="Muli Bold"/>
              </a:rPr>
              <a:t>5. Heur</a:t>
            </a:r>
            <a:r>
              <a:rPr lang="en-US" b="true" sz="7000">
                <a:solidFill>
                  <a:srgbClr val="003EA8"/>
                </a:solidFill>
                <a:latin typeface="Muli Bold"/>
                <a:ea typeface="Muli Bold"/>
                <a:cs typeface="Muli Bold"/>
                <a:sym typeface="Muli Bold"/>
              </a:rPr>
              <a:t>istic Alpha-Beta Tree Search</a:t>
            </a:r>
          </a:p>
        </p:txBody>
      </p:sp>
      <p:sp>
        <p:nvSpPr>
          <p:cNvPr name="Freeform 10" id="10"/>
          <p:cNvSpPr/>
          <p:nvPr/>
        </p:nvSpPr>
        <p:spPr>
          <a:xfrm flipH="false" flipV="false" rot="0">
            <a:off x="-559642" y="0"/>
            <a:ext cx="3927179" cy="1392364"/>
          </a:xfrm>
          <a:custGeom>
            <a:avLst/>
            <a:gdLst/>
            <a:ahLst/>
            <a:cxnLst/>
            <a:rect r="r" b="b" t="t" l="l"/>
            <a:pathLst>
              <a:path h="1392364" w="3927179">
                <a:moveTo>
                  <a:pt x="0" y="0"/>
                </a:moveTo>
                <a:lnTo>
                  <a:pt x="3927180" y="0"/>
                </a:lnTo>
                <a:lnTo>
                  <a:pt x="3927180" y="1392364"/>
                </a:lnTo>
                <a:lnTo>
                  <a:pt x="0" y="1392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4826857" y="8505307"/>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1306185" y="4038722"/>
            <a:ext cx="6682815" cy="3496975"/>
          </a:xfrm>
          <a:prstGeom prst="rect">
            <a:avLst/>
          </a:prstGeom>
        </p:spPr>
        <p:txBody>
          <a:bodyPr anchor="t" rtlCol="false" tIns="0" lIns="0" bIns="0" rIns="0">
            <a:spAutoFit/>
          </a:bodyPr>
          <a:lstStyle/>
          <a:p>
            <a:pPr algn="just">
              <a:lnSpc>
                <a:spcPts val="5603"/>
              </a:lnSpc>
              <a:spcBef>
                <a:spcPct val="0"/>
              </a:spcBef>
            </a:pPr>
            <a:r>
              <a:rPr lang="en-US" b="true" sz="4002">
                <a:solidFill>
                  <a:srgbClr val="000000"/>
                </a:solidFill>
                <a:latin typeface="Cabin Bold"/>
                <a:ea typeface="Cabin Bold"/>
                <a:cs typeface="Cabin Bold"/>
                <a:sym typeface="Cabin Bold"/>
              </a:rPr>
              <a:t>🔹 Ý tưởng</a:t>
            </a:r>
          </a:p>
          <a:p>
            <a:pPr algn="just" marL="864211" indent="-432106" lvl="1">
              <a:lnSpc>
                <a:spcPts val="5603"/>
              </a:lnSpc>
              <a:spcBef>
                <a:spcPct val="0"/>
              </a:spcBef>
              <a:buFont typeface="Arial"/>
              <a:buChar char="•"/>
            </a:pPr>
            <a:r>
              <a:rPr lang="en-US" sz="4002">
                <a:solidFill>
                  <a:srgbClr val="000000"/>
                </a:solidFill>
                <a:latin typeface="Cabin"/>
                <a:ea typeface="Cabin"/>
                <a:cs typeface="Cabin"/>
                <a:sym typeface="Cabin"/>
              </a:rPr>
              <a:t>Giới hạn độ sâu (cutoff) để tăng tốc.</a:t>
            </a:r>
          </a:p>
          <a:p>
            <a:pPr algn="just" marL="864211" indent="-432106" lvl="1">
              <a:lnSpc>
                <a:spcPts val="5603"/>
              </a:lnSpc>
              <a:spcBef>
                <a:spcPct val="0"/>
              </a:spcBef>
              <a:buFont typeface="Arial"/>
              <a:buChar char="•"/>
            </a:pPr>
            <a:r>
              <a:rPr lang="en-US" sz="4002">
                <a:solidFill>
                  <a:srgbClr val="000000"/>
                </a:solidFill>
                <a:latin typeface="Cabin"/>
                <a:ea typeface="Cabin"/>
                <a:cs typeface="Cabin"/>
                <a:sym typeface="Cabin"/>
              </a:rPr>
              <a:t>Dùng hàm heuristic để ước lượng giá trị trạng thái.</a:t>
            </a:r>
          </a:p>
        </p:txBody>
      </p:sp>
      <p:sp>
        <p:nvSpPr>
          <p:cNvPr name="TextBox 13" id="13"/>
          <p:cNvSpPr txBox="true"/>
          <p:nvPr/>
        </p:nvSpPr>
        <p:spPr>
          <a:xfrm rot="0">
            <a:off x="9707612" y="4076151"/>
            <a:ext cx="6706109" cy="3459546"/>
          </a:xfrm>
          <a:prstGeom prst="rect">
            <a:avLst/>
          </a:prstGeom>
        </p:spPr>
        <p:txBody>
          <a:bodyPr anchor="t" rtlCol="false" tIns="0" lIns="0" bIns="0" rIns="0">
            <a:spAutoFit/>
          </a:bodyPr>
          <a:lstStyle/>
          <a:p>
            <a:pPr algn="just">
              <a:lnSpc>
                <a:spcPts val="5542"/>
              </a:lnSpc>
              <a:spcBef>
                <a:spcPct val="0"/>
              </a:spcBef>
            </a:pPr>
            <a:r>
              <a:rPr lang="en-US" sz="3959">
                <a:solidFill>
                  <a:srgbClr val="000000"/>
                </a:solidFill>
                <a:latin typeface="Cabin"/>
                <a:ea typeface="Cabin"/>
                <a:cs typeface="Cabin"/>
                <a:sym typeface="Cabin"/>
              </a:rPr>
              <a:t>🔹</a:t>
            </a:r>
            <a:r>
              <a:rPr lang="en-US" b="true" sz="3959">
                <a:solidFill>
                  <a:srgbClr val="000000"/>
                </a:solidFill>
                <a:latin typeface="Cabin Bold"/>
                <a:ea typeface="Cabin Bold"/>
                <a:cs typeface="Cabin Bold"/>
                <a:sym typeface="Cabin Bold"/>
              </a:rPr>
              <a:t> Hàm đánh giá (eval_fun)</a:t>
            </a:r>
          </a:p>
          <a:p>
            <a:pPr algn="just" marL="854755" indent="-427378" lvl="1">
              <a:lnSpc>
                <a:spcPts val="5542"/>
              </a:lnSpc>
              <a:spcBef>
                <a:spcPct val="0"/>
              </a:spcBef>
              <a:buFont typeface="Arial"/>
              <a:buChar char="•"/>
            </a:pPr>
            <a:r>
              <a:rPr lang="en-US" sz="3959">
                <a:solidFill>
                  <a:srgbClr val="000000"/>
                </a:solidFill>
                <a:latin typeface="Cabin"/>
                <a:ea typeface="Cabin"/>
                <a:cs typeface="Cabin"/>
                <a:sym typeface="Cabin"/>
              </a:rPr>
              <a:t>N</a:t>
            </a:r>
            <a:r>
              <a:rPr lang="en-US" sz="3959">
                <a:solidFill>
                  <a:srgbClr val="000000"/>
                </a:solidFill>
                <a:latin typeface="Cabin"/>
                <a:ea typeface="Cabin"/>
                <a:cs typeface="Cabin"/>
                <a:sym typeface="Cabin"/>
              </a:rPr>
              <a:t>ếu sắp thắng → +0.4</a:t>
            </a:r>
          </a:p>
          <a:p>
            <a:pPr algn="just" marL="854755" indent="-427378" lvl="1">
              <a:lnSpc>
                <a:spcPts val="5542"/>
              </a:lnSpc>
              <a:spcBef>
                <a:spcPct val="0"/>
              </a:spcBef>
              <a:buFont typeface="Arial"/>
              <a:buChar char="•"/>
            </a:pPr>
            <a:r>
              <a:rPr lang="en-US" sz="3959">
                <a:solidFill>
                  <a:srgbClr val="000000"/>
                </a:solidFill>
                <a:latin typeface="Cabin"/>
                <a:ea typeface="Cabin"/>
                <a:cs typeface="Cabin"/>
                <a:sym typeface="Cabin"/>
              </a:rPr>
              <a:t>Nếu sắp thua → -0.4</a:t>
            </a:r>
          </a:p>
          <a:p>
            <a:pPr algn="just" marL="854755" indent="-427378" lvl="1">
              <a:lnSpc>
                <a:spcPts val="5542"/>
              </a:lnSpc>
              <a:spcBef>
                <a:spcPct val="0"/>
              </a:spcBef>
              <a:buFont typeface="Arial"/>
              <a:buChar char="•"/>
            </a:pPr>
            <a:r>
              <a:rPr lang="en-US" sz="3959">
                <a:solidFill>
                  <a:srgbClr val="000000"/>
                </a:solidFill>
                <a:latin typeface="Cabin"/>
                <a:ea typeface="Cabin"/>
                <a:cs typeface="Cabin"/>
                <a:sym typeface="Cabin"/>
              </a:rPr>
              <a:t>Dựa vào hàng/cột/chéo có 2 quân + 1 ô trống.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false" flipV="false" rot="0">
            <a:off x="-559642" y="0"/>
            <a:ext cx="3927179" cy="1392364"/>
          </a:xfrm>
          <a:custGeom>
            <a:avLst/>
            <a:gdLst/>
            <a:ahLst/>
            <a:cxnLst/>
            <a:rect r="r" b="b" t="t" l="l"/>
            <a:pathLst>
              <a:path h="1392364" w="3927179">
                <a:moveTo>
                  <a:pt x="0" y="0"/>
                </a:moveTo>
                <a:lnTo>
                  <a:pt x="3927180" y="0"/>
                </a:lnTo>
                <a:lnTo>
                  <a:pt x="3927180" y="1392364"/>
                </a:lnTo>
                <a:lnTo>
                  <a:pt x="0" y="13923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826857" y="8505307"/>
            <a:ext cx="3927179" cy="1392364"/>
          </a:xfrm>
          <a:custGeom>
            <a:avLst/>
            <a:gdLst/>
            <a:ahLst/>
            <a:cxnLst/>
            <a:rect r="r" b="b" t="t" l="l"/>
            <a:pathLst>
              <a:path h="1392364" w="3927179">
                <a:moveTo>
                  <a:pt x="0" y="0"/>
                </a:moveTo>
                <a:lnTo>
                  <a:pt x="3927179" y="0"/>
                </a:lnTo>
                <a:lnTo>
                  <a:pt x="3927179" y="1392363"/>
                </a:lnTo>
                <a:lnTo>
                  <a:pt x="0" y="13923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46079" y="2212344"/>
            <a:ext cx="14795842" cy="3772940"/>
          </a:xfrm>
          <a:custGeom>
            <a:avLst/>
            <a:gdLst/>
            <a:ahLst/>
            <a:cxnLst/>
            <a:rect r="r" b="b" t="t" l="l"/>
            <a:pathLst>
              <a:path h="3772940" w="14795842">
                <a:moveTo>
                  <a:pt x="0" y="0"/>
                </a:moveTo>
                <a:lnTo>
                  <a:pt x="14795842" y="0"/>
                </a:lnTo>
                <a:lnTo>
                  <a:pt x="14795842" y="3772940"/>
                </a:lnTo>
                <a:lnTo>
                  <a:pt x="0" y="3772940"/>
                </a:lnTo>
                <a:lnTo>
                  <a:pt x="0" y="0"/>
                </a:lnTo>
                <a:close/>
              </a:path>
            </a:pathLst>
          </a:custGeom>
          <a:blipFill>
            <a:blip r:embed="rId5"/>
            <a:stretch>
              <a:fillRect l="0" t="0" r="0" b="0"/>
            </a:stretch>
          </a:blipFill>
        </p:spPr>
      </p:sp>
      <p:sp>
        <p:nvSpPr>
          <p:cNvPr name="TextBox 6" id="6"/>
          <p:cNvSpPr txBox="true"/>
          <p:nvPr/>
        </p:nvSpPr>
        <p:spPr>
          <a:xfrm rot="0">
            <a:off x="2338900" y="1179412"/>
            <a:ext cx="5583138" cy="827407"/>
          </a:xfrm>
          <a:prstGeom prst="rect">
            <a:avLst/>
          </a:prstGeom>
        </p:spPr>
        <p:txBody>
          <a:bodyPr anchor="t" rtlCol="false" tIns="0" lIns="0" bIns="0" rIns="0">
            <a:spAutoFit/>
          </a:bodyPr>
          <a:lstStyle/>
          <a:p>
            <a:pPr algn="ctr">
              <a:lnSpc>
                <a:spcPts val="6894"/>
              </a:lnSpc>
              <a:spcBef>
                <a:spcPct val="0"/>
              </a:spcBef>
            </a:pPr>
            <a:r>
              <a:rPr lang="en-US" b="true" sz="4924">
                <a:solidFill>
                  <a:srgbClr val="000000"/>
                </a:solidFill>
                <a:latin typeface="Cabin Bold"/>
                <a:ea typeface="Cabin Bold"/>
                <a:cs typeface="Cabin Bold"/>
                <a:sym typeface="Cabin Bold"/>
              </a:rPr>
              <a:t>🔹 So sánh hiệu quả</a:t>
            </a:r>
          </a:p>
        </p:txBody>
      </p:sp>
      <p:sp>
        <p:nvSpPr>
          <p:cNvPr name="TextBox 7" id="7"/>
          <p:cNvSpPr txBox="true"/>
          <p:nvPr/>
        </p:nvSpPr>
        <p:spPr>
          <a:xfrm rot="0">
            <a:off x="0" y="6729065"/>
            <a:ext cx="18288000" cy="2143046"/>
          </a:xfrm>
          <a:prstGeom prst="rect">
            <a:avLst/>
          </a:prstGeom>
        </p:spPr>
        <p:txBody>
          <a:bodyPr anchor="t" rtlCol="false" tIns="0" lIns="0" bIns="0" rIns="0">
            <a:spAutoFit/>
          </a:bodyPr>
          <a:lstStyle/>
          <a:p>
            <a:pPr algn="just">
              <a:lnSpc>
                <a:spcPts val="5757"/>
              </a:lnSpc>
              <a:spcBef>
                <a:spcPct val="0"/>
              </a:spcBef>
            </a:pPr>
            <a:r>
              <a:rPr lang="en-US" b="true" sz="4112">
                <a:solidFill>
                  <a:srgbClr val="000000"/>
                </a:solidFill>
                <a:latin typeface="Cabin Bold"/>
                <a:ea typeface="Cabin Bold"/>
                <a:cs typeface="Cabin Bold"/>
                <a:sym typeface="Cabin Bold"/>
              </a:rPr>
              <a:t>🔹 Đối đầu</a:t>
            </a:r>
          </a:p>
          <a:p>
            <a:pPr algn="just" marL="887859" indent="-443929" lvl="1">
              <a:lnSpc>
                <a:spcPts val="5757"/>
              </a:lnSpc>
              <a:spcBef>
                <a:spcPct val="0"/>
              </a:spcBef>
              <a:buFont typeface="Arial"/>
              <a:buChar char="•"/>
            </a:pPr>
            <a:r>
              <a:rPr lang="en-US" sz="4112">
                <a:solidFill>
                  <a:srgbClr val="000000"/>
                </a:solidFill>
                <a:latin typeface="Cabin"/>
                <a:ea typeface="Cabin"/>
                <a:cs typeface="Cabin"/>
                <a:sym typeface="Cabin"/>
              </a:rPr>
              <a:t>heuristic4_player ≈ ngang alpha_beta_player nhưng nhanh hơn hàng trăm lần.</a:t>
            </a:r>
          </a:p>
          <a:p>
            <a:pPr algn="just" marL="887859" indent="-443929" lvl="1">
              <a:lnSpc>
                <a:spcPts val="5757"/>
              </a:lnSpc>
              <a:spcBef>
                <a:spcPct val="0"/>
              </a:spcBef>
              <a:buFont typeface="Arial"/>
              <a:buChar char="•"/>
            </a:pPr>
            <a:r>
              <a:rPr lang="en-US" sz="4112">
                <a:solidFill>
                  <a:srgbClr val="000000"/>
                </a:solidFill>
                <a:latin typeface="Cabin"/>
                <a:ea typeface="Cabin"/>
                <a:cs typeface="Cabin"/>
                <a:sym typeface="Cabin"/>
              </a:rPr>
              <a:t>Thích hợp cho game lớn.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0" y="3263264"/>
            <a:ext cx="7335032" cy="4371686"/>
            <a:chOff x="0" y="0"/>
            <a:chExt cx="2675839" cy="1594803"/>
          </a:xfrm>
        </p:grpSpPr>
        <p:sp>
          <p:nvSpPr>
            <p:cNvPr name="Freeform 4" id="4"/>
            <p:cNvSpPr/>
            <p:nvPr/>
          </p:nvSpPr>
          <p:spPr>
            <a:xfrm flipH="false" flipV="false" rot="0">
              <a:off x="0" y="0"/>
              <a:ext cx="2675839" cy="1594803"/>
            </a:xfrm>
            <a:custGeom>
              <a:avLst/>
              <a:gdLst/>
              <a:ahLst/>
              <a:cxnLst/>
              <a:rect r="r" b="b" t="t" l="l"/>
              <a:pathLst>
                <a:path h="1594803" w="2675839">
                  <a:moveTo>
                    <a:pt x="0" y="0"/>
                  </a:moveTo>
                  <a:lnTo>
                    <a:pt x="2675839" y="0"/>
                  </a:lnTo>
                  <a:lnTo>
                    <a:pt x="2675839" y="1594803"/>
                  </a:lnTo>
                  <a:lnTo>
                    <a:pt x="0" y="1594803"/>
                  </a:lnTo>
                  <a:close/>
                </a:path>
              </a:pathLst>
            </a:custGeom>
            <a:solidFill>
              <a:srgbClr val="FFFFFF"/>
            </a:solidFill>
          </p:spPr>
        </p:sp>
      </p:grpSp>
      <p:grpSp>
        <p:nvGrpSpPr>
          <p:cNvPr name="Group 5" id="5"/>
          <p:cNvGrpSpPr/>
          <p:nvPr/>
        </p:nvGrpSpPr>
        <p:grpSpPr>
          <a:xfrm rot="0">
            <a:off x="0" y="0"/>
            <a:ext cx="7335032" cy="2867254"/>
            <a:chOff x="0" y="0"/>
            <a:chExt cx="2675839" cy="1045982"/>
          </a:xfrm>
        </p:grpSpPr>
        <p:sp>
          <p:nvSpPr>
            <p:cNvPr name="Freeform 6" id="6"/>
            <p:cNvSpPr/>
            <p:nvPr/>
          </p:nvSpPr>
          <p:spPr>
            <a:xfrm flipH="false" flipV="false" rot="0">
              <a:off x="0" y="0"/>
              <a:ext cx="2675839" cy="1045982"/>
            </a:xfrm>
            <a:custGeom>
              <a:avLst/>
              <a:gdLst/>
              <a:ahLst/>
              <a:cxnLst/>
              <a:rect r="r" b="b" t="t" l="l"/>
              <a:pathLst>
                <a:path h="1045982" w="2675839">
                  <a:moveTo>
                    <a:pt x="0" y="0"/>
                  </a:moveTo>
                  <a:lnTo>
                    <a:pt x="2675839" y="0"/>
                  </a:lnTo>
                  <a:lnTo>
                    <a:pt x="2675839" y="1045982"/>
                  </a:lnTo>
                  <a:lnTo>
                    <a:pt x="0" y="1045982"/>
                  </a:lnTo>
                  <a:close/>
                </a:path>
              </a:pathLst>
            </a:custGeom>
            <a:solidFill>
              <a:srgbClr val="FFFFFF"/>
            </a:solidFill>
          </p:spPr>
        </p:sp>
      </p:grpSp>
      <p:grpSp>
        <p:nvGrpSpPr>
          <p:cNvPr name="Group 7" id="7"/>
          <p:cNvGrpSpPr/>
          <p:nvPr/>
        </p:nvGrpSpPr>
        <p:grpSpPr>
          <a:xfrm rot="0">
            <a:off x="7641657" y="0"/>
            <a:ext cx="10646343" cy="9011048"/>
            <a:chOff x="0" y="0"/>
            <a:chExt cx="3883815" cy="3287255"/>
          </a:xfrm>
        </p:grpSpPr>
        <p:sp>
          <p:nvSpPr>
            <p:cNvPr name="Freeform 8" id="8"/>
            <p:cNvSpPr/>
            <p:nvPr/>
          </p:nvSpPr>
          <p:spPr>
            <a:xfrm flipH="false" flipV="false" rot="0">
              <a:off x="0" y="0"/>
              <a:ext cx="3883815" cy="3287255"/>
            </a:xfrm>
            <a:custGeom>
              <a:avLst/>
              <a:gdLst/>
              <a:ahLst/>
              <a:cxnLst/>
              <a:rect r="r" b="b" t="t" l="l"/>
              <a:pathLst>
                <a:path h="3287255" w="3883815">
                  <a:moveTo>
                    <a:pt x="0" y="0"/>
                  </a:moveTo>
                  <a:lnTo>
                    <a:pt x="3883815" y="0"/>
                  </a:lnTo>
                  <a:lnTo>
                    <a:pt x="3883815" y="3287255"/>
                  </a:lnTo>
                  <a:lnTo>
                    <a:pt x="0" y="3287255"/>
                  </a:lnTo>
                  <a:close/>
                </a:path>
              </a:pathLst>
            </a:custGeom>
            <a:solidFill>
              <a:srgbClr val="FFFFFF"/>
            </a:solidFill>
          </p:spPr>
        </p:sp>
      </p:grpSp>
      <p:sp>
        <p:nvSpPr>
          <p:cNvPr name="Freeform 9" id="9"/>
          <p:cNvSpPr/>
          <p:nvPr/>
        </p:nvSpPr>
        <p:spPr>
          <a:xfrm flipH="true" flipV="false" rot="0">
            <a:off x="7088098" y="8311309"/>
            <a:ext cx="4111803" cy="1457821"/>
          </a:xfrm>
          <a:custGeom>
            <a:avLst/>
            <a:gdLst/>
            <a:ahLst/>
            <a:cxnLst/>
            <a:rect r="r" b="b" t="t" l="l"/>
            <a:pathLst>
              <a:path h="1457821" w="4111803">
                <a:moveTo>
                  <a:pt x="4111804" y="0"/>
                </a:moveTo>
                <a:lnTo>
                  <a:pt x="0" y="0"/>
                </a:lnTo>
                <a:lnTo>
                  <a:pt x="0" y="1457821"/>
                </a:lnTo>
                <a:lnTo>
                  <a:pt x="4111804" y="1457821"/>
                </a:lnTo>
                <a:lnTo>
                  <a:pt x="411180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0">
            <a:off x="17441250" y="656871"/>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587084" y="4917542"/>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7661736" y="1717780"/>
            <a:ext cx="10606184" cy="2298947"/>
          </a:xfrm>
          <a:custGeom>
            <a:avLst/>
            <a:gdLst/>
            <a:ahLst/>
            <a:cxnLst/>
            <a:rect r="r" b="b" t="t" l="l"/>
            <a:pathLst>
              <a:path h="2298947" w="10606184">
                <a:moveTo>
                  <a:pt x="0" y="0"/>
                </a:moveTo>
                <a:lnTo>
                  <a:pt x="10606184" y="0"/>
                </a:lnTo>
                <a:lnTo>
                  <a:pt x="10606184" y="2298947"/>
                </a:lnTo>
                <a:lnTo>
                  <a:pt x="0" y="2298947"/>
                </a:lnTo>
                <a:lnTo>
                  <a:pt x="0" y="0"/>
                </a:lnTo>
                <a:close/>
              </a:path>
            </a:pathLst>
          </a:custGeom>
          <a:blipFill>
            <a:blip r:embed="rId7"/>
            <a:stretch>
              <a:fillRect l="0" t="0" r="0" b="0"/>
            </a:stretch>
          </a:blipFill>
        </p:spPr>
      </p:sp>
      <p:sp>
        <p:nvSpPr>
          <p:cNvPr name="TextBox 13" id="13"/>
          <p:cNvSpPr txBox="true"/>
          <p:nvPr/>
        </p:nvSpPr>
        <p:spPr>
          <a:xfrm rot="0">
            <a:off x="404104" y="567804"/>
            <a:ext cx="7237553" cy="1712595"/>
          </a:xfrm>
          <a:prstGeom prst="rect">
            <a:avLst/>
          </a:prstGeom>
        </p:spPr>
        <p:txBody>
          <a:bodyPr anchor="t" rtlCol="false" tIns="0" lIns="0" bIns="0" rIns="0">
            <a:spAutoFit/>
          </a:bodyPr>
          <a:lstStyle/>
          <a:p>
            <a:pPr algn="l">
              <a:lnSpc>
                <a:spcPts val="6764"/>
              </a:lnSpc>
            </a:pPr>
            <a:r>
              <a:rPr lang="en-US" sz="5499" b="true">
                <a:solidFill>
                  <a:srgbClr val="003EA8"/>
                </a:solidFill>
                <a:latin typeface="Muli Bold"/>
                <a:ea typeface="Muli Bold"/>
                <a:cs typeface="Muli Bold"/>
                <a:sym typeface="Muli Bold"/>
              </a:rPr>
              <a:t>6. </a:t>
            </a:r>
            <a:r>
              <a:rPr lang="en-US" b="true" sz="5499">
                <a:solidFill>
                  <a:srgbClr val="003EA8"/>
                </a:solidFill>
                <a:latin typeface="Muli Bold"/>
                <a:ea typeface="Muli Bold"/>
                <a:cs typeface="Muli Bold"/>
                <a:sym typeface="Muli Bold"/>
              </a:rPr>
              <a:t>Connect 4 &amp; Pure Monte Carlo Search</a:t>
            </a:r>
          </a:p>
        </p:txBody>
      </p:sp>
      <p:sp>
        <p:nvSpPr>
          <p:cNvPr name="TextBox 14" id="14"/>
          <p:cNvSpPr txBox="true"/>
          <p:nvPr/>
        </p:nvSpPr>
        <p:spPr>
          <a:xfrm rot="0">
            <a:off x="274143" y="3852059"/>
            <a:ext cx="6813955" cy="3155997"/>
          </a:xfrm>
          <a:prstGeom prst="rect">
            <a:avLst/>
          </a:prstGeom>
        </p:spPr>
        <p:txBody>
          <a:bodyPr anchor="t" rtlCol="false" tIns="0" lIns="0" bIns="0" rIns="0">
            <a:spAutoFit/>
          </a:bodyPr>
          <a:lstStyle/>
          <a:p>
            <a:pPr algn="l">
              <a:lnSpc>
                <a:spcPts val="4159"/>
              </a:lnSpc>
              <a:spcBef>
                <a:spcPct val="0"/>
              </a:spcBef>
            </a:pPr>
            <a:r>
              <a:rPr lang="en-US" b="true" sz="3199">
                <a:solidFill>
                  <a:srgbClr val="000000"/>
                </a:solidFill>
                <a:latin typeface="Cabin Bold"/>
                <a:ea typeface="Cabin Bold"/>
                <a:cs typeface="Cabin Bold"/>
                <a:sym typeface="Cabin Bold"/>
              </a:rPr>
              <a:t>🔹 Ý tưởng cốt lõi</a:t>
            </a:r>
          </a:p>
          <a:p>
            <a:pPr algn="l" marL="690813" indent="-345406" lvl="1">
              <a:lnSpc>
                <a:spcPts val="4159"/>
              </a:lnSpc>
              <a:spcBef>
                <a:spcPct val="0"/>
              </a:spcBef>
              <a:buFont typeface="Arial"/>
              <a:buChar char="•"/>
            </a:pPr>
            <a:r>
              <a:rPr lang="en-US" sz="3199">
                <a:solidFill>
                  <a:srgbClr val="000000"/>
                </a:solidFill>
                <a:latin typeface="Cabin"/>
                <a:ea typeface="Cabin"/>
                <a:cs typeface="Cabin"/>
                <a:sym typeface="Cabin"/>
              </a:rPr>
              <a:t>Mỗi hành động được đánh giá bằng mô phỏng ngẫu nhiên (rollout).</a:t>
            </a:r>
          </a:p>
          <a:p>
            <a:pPr algn="l" marL="690813" indent="-345406" lvl="1">
              <a:lnSpc>
                <a:spcPts val="4159"/>
              </a:lnSpc>
              <a:spcBef>
                <a:spcPct val="0"/>
              </a:spcBef>
              <a:buFont typeface="Arial"/>
              <a:buChar char="•"/>
            </a:pPr>
            <a:r>
              <a:rPr lang="en-US" sz="3199">
                <a:solidFill>
                  <a:srgbClr val="000000"/>
                </a:solidFill>
                <a:latin typeface="Cabin"/>
                <a:ea typeface="Cabin"/>
                <a:cs typeface="Cabin"/>
                <a:sym typeface="Cabin"/>
              </a:rPr>
              <a:t>Không duyệt cây, không heuristic.</a:t>
            </a:r>
          </a:p>
          <a:p>
            <a:pPr algn="l" marL="690813" indent="-345406" lvl="1">
              <a:lnSpc>
                <a:spcPts val="4159"/>
              </a:lnSpc>
              <a:spcBef>
                <a:spcPct val="0"/>
              </a:spcBef>
              <a:buFont typeface="Arial"/>
              <a:buChar char="•"/>
            </a:pPr>
            <a:r>
              <a:rPr lang="en-US" sz="3199">
                <a:solidFill>
                  <a:srgbClr val="000000"/>
                </a:solidFill>
                <a:latin typeface="Cabin"/>
                <a:ea typeface="Cabin"/>
                <a:cs typeface="Cabin"/>
                <a:sym typeface="Cabin"/>
              </a:rPr>
              <a:t>Khi số mô phỏng → ∞, kết quả hội tụ tới tỷ lệ thắng thật.</a:t>
            </a:r>
          </a:p>
        </p:txBody>
      </p:sp>
      <p:sp>
        <p:nvSpPr>
          <p:cNvPr name="TextBox 15" id="15"/>
          <p:cNvSpPr txBox="true"/>
          <p:nvPr/>
        </p:nvSpPr>
        <p:spPr>
          <a:xfrm rot="0">
            <a:off x="5741788" y="558279"/>
            <a:ext cx="8360528" cy="529590"/>
          </a:xfrm>
          <a:prstGeom prst="rect">
            <a:avLst/>
          </a:prstGeom>
        </p:spPr>
        <p:txBody>
          <a:bodyPr anchor="t" rtlCol="false" tIns="0" lIns="0" bIns="0" rIns="0">
            <a:spAutoFit/>
          </a:bodyPr>
          <a:lstStyle/>
          <a:p>
            <a:pPr algn="ctr">
              <a:lnSpc>
                <a:spcPts val="4289"/>
              </a:lnSpc>
              <a:spcBef>
                <a:spcPct val="0"/>
              </a:spcBef>
            </a:pPr>
            <a:r>
              <a:rPr lang="en-US" b="true" sz="3299">
                <a:solidFill>
                  <a:srgbClr val="000000"/>
                </a:solidFill>
                <a:latin typeface="Cabin Bold"/>
                <a:ea typeface="Cabin Bold"/>
                <a:cs typeface="Cabin Bold"/>
                <a:sym typeface="Cabin Bold"/>
              </a:rPr>
              <a:t>🔹 Ưu và nhược điểm</a:t>
            </a:r>
          </a:p>
        </p:txBody>
      </p:sp>
      <p:sp>
        <p:nvSpPr>
          <p:cNvPr name="TextBox 16" id="16"/>
          <p:cNvSpPr txBox="true"/>
          <p:nvPr/>
        </p:nvSpPr>
        <p:spPr>
          <a:xfrm rot="0">
            <a:off x="8082517" y="4824616"/>
            <a:ext cx="7012622" cy="2612129"/>
          </a:xfrm>
          <a:prstGeom prst="rect">
            <a:avLst/>
          </a:prstGeom>
        </p:spPr>
        <p:txBody>
          <a:bodyPr anchor="t" rtlCol="false" tIns="0" lIns="0" bIns="0" rIns="0">
            <a:spAutoFit/>
          </a:bodyPr>
          <a:lstStyle/>
          <a:p>
            <a:pPr algn="just">
              <a:lnSpc>
                <a:spcPts val="5260"/>
              </a:lnSpc>
            </a:pPr>
            <a:r>
              <a:rPr lang="en-US" b="true" sz="3757">
                <a:solidFill>
                  <a:srgbClr val="000000"/>
                </a:solidFill>
                <a:latin typeface="Cabin Bold"/>
                <a:ea typeface="Cabin Bold"/>
                <a:cs typeface="Cabin Bold"/>
                <a:sym typeface="Cabin Bold"/>
              </a:rPr>
              <a:t>🔹 Kết quả</a:t>
            </a:r>
          </a:p>
          <a:p>
            <a:pPr algn="just" marL="811199" indent="-405599" lvl="1">
              <a:lnSpc>
                <a:spcPts val="5260"/>
              </a:lnSpc>
              <a:buFont typeface="Arial"/>
              <a:buChar char="•"/>
            </a:pPr>
            <a:r>
              <a:rPr lang="en-US" sz="3757">
                <a:solidFill>
                  <a:srgbClr val="000000"/>
                </a:solidFill>
                <a:latin typeface="Cabin"/>
                <a:ea typeface="Cabin"/>
                <a:cs typeface="Cabin"/>
                <a:sym typeface="Cabin"/>
              </a:rPr>
              <a:t>Best first move: Cột giữa (3)</a:t>
            </a:r>
          </a:p>
          <a:p>
            <a:pPr algn="just" marL="811199" indent="-405599" lvl="1">
              <a:lnSpc>
                <a:spcPts val="5260"/>
              </a:lnSpc>
              <a:buFont typeface="Arial"/>
              <a:buChar char="•"/>
            </a:pPr>
            <a:r>
              <a:rPr lang="en-US" sz="3757">
                <a:solidFill>
                  <a:srgbClr val="000000"/>
                </a:solidFill>
                <a:latin typeface="Cabin"/>
                <a:ea typeface="Cabin"/>
                <a:cs typeface="Cabin"/>
                <a:sym typeface="Cabin"/>
              </a:rPr>
              <a:t>Vì có nhiều hướng kết nối nhất → xác suất thắng cao.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9009410" cy="1907038"/>
            <a:chOff x="0" y="0"/>
            <a:chExt cx="3286657" cy="695693"/>
          </a:xfrm>
        </p:grpSpPr>
        <p:sp>
          <p:nvSpPr>
            <p:cNvPr name="Freeform 4" id="4"/>
            <p:cNvSpPr/>
            <p:nvPr/>
          </p:nvSpPr>
          <p:spPr>
            <a:xfrm flipH="false" flipV="false" rot="0">
              <a:off x="0" y="0"/>
              <a:ext cx="3286657" cy="695693"/>
            </a:xfrm>
            <a:custGeom>
              <a:avLst/>
              <a:gdLst/>
              <a:ahLst/>
              <a:cxnLst/>
              <a:rect r="r" b="b" t="t" l="l"/>
              <a:pathLst>
                <a:path h="695693" w="3286657">
                  <a:moveTo>
                    <a:pt x="0" y="0"/>
                  </a:moveTo>
                  <a:lnTo>
                    <a:pt x="3286657" y="0"/>
                  </a:lnTo>
                  <a:lnTo>
                    <a:pt x="3286657" y="695693"/>
                  </a:lnTo>
                  <a:lnTo>
                    <a:pt x="0" y="695693"/>
                  </a:lnTo>
                  <a:close/>
                </a:path>
              </a:pathLst>
            </a:custGeom>
            <a:solidFill>
              <a:srgbClr val="FFFFFF"/>
            </a:solidFill>
          </p:spPr>
        </p:sp>
      </p:grpSp>
      <p:grpSp>
        <p:nvGrpSpPr>
          <p:cNvPr name="Group 5" id="5"/>
          <p:cNvGrpSpPr/>
          <p:nvPr/>
        </p:nvGrpSpPr>
        <p:grpSpPr>
          <a:xfrm rot="0">
            <a:off x="737402" y="2953893"/>
            <a:ext cx="9009410" cy="5787794"/>
            <a:chOff x="0" y="0"/>
            <a:chExt cx="3286657" cy="2111403"/>
          </a:xfrm>
        </p:grpSpPr>
        <p:sp>
          <p:nvSpPr>
            <p:cNvPr name="Freeform 6" id="6"/>
            <p:cNvSpPr/>
            <p:nvPr/>
          </p:nvSpPr>
          <p:spPr>
            <a:xfrm flipH="false" flipV="false" rot="0">
              <a:off x="0" y="0"/>
              <a:ext cx="3286657" cy="2111403"/>
            </a:xfrm>
            <a:custGeom>
              <a:avLst/>
              <a:gdLst/>
              <a:ahLst/>
              <a:cxnLst/>
              <a:rect r="r" b="b" t="t" l="l"/>
              <a:pathLst>
                <a:path h="2111403" w="3286657">
                  <a:moveTo>
                    <a:pt x="0" y="0"/>
                  </a:moveTo>
                  <a:lnTo>
                    <a:pt x="3286657" y="0"/>
                  </a:lnTo>
                  <a:lnTo>
                    <a:pt x="3286657" y="2111403"/>
                  </a:lnTo>
                  <a:lnTo>
                    <a:pt x="0" y="2111403"/>
                  </a:lnTo>
                  <a:close/>
                </a:path>
              </a:pathLst>
            </a:custGeom>
            <a:solidFill>
              <a:srgbClr val="FFFFFF"/>
            </a:solidFill>
          </p:spPr>
        </p:sp>
      </p:grpSp>
      <p:grpSp>
        <p:nvGrpSpPr>
          <p:cNvPr name="Group 7" id="7"/>
          <p:cNvGrpSpPr/>
          <p:nvPr/>
        </p:nvGrpSpPr>
        <p:grpSpPr>
          <a:xfrm rot="0">
            <a:off x="10261150" y="657204"/>
            <a:ext cx="7087021" cy="8045795"/>
            <a:chOff x="0" y="0"/>
            <a:chExt cx="2585364" cy="2935128"/>
          </a:xfrm>
        </p:grpSpPr>
        <p:sp>
          <p:nvSpPr>
            <p:cNvPr name="Freeform 8" id="8"/>
            <p:cNvSpPr/>
            <p:nvPr/>
          </p:nvSpPr>
          <p:spPr>
            <a:xfrm flipH="false" flipV="false" rot="0">
              <a:off x="0" y="0"/>
              <a:ext cx="2585364" cy="2935128"/>
            </a:xfrm>
            <a:custGeom>
              <a:avLst/>
              <a:gdLst/>
              <a:ahLst/>
              <a:cxnLst/>
              <a:rect r="r" b="b" t="t" l="l"/>
              <a:pathLst>
                <a:path h="2935128" w="2585364">
                  <a:moveTo>
                    <a:pt x="0" y="0"/>
                  </a:moveTo>
                  <a:lnTo>
                    <a:pt x="2585364" y="0"/>
                  </a:lnTo>
                  <a:lnTo>
                    <a:pt x="2585364" y="2935128"/>
                  </a:lnTo>
                  <a:lnTo>
                    <a:pt x="0" y="2935128"/>
                  </a:lnTo>
                  <a:close/>
                </a:path>
              </a:pathLst>
            </a:custGeom>
            <a:solidFill>
              <a:srgbClr val="FFFFFF"/>
            </a:solidFill>
          </p:spPr>
        </p:sp>
      </p:grpSp>
      <p:sp>
        <p:nvSpPr>
          <p:cNvPr name="Freeform 9" id="9"/>
          <p:cNvSpPr/>
          <p:nvPr/>
        </p:nvSpPr>
        <p:spPr>
          <a:xfrm flipH="false" flipV="false" rot="0">
            <a:off x="15301511" y="-207276"/>
            <a:ext cx="4876557" cy="1728961"/>
          </a:xfrm>
          <a:custGeom>
            <a:avLst/>
            <a:gdLst/>
            <a:ahLst/>
            <a:cxnLst/>
            <a:rect r="r" b="b" t="t" l="l"/>
            <a:pathLst>
              <a:path h="1728961" w="4876557">
                <a:moveTo>
                  <a:pt x="0" y="0"/>
                </a:moveTo>
                <a:lnTo>
                  <a:pt x="4876558" y="0"/>
                </a:lnTo>
                <a:lnTo>
                  <a:pt x="4876558"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895970" y="9044945"/>
            <a:ext cx="3539104" cy="617207"/>
            <a:chOff x="0" y="0"/>
            <a:chExt cx="4718805" cy="822943"/>
          </a:xfrm>
        </p:grpSpPr>
        <p:grpSp>
          <p:nvGrpSpPr>
            <p:cNvPr name="Group 12" id="12"/>
            <p:cNvGrpSpPr/>
            <p:nvPr/>
          </p:nvGrpSpPr>
          <p:grpSpPr>
            <a:xfrm rot="0">
              <a:off x="0" y="0"/>
              <a:ext cx="4718805" cy="822943"/>
              <a:chOff x="0" y="0"/>
              <a:chExt cx="1291075" cy="225159"/>
            </a:xfrm>
          </p:grpSpPr>
          <p:sp>
            <p:nvSpPr>
              <p:cNvPr name="Freeform 13" id="13"/>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14" id="14"/>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5" action="ppaction://hlinksldjump"/>
                </a:rPr>
                <a:t>Quay lại Trang Chương trình</a:t>
              </a:r>
            </a:p>
          </p:txBody>
        </p:sp>
      </p:grpSp>
      <p:sp>
        <p:nvSpPr>
          <p:cNvPr name="Freeform 15" id="15"/>
          <p:cNvSpPr/>
          <p:nvPr/>
        </p:nvSpPr>
        <p:spPr>
          <a:xfrm flipH="false" flipV="false" rot="0">
            <a:off x="295787" y="291782"/>
            <a:ext cx="441616" cy="633141"/>
          </a:xfrm>
          <a:custGeom>
            <a:avLst/>
            <a:gdLst/>
            <a:ahLst/>
            <a:cxnLst/>
            <a:rect r="r" b="b" t="t" l="l"/>
            <a:pathLst>
              <a:path h="633141" w="441616">
                <a:moveTo>
                  <a:pt x="0" y="0"/>
                </a:moveTo>
                <a:lnTo>
                  <a:pt x="441615" y="0"/>
                </a:lnTo>
                <a:lnTo>
                  <a:pt x="441615"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0550759" y="1610723"/>
            <a:ext cx="6507802" cy="4880852"/>
          </a:xfrm>
          <a:custGeom>
            <a:avLst/>
            <a:gdLst/>
            <a:ahLst/>
            <a:cxnLst/>
            <a:rect r="r" b="b" t="t" l="l"/>
            <a:pathLst>
              <a:path h="4880852" w="6507802">
                <a:moveTo>
                  <a:pt x="0" y="0"/>
                </a:moveTo>
                <a:lnTo>
                  <a:pt x="6507802" y="0"/>
                </a:lnTo>
                <a:lnTo>
                  <a:pt x="6507802" y="4880852"/>
                </a:lnTo>
                <a:lnTo>
                  <a:pt x="0" y="4880852"/>
                </a:lnTo>
                <a:lnTo>
                  <a:pt x="0" y="0"/>
                </a:lnTo>
                <a:close/>
              </a:path>
            </a:pathLst>
          </a:custGeom>
          <a:blipFill>
            <a:blip r:embed="rId8"/>
            <a:stretch>
              <a:fillRect l="0" t="0" r="0" b="0"/>
            </a:stretch>
          </a:blipFill>
        </p:spPr>
      </p:sp>
      <p:sp>
        <p:nvSpPr>
          <p:cNvPr name="TextBox 17" id="17"/>
          <p:cNvSpPr txBox="true"/>
          <p:nvPr/>
        </p:nvSpPr>
        <p:spPr>
          <a:xfrm rot="0">
            <a:off x="1389685" y="779632"/>
            <a:ext cx="8041031" cy="1662182"/>
          </a:xfrm>
          <a:prstGeom prst="rect">
            <a:avLst/>
          </a:prstGeom>
        </p:spPr>
        <p:txBody>
          <a:bodyPr anchor="t" rtlCol="false" tIns="0" lIns="0" bIns="0" rIns="0">
            <a:spAutoFit/>
          </a:bodyPr>
          <a:lstStyle/>
          <a:p>
            <a:pPr algn="l" marL="0" indent="0" lvl="0">
              <a:lnSpc>
                <a:spcPts val="6544"/>
              </a:lnSpc>
              <a:spcBef>
                <a:spcPct val="0"/>
              </a:spcBef>
            </a:pPr>
            <a:r>
              <a:rPr lang="en-US" b="true" sz="5453">
                <a:solidFill>
                  <a:srgbClr val="003EA8"/>
                </a:solidFill>
                <a:latin typeface="Muli Bold"/>
                <a:ea typeface="Muli Bold"/>
                <a:cs typeface="Muli Bold"/>
                <a:sym typeface="Muli Bold"/>
              </a:rPr>
              <a:t> 7. “Mean” Connect 4 – B</a:t>
            </a:r>
            <a:r>
              <a:rPr lang="en-US" b="true" sz="5453">
                <a:solidFill>
                  <a:srgbClr val="003EA8"/>
                </a:solidFill>
                <a:latin typeface="Muli Bold"/>
                <a:ea typeface="Muli Bold"/>
                <a:cs typeface="Muli Bold"/>
                <a:sym typeface="Muli Bold"/>
              </a:rPr>
              <a:t>iến thể nâng cao</a:t>
            </a:r>
          </a:p>
        </p:txBody>
      </p:sp>
      <p:sp>
        <p:nvSpPr>
          <p:cNvPr name="TextBox 18" id="18"/>
          <p:cNvSpPr txBox="true"/>
          <p:nvPr/>
        </p:nvSpPr>
        <p:spPr>
          <a:xfrm rot="0">
            <a:off x="1389685" y="3497303"/>
            <a:ext cx="7454774" cy="3971740"/>
          </a:xfrm>
          <a:prstGeom prst="rect">
            <a:avLst/>
          </a:prstGeom>
        </p:spPr>
        <p:txBody>
          <a:bodyPr anchor="t" rtlCol="false" tIns="0" lIns="0" bIns="0" rIns="0">
            <a:spAutoFit/>
          </a:bodyPr>
          <a:lstStyle/>
          <a:p>
            <a:pPr algn="just">
              <a:lnSpc>
                <a:spcPts val="5260"/>
              </a:lnSpc>
              <a:spcBef>
                <a:spcPct val="0"/>
              </a:spcBef>
            </a:pPr>
            <a:r>
              <a:rPr lang="en-US" b="true" sz="3757">
                <a:solidFill>
                  <a:srgbClr val="000000"/>
                </a:solidFill>
                <a:latin typeface="Cabin Bold"/>
                <a:ea typeface="Cabin Bold"/>
                <a:cs typeface="Cabin Bold"/>
                <a:sym typeface="Cabin Bold"/>
              </a:rPr>
              <a:t>🔹 Luật mới</a:t>
            </a:r>
          </a:p>
          <a:p>
            <a:pPr algn="just" marL="811199" indent="-405599" lvl="1">
              <a:lnSpc>
                <a:spcPts val="5260"/>
              </a:lnSpc>
              <a:spcBef>
                <a:spcPct val="0"/>
              </a:spcBef>
              <a:buFont typeface="Arial"/>
              <a:buChar char="•"/>
            </a:pPr>
            <a:r>
              <a:rPr lang="en-US" sz="3757">
                <a:solidFill>
                  <a:srgbClr val="000000"/>
                </a:solidFill>
                <a:latin typeface="Cabin"/>
                <a:ea typeface="Cabin"/>
                <a:cs typeface="Cabin"/>
                <a:sym typeface="Cabin"/>
              </a:rPr>
              <a:t>Người chơi có thể “steal” quân đối thủ ở hàng đáy và đặt lại vào cột khác.</a:t>
            </a:r>
          </a:p>
          <a:p>
            <a:pPr algn="just" marL="811199" indent="-405599" lvl="1">
              <a:lnSpc>
                <a:spcPts val="5260"/>
              </a:lnSpc>
              <a:spcBef>
                <a:spcPct val="0"/>
              </a:spcBef>
              <a:buFont typeface="Arial"/>
              <a:buChar char="•"/>
            </a:pPr>
            <a:r>
              <a:rPr lang="en-US" sz="3757">
                <a:solidFill>
                  <a:srgbClr val="000000"/>
                </a:solidFill>
                <a:latin typeface="Cabin"/>
                <a:ea typeface="Cabin"/>
                <a:cs typeface="Cabin"/>
                <a:sym typeface="Cabin"/>
              </a:rPr>
              <a:t>Tăng độ phức tạp: không gian trạng thái ≈ 10¹³–10¹⁵.</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301511" y="-207276"/>
            <a:ext cx="4876557" cy="1728961"/>
          </a:xfrm>
          <a:custGeom>
            <a:avLst/>
            <a:gdLst/>
            <a:ahLst/>
            <a:cxnLst/>
            <a:rect r="r" b="b" t="t" l="l"/>
            <a:pathLst>
              <a:path h="1728961" w="4876557">
                <a:moveTo>
                  <a:pt x="0" y="0"/>
                </a:moveTo>
                <a:lnTo>
                  <a:pt x="4876558" y="0"/>
                </a:lnTo>
                <a:lnTo>
                  <a:pt x="4876558"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52021" y="1237335"/>
            <a:ext cx="14649490" cy="4339835"/>
          </a:xfrm>
          <a:custGeom>
            <a:avLst/>
            <a:gdLst/>
            <a:ahLst/>
            <a:cxnLst/>
            <a:rect r="r" b="b" t="t" l="l"/>
            <a:pathLst>
              <a:path h="4339835" w="14649490">
                <a:moveTo>
                  <a:pt x="0" y="0"/>
                </a:moveTo>
                <a:lnTo>
                  <a:pt x="14649490" y="0"/>
                </a:lnTo>
                <a:lnTo>
                  <a:pt x="14649490" y="4339835"/>
                </a:lnTo>
                <a:lnTo>
                  <a:pt x="0" y="4339835"/>
                </a:lnTo>
                <a:lnTo>
                  <a:pt x="0" y="0"/>
                </a:lnTo>
                <a:close/>
              </a:path>
            </a:pathLst>
          </a:custGeom>
          <a:blipFill>
            <a:blip r:embed="rId5"/>
            <a:stretch>
              <a:fillRect l="0" t="0" r="0" b="0"/>
            </a:stretch>
          </a:blipFill>
        </p:spPr>
      </p:sp>
      <p:sp>
        <p:nvSpPr>
          <p:cNvPr name="TextBox 6" id="6"/>
          <p:cNvSpPr txBox="true"/>
          <p:nvPr/>
        </p:nvSpPr>
        <p:spPr>
          <a:xfrm rot="0">
            <a:off x="467347" y="304872"/>
            <a:ext cx="4351139" cy="637990"/>
          </a:xfrm>
          <a:prstGeom prst="rect">
            <a:avLst/>
          </a:prstGeom>
        </p:spPr>
        <p:txBody>
          <a:bodyPr anchor="t" rtlCol="false" tIns="0" lIns="0" bIns="0" rIns="0">
            <a:spAutoFit/>
          </a:bodyPr>
          <a:lstStyle/>
          <a:p>
            <a:pPr algn="ctr">
              <a:lnSpc>
                <a:spcPts val="5260"/>
              </a:lnSpc>
              <a:spcBef>
                <a:spcPct val="0"/>
              </a:spcBef>
            </a:pPr>
            <a:r>
              <a:rPr lang="en-US" b="true" sz="3757">
                <a:solidFill>
                  <a:srgbClr val="000000"/>
                </a:solidFill>
                <a:latin typeface="Cabin Bold"/>
                <a:ea typeface="Cabin Bold"/>
                <a:cs typeface="Cabin Bold"/>
                <a:sym typeface="Cabin Bold"/>
              </a:rPr>
              <a:t>🔹 Mô hình tìm kiếm</a:t>
            </a:r>
          </a:p>
        </p:txBody>
      </p:sp>
      <p:sp>
        <p:nvSpPr>
          <p:cNvPr name="TextBox 7" id="7"/>
          <p:cNvSpPr txBox="true"/>
          <p:nvPr/>
        </p:nvSpPr>
        <p:spPr>
          <a:xfrm rot="0">
            <a:off x="652021" y="5804969"/>
            <a:ext cx="12953734" cy="2842596"/>
          </a:xfrm>
          <a:prstGeom prst="rect">
            <a:avLst/>
          </a:prstGeom>
        </p:spPr>
        <p:txBody>
          <a:bodyPr anchor="t" rtlCol="false" tIns="0" lIns="0" bIns="0" rIns="0">
            <a:spAutoFit/>
          </a:bodyPr>
          <a:lstStyle/>
          <a:p>
            <a:pPr algn="just">
              <a:lnSpc>
                <a:spcPts val="5678"/>
              </a:lnSpc>
              <a:spcBef>
                <a:spcPct val="0"/>
              </a:spcBef>
            </a:pPr>
            <a:r>
              <a:rPr lang="en-US" b="true" sz="4055">
                <a:solidFill>
                  <a:srgbClr val="000000"/>
                </a:solidFill>
                <a:latin typeface="Cabin Bold"/>
                <a:ea typeface="Cabin Bold"/>
                <a:cs typeface="Cabin Bold"/>
                <a:sym typeface="Cabin Bold"/>
              </a:rPr>
              <a:t>🔹 Thuật toán áp dụng</a:t>
            </a:r>
          </a:p>
          <a:p>
            <a:pPr algn="just" marL="875663" indent="-437832" lvl="1">
              <a:lnSpc>
                <a:spcPts val="5678"/>
              </a:lnSpc>
              <a:spcBef>
                <a:spcPct val="0"/>
              </a:spcBef>
              <a:buFont typeface="Arial"/>
              <a:buChar char="•"/>
            </a:pPr>
            <a:r>
              <a:rPr lang="en-US" sz="4055">
                <a:solidFill>
                  <a:srgbClr val="000000"/>
                </a:solidFill>
                <a:latin typeface="Cabin"/>
                <a:ea typeface="Cabin"/>
                <a:cs typeface="Cabin"/>
                <a:sym typeface="Cabin"/>
              </a:rPr>
              <a:t>Alpha-Beta với cutoff &amp; heuristic</a:t>
            </a:r>
          </a:p>
          <a:p>
            <a:pPr algn="just" marL="875663" indent="-437832" lvl="1">
              <a:lnSpc>
                <a:spcPts val="5678"/>
              </a:lnSpc>
              <a:spcBef>
                <a:spcPct val="0"/>
              </a:spcBef>
              <a:buFont typeface="Arial"/>
              <a:buChar char="•"/>
            </a:pPr>
            <a:r>
              <a:rPr lang="en-US" sz="4055">
                <a:solidFill>
                  <a:srgbClr val="000000"/>
                </a:solidFill>
                <a:latin typeface="Cabin"/>
                <a:ea typeface="Cabin"/>
                <a:cs typeface="Cabin"/>
                <a:sym typeface="Cabin"/>
              </a:rPr>
              <a:t>Move Ordering giúp giảm thời gian 2–3 lần.</a:t>
            </a:r>
          </a:p>
          <a:p>
            <a:pPr algn="just" marL="875663" indent="-437832" lvl="1">
              <a:lnSpc>
                <a:spcPts val="5678"/>
              </a:lnSpc>
              <a:spcBef>
                <a:spcPct val="0"/>
              </a:spcBef>
              <a:buFont typeface="Arial"/>
              <a:buChar char="•"/>
            </a:pPr>
            <a:r>
              <a:rPr lang="en-US" sz="4055">
                <a:solidFill>
                  <a:srgbClr val="000000"/>
                </a:solidFill>
                <a:latin typeface="Cabin"/>
                <a:ea typeface="Cabin"/>
                <a:cs typeface="Cabin"/>
                <a:sym typeface="Cabin"/>
              </a:rPr>
              <a:t>Monte Carlo Search cho mô phỏng nhanh hơn Minimax.</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301511" y="-207276"/>
            <a:ext cx="4876557" cy="1728961"/>
          </a:xfrm>
          <a:custGeom>
            <a:avLst/>
            <a:gdLst/>
            <a:ahLst/>
            <a:cxnLst/>
            <a:rect r="r" b="b" t="t" l="l"/>
            <a:pathLst>
              <a:path h="1728961" w="4876557">
                <a:moveTo>
                  <a:pt x="0" y="0"/>
                </a:moveTo>
                <a:lnTo>
                  <a:pt x="4876558" y="0"/>
                </a:lnTo>
                <a:lnTo>
                  <a:pt x="4876558" y="1728961"/>
                </a:lnTo>
                <a:lnTo>
                  <a:pt x="0" y="172896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1730723"/>
            <a:ext cx="15834201" cy="3039690"/>
          </a:xfrm>
          <a:custGeom>
            <a:avLst/>
            <a:gdLst/>
            <a:ahLst/>
            <a:cxnLst/>
            <a:rect r="r" b="b" t="t" l="l"/>
            <a:pathLst>
              <a:path h="3039690" w="15834201">
                <a:moveTo>
                  <a:pt x="0" y="0"/>
                </a:moveTo>
                <a:lnTo>
                  <a:pt x="15834201" y="0"/>
                </a:lnTo>
                <a:lnTo>
                  <a:pt x="15834201" y="3039690"/>
                </a:lnTo>
                <a:lnTo>
                  <a:pt x="0" y="3039690"/>
                </a:lnTo>
                <a:lnTo>
                  <a:pt x="0" y="0"/>
                </a:lnTo>
                <a:close/>
              </a:path>
            </a:pathLst>
          </a:custGeom>
          <a:blipFill>
            <a:blip r:embed="rId5"/>
            <a:stretch>
              <a:fillRect l="0" t="0" r="0" b="0"/>
            </a:stretch>
          </a:blipFill>
        </p:spPr>
      </p:sp>
      <p:sp>
        <p:nvSpPr>
          <p:cNvPr name="TextBox 6" id="6"/>
          <p:cNvSpPr txBox="true"/>
          <p:nvPr/>
        </p:nvSpPr>
        <p:spPr>
          <a:xfrm rot="0">
            <a:off x="341698" y="381171"/>
            <a:ext cx="5351935" cy="576260"/>
          </a:xfrm>
          <a:prstGeom prst="rect">
            <a:avLst/>
          </a:prstGeom>
        </p:spPr>
        <p:txBody>
          <a:bodyPr anchor="t" rtlCol="false" tIns="0" lIns="0" bIns="0" rIns="0">
            <a:spAutoFit/>
          </a:bodyPr>
          <a:lstStyle/>
          <a:p>
            <a:pPr algn="ctr">
              <a:lnSpc>
                <a:spcPts val="4589"/>
              </a:lnSpc>
              <a:spcBef>
                <a:spcPct val="0"/>
              </a:spcBef>
            </a:pPr>
            <a:r>
              <a:rPr lang="en-US" b="true" sz="3824">
                <a:solidFill>
                  <a:srgbClr val="000000"/>
                </a:solidFill>
                <a:latin typeface="Muli Bold"/>
                <a:ea typeface="Muli Bold"/>
                <a:cs typeface="Muli Bold"/>
                <a:sym typeface="Muli Bold"/>
              </a:rPr>
              <a:t>🔹 Kết quả thử nghiệm</a:t>
            </a:r>
          </a:p>
        </p:txBody>
      </p:sp>
      <p:sp>
        <p:nvSpPr>
          <p:cNvPr name="TextBox 7" id="7"/>
          <p:cNvSpPr txBox="true"/>
          <p:nvPr/>
        </p:nvSpPr>
        <p:spPr>
          <a:xfrm rot="0">
            <a:off x="2038626" y="6034918"/>
            <a:ext cx="14824274" cy="582469"/>
          </a:xfrm>
          <a:prstGeom prst="rect">
            <a:avLst/>
          </a:prstGeom>
        </p:spPr>
        <p:txBody>
          <a:bodyPr anchor="t" rtlCol="false" tIns="0" lIns="0" bIns="0" rIns="0">
            <a:spAutoFit/>
          </a:bodyPr>
          <a:lstStyle/>
          <a:p>
            <a:pPr algn="ctr">
              <a:lnSpc>
                <a:spcPts val="4727"/>
              </a:lnSpc>
              <a:spcBef>
                <a:spcPct val="0"/>
              </a:spcBef>
            </a:pPr>
            <a:r>
              <a:rPr lang="en-US" b="true" sz="3636">
                <a:solidFill>
                  <a:srgbClr val="000000"/>
                </a:solidFill>
                <a:latin typeface="Cabin Bold"/>
                <a:ea typeface="Cabin Bold"/>
                <a:cs typeface="Cabin Bold"/>
                <a:sym typeface="Cabin Bold"/>
              </a:rPr>
              <a:t>➡ Thời gian tăng theo cấp số nhân với depth, nhưng vẫn khả thi nhờ cắt tỉa.</a:t>
            </a:r>
          </a:p>
        </p:txBody>
      </p:sp>
      <p:sp>
        <p:nvSpPr>
          <p:cNvPr name="Freeform 8" id="8"/>
          <p:cNvSpPr/>
          <p:nvPr/>
        </p:nvSpPr>
        <p:spPr>
          <a:xfrm flipH="false" flipV="false" rot="-278358">
            <a:off x="15881287" y="7952572"/>
            <a:ext cx="2756025" cy="866895"/>
          </a:xfrm>
          <a:custGeom>
            <a:avLst/>
            <a:gdLst/>
            <a:ahLst/>
            <a:cxnLst/>
            <a:rect r="r" b="b" t="t" l="l"/>
            <a:pathLst>
              <a:path h="866895" w="2756025">
                <a:moveTo>
                  <a:pt x="0" y="0"/>
                </a:moveTo>
                <a:lnTo>
                  <a:pt x="2756026" y="0"/>
                </a:lnTo>
                <a:lnTo>
                  <a:pt x="2756026" y="866895"/>
                </a:lnTo>
                <a:lnTo>
                  <a:pt x="0" y="8668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098239" y="323274"/>
            <a:ext cx="8045761" cy="2671994"/>
            <a:chOff x="0" y="0"/>
            <a:chExt cx="2935115" cy="974751"/>
          </a:xfrm>
        </p:grpSpPr>
        <p:sp>
          <p:nvSpPr>
            <p:cNvPr name="Freeform 4" id="4"/>
            <p:cNvSpPr/>
            <p:nvPr/>
          </p:nvSpPr>
          <p:spPr>
            <a:xfrm flipH="false" flipV="false" rot="0">
              <a:off x="0" y="0"/>
              <a:ext cx="2935115" cy="974751"/>
            </a:xfrm>
            <a:custGeom>
              <a:avLst/>
              <a:gdLst/>
              <a:ahLst/>
              <a:cxnLst/>
              <a:rect r="r" b="b" t="t" l="l"/>
              <a:pathLst>
                <a:path h="974751" w="2935115">
                  <a:moveTo>
                    <a:pt x="0" y="0"/>
                  </a:moveTo>
                  <a:lnTo>
                    <a:pt x="2935115" y="0"/>
                  </a:lnTo>
                  <a:lnTo>
                    <a:pt x="2935115" y="974751"/>
                  </a:lnTo>
                  <a:lnTo>
                    <a:pt x="0" y="974751"/>
                  </a:lnTo>
                  <a:close/>
                </a:path>
              </a:pathLst>
            </a:custGeom>
            <a:solidFill>
              <a:srgbClr val="FFFFFF"/>
            </a:solidFill>
          </p:spPr>
        </p:sp>
      </p:grpSp>
      <p:grpSp>
        <p:nvGrpSpPr>
          <p:cNvPr name="Group 5" id="5"/>
          <p:cNvGrpSpPr/>
          <p:nvPr/>
        </p:nvGrpSpPr>
        <p:grpSpPr>
          <a:xfrm rot="0">
            <a:off x="7374448" y="9044945"/>
            <a:ext cx="3539104" cy="617207"/>
            <a:chOff x="0" y="0"/>
            <a:chExt cx="4718805" cy="822943"/>
          </a:xfrm>
        </p:grpSpPr>
        <p:grpSp>
          <p:nvGrpSpPr>
            <p:cNvPr name="Group 6" id="6"/>
            <p:cNvGrpSpPr/>
            <p:nvPr/>
          </p:nvGrpSpPr>
          <p:grpSpPr>
            <a:xfrm rot="0">
              <a:off x="0" y="0"/>
              <a:ext cx="4718805" cy="822943"/>
              <a:chOff x="0" y="0"/>
              <a:chExt cx="1291075" cy="225159"/>
            </a:xfrm>
          </p:grpSpPr>
          <p:sp>
            <p:nvSpPr>
              <p:cNvPr name="Freeform 7" id="7"/>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8" id="8"/>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3" action="ppaction://hlinksldjump"/>
                </a:rPr>
                <a:t>Quay lại Trang Chương trình</a:t>
              </a:r>
            </a:p>
          </p:txBody>
        </p:sp>
      </p:grpSp>
      <p:sp>
        <p:nvSpPr>
          <p:cNvPr name="Freeform 9" id="9"/>
          <p:cNvSpPr/>
          <p:nvPr/>
        </p:nvSpPr>
        <p:spPr>
          <a:xfrm flipH="false" flipV="false" rot="-278358">
            <a:off x="-187185" y="433311"/>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278358">
            <a:off x="15881287" y="7952572"/>
            <a:ext cx="2756025" cy="866895"/>
          </a:xfrm>
          <a:custGeom>
            <a:avLst/>
            <a:gdLst/>
            <a:ahLst/>
            <a:cxnLst/>
            <a:rect r="r" b="b" t="t" l="l"/>
            <a:pathLst>
              <a:path h="866895" w="2756025">
                <a:moveTo>
                  <a:pt x="0" y="0"/>
                </a:moveTo>
                <a:lnTo>
                  <a:pt x="2756026" y="0"/>
                </a:lnTo>
                <a:lnTo>
                  <a:pt x="2756026" y="866895"/>
                </a:lnTo>
                <a:lnTo>
                  <a:pt x="0" y="866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444800" y="3754995"/>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401584" y="8067717"/>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190828" y="3141342"/>
            <a:ext cx="15764400" cy="4926375"/>
          </a:xfrm>
          <a:custGeom>
            <a:avLst/>
            <a:gdLst/>
            <a:ahLst/>
            <a:cxnLst/>
            <a:rect r="r" b="b" t="t" l="l"/>
            <a:pathLst>
              <a:path h="4926375" w="15764400">
                <a:moveTo>
                  <a:pt x="0" y="0"/>
                </a:moveTo>
                <a:lnTo>
                  <a:pt x="15764399" y="0"/>
                </a:lnTo>
                <a:lnTo>
                  <a:pt x="15764399" y="4926375"/>
                </a:lnTo>
                <a:lnTo>
                  <a:pt x="0" y="4926375"/>
                </a:lnTo>
                <a:lnTo>
                  <a:pt x="0" y="0"/>
                </a:lnTo>
                <a:close/>
              </a:path>
            </a:pathLst>
          </a:custGeom>
          <a:blipFill>
            <a:blip r:embed="rId8"/>
            <a:stretch>
              <a:fillRect l="0" t="0" r="0" b="0"/>
            </a:stretch>
          </a:blipFill>
        </p:spPr>
      </p:sp>
      <p:sp>
        <p:nvSpPr>
          <p:cNvPr name="TextBox 14" id="14"/>
          <p:cNvSpPr txBox="true"/>
          <p:nvPr/>
        </p:nvSpPr>
        <p:spPr>
          <a:xfrm rot="0">
            <a:off x="1574173" y="1295943"/>
            <a:ext cx="7913951" cy="1085586"/>
          </a:xfrm>
          <a:prstGeom prst="rect">
            <a:avLst/>
          </a:prstGeom>
        </p:spPr>
        <p:txBody>
          <a:bodyPr anchor="t" rtlCol="false" tIns="0" lIns="0" bIns="0" rIns="0">
            <a:spAutoFit/>
          </a:bodyPr>
          <a:lstStyle/>
          <a:p>
            <a:pPr algn="l">
              <a:lnSpc>
                <a:spcPts val="8990"/>
              </a:lnSpc>
            </a:pPr>
            <a:r>
              <a:rPr lang="en-US" sz="6421" b="true">
                <a:solidFill>
                  <a:srgbClr val="003EA8"/>
                </a:solidFill>
                <a:latin typeface="Muli Bold"/>
                <a:ea typeface="Muli Bold"/>
                <a:cs typeface="Muli Bold"/>
                <a:sym typeface="Muli Bold"/>
              </a:rPr>
              <a:t>8.</a:t>
            </a:r>
            <a:r>
              <a:rPr lang="en-US" b="true" sz="6421">
                <a:solidFill>
                  <a:srgbClr val="003EA8"/>
                </a:solidFill>
                <a:latin typeface="Muli Bold"/>
                <a:ea typeface="Muli Bold"/>
                <a:cs typeface="Muli Bold"/>
                <a:sym typeface="Muli Bold"/>
              </a:rPr>
              <a:t> Tổng kết chung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3051643" y="3284908"/>
            <a:ext cx="12184715" cy="3717185"/>
            <a:chOff x="0" y="0"/>
            <a:chExt cx="4445017" cy="1356039"/>
          </a:xfrm>
        </p:grpSpPr>
        <p:sp>
          <p:nvSpPr>
            <p:cNvPr name="Freeform 4" id="4"/>
            <p:cNvSpPr/>
            <p:nvPr/>
          </p:nvSpPr>
          <p:spPr>
            <a:xfrm flipH="false" flipV="false" rot="0">
              <a:off x="0" y="0"/>
              <a:ext cx="4445017" cy="1356039"/>
            </a:xfrm>
            <a:custGeom>
              <a:avLst/>
              <a:gdLst/>
              <a:ahLst/>
              <a:cxnLst/>
              <a:rect r="r" b="b" t="t" l="l"/>
              <a:pathLst>
                <a:path h="1356039" w="4445017">
                  <a:moveTo>
                    <a:pt x="0" y="0"/>
                  </a:moveTo>
                  <a:lnTo>
                    <a:pt x="4445017" y="0"/>
                  </a:lnTo>
                  <a:lnTo>
                    <a:pt x="4445017" y="1356039"/>
                  </a:lnTo>
                  <a:lnTo>
                    <a:pt x="0" y="1356039"/>
                  </a:lnTo>
                  <a:close/>
                </a:path>
              </a:pathLst>
            </a:custGeom>
            <a:solidFill>
              <a:srgbClr val="FFFFFF"/>
            </a:solidFill>
          </p:spPr>
        </p:sp>
      </p:grpSp>
      <p:sp>
        <p:nvSpPr>
          <p:cNvPr name="TextBox 5" id="5"/>
          <p:cNvSpPr txBox="true"/>
          <p:nvPr/>
        </p:nvSpPr>
        <p:spPr>
          <a:xfrm rot="0">
            <a:off x="-5699637" y="4498199"/>
            <a:ext cx="29687274" cy="1152934"/>
          </a:xfrm>
          <a:prstGeom prst="rect">
            <a:avLst/>
          </a:prstGeom>
        </p:spPr>
        <p:txBody>
          <a:bodyPr anchor="t" rtlCol="false" tIns="0" lIns="0" bIns="0" rIns="0">
            <a:spAutoFit/>
          </a:bodyPr>
          <a:lstStyle/>
          <a:p>
            <a:pPr algn="ctr">
              <a:lnSpc>
                <a:spcPts val="9427"/>
              </a:lnSpc>
              <a:spcBef>
                <a:spcPct val="0"/>
              </a:spcBef>
            </a:pPr>
            <a:r>
              <a:rPr lang="en-US" b="true" sz="6733" i="true">
                <a:solidFill>
                  <a:srgbClr val="000000"/>
                </a:solidFill>
                <a:latin typeface="Cabin Bold Italics"/>
                <a:ea typeface="Cabin Bold Italics"/>
                <a:cs typeface="Cabin Bold Italics"/>
                <a:sym typeface="Cabin Bold Italics"/>
              </a:rPr>
              <a:t>THANK YOU FOR LISTENING!!!</a:t>
            </a:r>
          </a:p>
        </p:txBody>
      </p:sp>
      <p:sp>
        <p:nvSpPr>
          <p:cNvPr name="Freeform 6" id="6"/>
          <p:cNvSpPr/>
          <p:nvPr/>
        </p:nvSpPr>
        <p:spPr>
          <a:xfrm flipH="true" flipV="false" rot="0">
            <a:off x="14357757" y="3833985"/>
            <a:ext cx="4405713" cy="7525286"/>
          </a:xfrm>
          <a:custGeom>
            <a:avLst/>
            <a:gdLst/>
            <a:ahLst/>
            <a:cxnLst/>
            <a:rect r="r" b="b" t="t" l="l"/>
            <a:pathLst>
              <a:path h="7525286" w="4405713">
                <a:moveTo>
                  <a:pt x="4405713" y="0"/>
                </a:moveTo>
                <a:lnTo>
                  <a:pt x="0" y="0"/>
                </a:lnTo>
                <a:lnTo>
                  <a:pt x="0" y="7525286"/>
                </a:lnTo>
                <a:lnTo>
                  <a:pt x="4405713" y="7525286"/>
                </a:lnTo>
                <a:lnTo>
                  <a:pt x="440571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278358">
            <a:off x="-349313" y="9368337"/>
            <a:ext cx="2756025" cy="866895"/>
          </a:xfrm>
          <a:custGeom>
            <a:avLst/>
            <a:gdLst/>
            <a:ahLst/>
            <a:cxnLst/>
            <a:rect r="r" b="b" t="t" l="l"/>
            <a:pathLst>
              <a:path h="866895" w="2756025">
                <a:moveTo>
                  <a:pt x="0" y="0"/>
                </a:moveTo>
                <a:lnTo>
                  <a:pt x="2756026" y="0"/>
                </a:lnTo>
                <a:lnTo>
                  <a:pt x="2756026" y="866895"/>
                </a:lnTo>
                <a:lnTo>
                  <a:pt x="0" y="8668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5301511" y="-207276"/>
            <a:ext cx="4876557" cy="1728961"/>
          </a:xfrm>
          <a:custGeom>
            <a:avLst/>
            <a:gdLst/>
            <a:ahLst/>
            <a:cxnLst/>
            <a:rect r="r" b="b" t="t" l="l"/>
            <a:pathLst>
              <a:path h="1728961" w="4876557">
                <a:moveTo>
                  <a:pt x="0" y="0"/>
                </a:moveTo>
                <a:lnTo>
                  <a:pt x="4876558" y="0"/>
                </a:lnTo>
                <a:lnTo>
                  <a:pt x="4876558" y="1728961"/>
                </a:lnTo>
                <a:lnTo>
                  <a:pt x="0" y="172896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5245" cy="1906519"/>
            <a:chOff x="0" y="0"/>
            <a:chExt cx="5999270" cy="695503"/>
          </a:xfrm>
        </p:grpSpPr>
        <p:sp>
          <p:nvSpPr>
            <p:cNvPr name="Freeform 4" id="4"/>
            <p:cNvSpPr/>
            <p:nvPr/>
          </p:nvSpPr>
          <p:spPr>
            <a:xfrm flipH="false" flipV="false" rot="0">
              <a:off x="0" y="0"/>
              <a:ext cx="5999270" cy="695503"/>
            </a:xfrm>
            <a:custGeom>
              <a:avLst/>
              <a:gdLst/>
              <a:ahLst/>
              <a:cxnLst/>
              <a:rect r="r" b="b" t="t" l="l"/>
              <a:pathLst>
                <a:path h="695503" w="5999270">
                  <a:moveTo>
                    <a:pt x="0" y="0"/>
                  </a:moveTo>
                  <a:lnTo>
                    <a:pt x="5999270" y="0"/>
                  </a:lnTo>
                  <a:lnTo>
                    <a:pt x="5999270" y="695503"/>
                  </a:lnTo>
                  <a:lnTo>
                    <a:pt x="0" y="695503"/>
                  </a:lnTo>
                  <a:close/>
                </a:path>
              </a:pathLst>
            </a:custGeom>
            <a:solidFill>
              <a:srgbClr val="FFFFFF"/>
            </a:solidFill>
          </p:spPr>
        </p:sp>
      </p:grpSp>
      <p:grpSp>
        <p:nvGrpSpPr>
          <p:cNvPr name="Group 5" id="5"/>
          <p:cNvGrpSpPr/>
          <p:nvPr/>
        </p:nvGrpSpPr>
        <p:grpSpPr>
          <a:xfrm rot="0">
            <a:off x="3483315" y="2914053"/>
            <a:ext cx="13867425" cy="1589019"/>
            <a:chOff x="0" y="0"/>
            <a:chExt cx="5058874" cy="579678"/>
          </a:xfrm>
        </p:grpSpPr>
        <p:sp>
          <p:nvSpPr>
            <p:cNvPr name="Freeform 6" id="6"/>
            <p:cNvSpPr/>
            <p:nvPr/>
          </p:nvSpPr>
          <p:spPr>
            <a:xfrm flipH="false" flipV="false" rot="0">
              <a:off x="0" y="0"/>
              <a:ext cx="5058875" cy="579678"/>
            </a:xfrm>
            <a:custGeom>
              <a:avLst/>
              <a:gdLst/>
              <a:ahLst/>
              <a:cxnLst/>
              <a:rect r="r" b="b" t="t" l="l"/>
              <a:pathLst>
                <a:path h="579678" w="5058875">
                  <a:moveTo>
                    <a:pt x="0" y="0"/>
                  </a:moveTo>
                  <a:lnTo>
                    <a:pt x="5058875" y="0"/>
                  </a:lnTo>
                  <a:lnTo>
                    <a:pt x="5058875" y="579678"/>
                  </a:lnTo>
                  <a:lnTo>
                    <a:pt x="0" y="579678"/>
                  </a:lnTo>
                  <a:close/>
                </a:path>
              </a:pathLst>
            </a:custGeom>
            <a:solidFill>
              <a:srgbClr val="FFFFFF"/>
            </a:solidFill>
          </p:spPr>
        </p:sp>
      </p:grpSp>
      <p:grpSp>
        <p:nvGrpSpPr>
          <p:cNvPr name="Group 7" id="7"/>
          <p:cNvGrpSpPr/>
          <p:nvPr/>
        </p:nvGrpSpPr>
        <p:grpSpPr>
          <a:xfrm rot="0">
            <a:off x="3483315" y="4857358"/>
            <a:ext cx="13867425" cy="1589019"/>
            <a:chOff x="0" y="0"/>
            <a:chExt cx="5058874" cy="579678"/>
          </a:xfrm>
        </p:grpSpPr>
        <p:sp>
          <p:nvSpPr>
            <p:cNvPr name="Freeform 8" id="8"/>
            <p:cNvSpPr/>
            <p:nvPr/>
          </p:nvSpPr>
          <p:spPr>
            <a:xfrm flipH="false" flipV="false" rot="0">
              <a:off x="0" y="0"/>
              <a:ext cx="5058875" cy="579678"/>
            </a:xfrm>
            <a:custGeom>
              <a:avLst/>
              <a:gdLst/>
              <a:ahLst/>
              <a:cxnLst/>
              <a:rect r="r" b="b" t="t" l="l"/>
              <a:pathLst>
                <a:path h="579678" w="5058875">
                  <a:moveTo>
                    <a:pt x="0" y="0"/>
                  </a:moveTo>
                  <a:lnTo>
                    <a:pt x="5058875" y="0"/>
                  </a:lnTo>
                  <a:lnTo>
                    <a:pt x="5058875" y="579678"/>
                  </a:lnTo>
                  <a:lnTo>
                    <a:pt x="0" y="579678"/>
                  </a:lnTo>
                  <a:close/>
                </a:path>
              </a:pathLst>
            </a:custGeom>
            <a:solidFill>
              <a:srgbClr val="FFFFFF"/>
            </a:solidFill>
          </p:spPr>
        </p:sp>
      </p:grpSp>
      <p:grpSp>
        <p:nvGrpSpPr>
          <p:cNvPr name="Group 9" id="9"/>
          <p:cNvGrpSpPr/>
          <p:nvPr/>
        </p:nvGrpSpPr>
        <p:grpSpPr>
          <a:xfrm rot="0">
            <a:off x="3483315" y="6793991"/>
            <a:ext cx="13867425" cy="1589019"/>
            <a:chOff x="0" y="0"/>
            <a:chExt cx="5058874" cy="579678"/>
          </a:xfrm>
        </p:grpSpPr>
        <p:sp>
          <p:nvSpPr>
            <p:cNvPr name="Freeform 10" id="10"/>
            <p:cNvSpPr/>
            <p:nvPr/>
          </p:nvSpPr>
          <p:spPr>
            <a:xfrm flipH="false" flipV="false" rot="0">
              <a:off x="0" y="0"/>
              <a:ext cx="5058875" cy="579678"/>
            </a:xfrm>
            <a:custGeom>
              <a:avLst/>
              <a:gdLst/>
              <a:ahLst/>
              <a:cxnLst/>
              <a:rect r="r" b="b" t="t" l="l"/>
              <a:pathLst>
                <a:path h="579678" w="5058875">
                  <a:moveTo>
                    <a:pt x="0" y="0"/>
                  </a:moveTo>
                  <a:lnTo>
                    <a:pt x="5058875" y="0"/>
                  </a:lnTo>
                  <a:lnTo>
                    <a:pt x="5058875" y="579678"/>
                  </a:lnTo>
                  <a:lnTo>
                    <a:pt x="0" y="579678"/>
                  </a:lnTo>
                  <a:close/>
                </a:path>
              </a:pathLst>
            </a:custGeom>
            <a:solidFill>
              <a:srgbClr val="FFFFFF"/>
            </a:solidFill>
          </p:spPr>
        </p:sp>
      </p:grpSp>
      <p:grpSp>
        <p:nvGrpSpPr>
          <p:cNvPr name="Group 11" id="11"/>
          <p:cNvGrpSpPr/>
          <p:nvPr/>
        </p:nvGrpSpPr>
        <p:grpSpPr>
          <a:xfrm rot="0">
            <a:off x="905495" y="2914053"/>
            <a:ext cx="1903745" cy="1589019"/>
            <a:chOff x="0" y="0"/>
            <a:chExt cx="2538326" cy="2118692"/>
          </a:xfrm>
        </p:grpSpPr>
        <p:grpSp>
          <p:nvGrpSpPr>
            <p:cNvPr name="Group 12" id="12"/>
            <p:cNvGrpSpPr/>
            <p:nvPr/>
          </p:nvGrpSpPr>
          <p:grpSpPr>
            <a:xfrm rot="0">
              <a:off x="0" y="0"/>
              <a:ext cx="2538326" cy="2118692"/>
              <a:chOff x="0" y="0"/>
              <a:chExt cx="694491" cy="579678"/>
            </a:xfrm>
          </p:grpSpPr>
          <p:sp>
            <p:nvSpPr>
              <p:cNvPr name="Freeform 13" id="13"/>
              <p:cNvSpPr/>
              <p:nvPr/>
            </p:nvSpPr>
            <p:spPr>
              <a:xfrm flipH="false" flipV="false" rot="0">
                <a:off x="0" y="0"/>
                <a:ext cx="694491" cy="579678"/>
              </a:xfrm>
              <a:custGeom>
                <a:avLst/>
                <a:gdLst/>
                <a:ahLst/>
                <a:cxnLst/>
                <a:rect r="r" b="b" t="t" l="l"/>
                <a:pathLst>
                  <a:path h="579678" w="694491">
                    <a:moveTo>
                      <a:pt x="0" y="0"/>
                    </a:moveTo>
                    <a:lnTo>
                      <a:pt x="694491" y="0"/>
                    </a:lnTo>
                    <a:lnTo>
                      <a:pt x="694491" y="579678"/>
                    </a:lnTo>
                    <a:lnTo>
                      <a:pt x="0" y="579678"/>
                    </a:lnTo>
                    <a:close/>
                  </a:path>
                </a:pathLst>
              </a:custGeom>
              <a:solidFill>
                <a:srgbClr val="FFFFFF"/>
              </a:solidFill>
            </p:spPr>
          </p:sp>
        </p:grpSp>
        <p:sp>
          <p:nvSpPr>
            <p:cNvPr name="Freeform 14" id="14"/>
            <p:cNvSpPr/>
            <p:nvPr/>
          </p:nvSpPr>
          <p:spPr>
            <a:xfrm flipH="false" flipV="false" rot="0">
              <a:off x="651649" y="248767"/>
              <a:ext cx="1235028" cy="1621159"/>
            </a:xfrm>
            <a:custGeom>
              <a:avLst/>
              <a:gdLst/>
              <a:ahLst/>
              <a:cxnLst/>
              <a:rect r="r" b="b" t="t" l="l"/>
              <a:pathLst>
                <a:path h="1621159" w="1235028">
                  <a:moveTo>
                    <a:pt x="0" y="0"/>
                  </a:moveTo>
                  <a:lnTo>
                    <a:pt x="1235028" y="0"/>
                  </a:lnTo>
                  <a:lnTo>
                    <a:pt x="1235028" y="1621158"/>
                  </a:lnTo>
                  <a:lnTo>
                    <a:pt x="0" y="1621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15" id="15"/>
          <p:cNvGrpSpPr/>
          <p:nvPr/>
        </p:nvGrpSpPr>
        <p:grpSpPr>
          <a:xfrm rot="0">
            <a:off x="905495" y="4857358"/>
            <a:ext cx="1903745" cy="1589019"/>
            <a:chOff x="0" y="0"/>
            <a:chExt cx="2538326" cy="2118692"/>
          </a:xfrm>
        </p:grpSpPr>
        <p:grpSp>
          <p:nvGrpSpPr>
            <p:cNvPr name="Group 16" id="16"/>
            <p:cNvGrpSpPr/>
            <p:nvPr/>
          </p:nvGrpSpPr>
          <p:grpSpPr>
            <a:xfrm rot="0">
              <a:off x="0" y="0"/>
              <a:ext cx="2538326" cy="2118692"/>
              <a:chOff x="0" y="0"/>
              <a:chExt cx="694491" cy="579678"/>
            </a:xfrm>
          </p:grpSpPr>
          <p:sp>
            <p:nvSpPr>
              <p:cNvPr name="Freeform 17" id="17"/>
              <p:cNvSpPr/>
              <p:nvPr/>
            </p:nvSpPr>
            <p:spPr>
              <a:xfrm flipH="false" flipV="false" rot="0">
                <a:off x="0" y="0"/>
                <a:ext cx="694491" cy="579678"/>
              </a:xfrm>
              <a:custGeom>
                <a:avLst/>
                <a:gdLst/>
                <a:ahLst/>
                <a:cxnLst/>
                <a:rect r="r" b="b" t="t" l="l"/>
                <a:pathLst>
                  <a:path h="579678" w="694491">
                    <a:moveTo>
                      <a:pt x="0" y="0"/>
                    </a:moveTo>
                    <a:lnTo>
                      <a:pt x="694491" y="0"/>
                    </a:lnTo>
                    <a:lnTo>
                      <a:pt x="694491" y="579678"/>
                    </a:lnTo>
                    <a:lnTo>
                      <a:pt x="0" y="579678"/>
                    </a:lnTo>
                    <a:close/>
                  </a:path>
                </a:pathLst>
              </a:custGeom>
              <a:solidFill>
                <a:srgbClr val="FFFFFF"/>
              </a:solidFill>
            </p:spPr>
          </p:sp>
        </p:grpSp>
        <p:sp>
          <p:nvSpPr>
            <p:cNvPr name="Freeform 18" id="18"/>
            <p:cNvSpPr/>
            <p:nvPr/>
          </p:nvSpPr>
          <p:spPr>
            <a:xfrm flipH="false" flipV="false" rot="0">
              <a:off x="495450" y="260744"/>
              <a:ext cx="1547426" cy="1516477"/>
            </a:xfrm>
            <a:custGeom>
              <a:avLst/>
              <a:gdLst/>
              <a:ahLst/>
              <a:cxnLst/>
              <a:rect r="r" b="b" t="t" l="l"/>
              <a:pathLst>
                <a:path h="1516477" w="1547426">
                  <a:moveTo>
                    <a:pt x="0" y="0"/>
                  </a:moveTo>
                  <a:lnTo>
                    <a:pt x="1547426" y="0"/>
                  </a:lnTo>
                  <a:lnTo>
                    <a:pt x="1547426" y="1516477"/>
                  </a:lnTo>
                  <a:lnTo>
                    <a:pt x="0" y="15164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9" id="19"/>
          <p:cNvGrpSpPr/>
          <p:nvPr/>
        </p:nvGrpSpPr>
        <p:grpSpPr>
          <a:xfrm rot="0">
            <a:off x="905495" y="6793991"/>
            <a:ext cx="1903745" cy="1589019"/>
            <a:chOff x="0" y="0"/>
            <a:chExt cx="2538326" cy="2118692"/>
          </a:xfrm>
        </p:grpSpPr>
        <p:grpSp>
          <p:nvGrpSpPr>
            <p:cNvPr name="Group 20" id="20"/>
            <p:cNvGrpSpPr/>
            <p:nvPr/>
          </p:nvGrpSpPr>
          <p:grpSpPr>
            <a:xfrm rot="0">
              <a:off x="0" y="0"/>
              <a:ext cx="2538326" cy="2118692"/>
              <a:chOff x="0" y="0"/>
              <a:chExt cx="694491" cy="579678"/>
            </a:xfrm>
          </p:grpSpPr>
          <p:sp>
            <p:nvSpPr>
              <p:cNvPr name="Freeform 21" id="21"/>
              <p:cNvSpPr/>
              <p:nvPr/>
            </p:nvSpPr>
            <p:spPr>
              <a:xfrm flipH="false" flipV="false" rot="0">
                <a:off x="0" y="0"/>
                <a:ext cx="694491" cy="579678"/>
              </a:xfrm>
              <a:custGeom>
                <a:avLst/>
                <a:gdLst/>
                <a:ahLst/>
                <a:cxnLst/>
                <a:rect r="r" b="b" t="t" l="l"/>
                <a:pathLst>
                  <a:path h="579678" w="694491">
                    <a:moveTo>
                      <a:pt x="0" y="0"/>
                    </a:moveTo>
                    <a:lnTo>
                      <a:pt x="694491" y="0"/>
                    </a:lnTo>
                    <a:lnTo>
                      <a:pt x="694491" y="579678"/>
                    </a:lnTo>
                    <a:lnTo>
                      <a:pt x="0" y="579678"/>
                    </a:lnTo>
                    <a:close/>
                  </a:path>
                </a:pathLst>
              </a:custGeom>
              <a:solidFill>
                <a:srgbClr val="FFFFFF"/>
              </a:solidFill>
            </p:spPr>
          </p:sp>
        </p:grpSp>
        <p:sp>
          <p:nvSpPr>
            <p:cNvPr name="Freeform 22" id="22"/>
            <p:cNvSpPr/>
            <p:nvPr/>
          </p:nvSpPr>
          <p:spPr>
            <a:xfrm flipH="false" flipV="false" rot="0">
              <a:off x="815669" y="319785"/>
              <a:ext cx="986978" cy="1479123"/>
            </a:xfrm>
            <a:custGeom>
              <a:avLst/>
              <a:gdLst/>
              <a:ahLst/>
              <a:cxnLst/>
              <a:rect r="r" b="b" t="t" l="l"/>
              <a:pathLst>
                <a:path h="1479123" w="986978">
                  <a:moveTo>
                    <a:pt x="0" y="0"/>
                  </a:moveTo>
                  <a:lnTo>
                    <a:pt x="986979" y="0"/>
                  </a:lnTo>
                  <a:lnTo>
                    <a:pt x="986979" y="1479122"/>
                  </a:lnTo>
                  <a:lnTo>
                    <a:pt x="0" y="14791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Freeform 23" id="23"/>
          <p:cNvSpPr/>
          <p:nvPr/>
        </p:nvSpPr>
        <p:spPr>
          <a:xfrm flipH="true" flipV="false" rot="0">
            <a:off x="14232334" y="3708562"/>
            <a:ext cx="4405713" cy="7525286"/>
          </a:xfrm>
          <a:custGeom>
            <a:avLst/>
            <a:gdLst/>
            <a:ahLst/>
            <a:cxnLst/>
            <a:rect r="r" b="b" t="t" l="l"/>
            <a:pathLst>
              <a:path h="7525286" w="4405713">
                <a:moveTo>
                  <a:pt x="4405713" y="0"/>
                </a:moveTo>
                <a:lnTo>
                  <a:pt x="0" y="0"/>
                </a:lnTo>
                <a:lnTo>
                  <a:pt x="0" y="7525287"/>
                </a:lnTo>
                <a:lnTo>
                  <a:pt x="4405713" y="7525287"/>
                </a:lnTo>
                <a:lnTo>
                  <a:pt x="4405713"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4" id="24"/>
          <p:cNvSpPr txBox="true"/>
          <p:nvPr/>
        </p:nvSpPr>
        <p:spPr>
          <a:xfrm rot="0">
            <a:off x="3961525" y="924697"/>
            <a:ext cx="10364949"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Các Kênh</a:t>
            </a:r>
          </a:p>
        </p:txBody>
      </p:sp>
      <p:grpSp>
        <p:nvGrpSpPr>
          <p:cNvPr name="Group 25" id="25"/>
          <p:cNvGrpSpPr/>
          <p:nvPr/>
        </p:nvGrpSpPr>
        <p:grpSpPr>
          <a:xfrm rot="0">
            <a:off x="3859018" y="3263683"/>
            <a:ext cx="10152508" cy="959610"/>
            <a:chOff x="0" y="0"/>
            <a:chExt cx="13536677" cy="1279479"/>
          </a:xfrm>
        </p:grpSpPr>
        <p:sp>
          <p:nvSpPr>
            <p:cNvPr name="TextBox 26" id="26"/>
            <p:cNvSpPr txBox="true"/>
            <p:nvPr/>
          </p:nvSpPr>
          <p:spPr>
            <a:xfrm rot="0">
              <a:off x="0" y="-28575"/>
              <a:ext cx="13536677" cy="731308"/>
            </a:xfrm>
            <a:prstGeom prst="rect">
              <a:avLst/>
            </a:prstGeom>
          </p:spPr>
          <p:txBody>
            <a:bodyPr anchor="t" rtlCol="false" tIns="0" lIns="0" bIns="0" rIns="0">
              <a:spAutoFit/>
            </a:bodyPr>
            <a:lstStyle/>
            <a:p>
              <a:pPr algn="l">
                <a:lnSpc>
                  <a:spcPts val="4550"/>
                </a:lnSpc>
              </a:pPr>
              <a:r>
                <a:rPr lang="en-US" b="true" sz="3500">
                  <a:solidFill>
                    <a:srgbClr val="003EA8"/>
                  </a:solidFill>
                  <a:latin typeface="Muli Ultra-Bold"/>
                  <a:ea typeface="Muli Ultra-Bold"/>
                  <a:cs typeface="Muli Ultra-Bold"/>
                  <a:sym typeface="Muli Ultra-Bold"/>
                </a:rPr>
                <a:t>Kênh Tiếp thị 1</a:t>
              </a:r>
            </a:p>
          </p:txBody>
        </p:sp>
        <p:sp>
          <p:nvSpPr>
            <p:cNvPr name="TextBox 27" id="27"/>
            <p:cNvSpPr txBox="true"/>
            <p:nvPr/>
          </p:nvSpPr>
          <p:spPr>
            <a:xfrm rot="0">
              <a:off x="0" y="815083"/>
              <a:ext cx="13536677" cy="472440"/>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Cabin"/>
                  <a:ea typeface="Cabin"/>
                  <a:cs typeface="Cabin"/>
                  <a:sym typeface="Cabin"/>
                </a:rPr>
                <a:t>Bạn sẽ tiếp cận khách hàng mục tiêu như thế nào?</a:t>
              </a:r>
            </a:p>
          </p:txBody>
        </p:sp>
      </p:grpSp>
      <p:grpSp>
        <p:nvGrpSpPr>
          <p:cNvPr name="Group 28" id="28"/>
          <p:cNvGrpSpPr/>
          <p:nvPr/>
        </p:nvGrpSpPr>
        <p:grpSpPr>
          <a:xfrm rot="0">
            <a:off x="3859018" y="5206987"/>
            <a:ext cx="10152508" cy="959610"/>
            <a:chOff x="0" y="0"/>
            <a:chExt cx="13536677" cy="1279479"/>
          </a:xfrm>
        </p:grpSpPr>
        <p:sp>
          <p:nvSpPr>
            <p:cNvPr name="TextBox 29" id="29"/>
            <p:cNvSpPr txBox="true"/>
            <p:nvPr/>
          </p:nvSpPr>
          <p:spPr>
            <a:xfrm rot="0">
              <a:off x="0" y="-28575"/>
              <a:ext cx="13536677" cy="731308"/>
            </a:xfrm>
            <a:prstGeom prst="rect">
              <a:avLst/>
            </a:prstGeom>
          </p:spPr>
          <p:txBody>
            <a:bodyPr anchor="t" rtlCol="false" tIns="0" lIns="0" bIns="0" rIns="0">
              <a:spAutoFit/>
            </a:bodyPr>
            <a:lstStyle/>
            <a:p>
              <a:pPr algn="l">
                <a:lnSpc>
                  <a:spcPts val="4550"/>
                </a:lnSpc>
              </a:pPr>
              <a:r>
                <a:rPr lang="en-US" b="true" sz="3500">
                  <a:solidFill>
                    <a:srgbClr val="003EA8"/>
                  </a:solidFill>
                  <a:latin typeface="Muli Ultra-Bold"/>
                  <a:ea typeface="Muli Ultra-Bold"/>
                  <a:cs typeface="Muli Ultra-Bold"/>
                  <a:sym typeface="Muli Ultra-Bold"/>
                </a:rPr>
                <a:t>Kênh Tiếp thị 2</a:t>
              </a:r>
            </a:p>
          </p:txBody>
        </p:sp>
        <p:sp>
          <p:nvSpPr>
            <p:cNvPr name="TextBox 30" id="30"/>
            <p:cNvSpPr txBox="true"/>
            <p:nvPr/>
          </p:nvSpPr>
          <p:spPr>
            <a:xfrm rot="0">
              <a:off x="0" y="815083"/>
              <a:ext cx="13536677" cy="472440"/>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Cabin"/>
                  <a:ea typeface="Cabin"/>
                  <a:cs typeface="Cabin"/>
                  <a:sym typeface="Cabin"/>
                </a:rPr>
                <a:t>Bạn sẽ tiếp cận khách hàng mục tiêu như thế nào?</a:t>
              </a:r>
            </a:p>
          </p:txBody>
        </p:sp>
      </p:grpSp>
      <p:grpSp>
        <p:nvGrpSpPr>
          <p:cNvPr name="Group 31" id="31"/>
          <p:cNvGrpSpPr/>
          <p:nvPr/>
        </p:nvGrpSpPr>
        <p:grpSpPr>
          <a:xfrm rot="0">
            <a:off x="3859018" y="7143620"/>
            <a:ext cx="10152508" cy="959610"/>
            <a:chOff x="0" y="0"/>
            <a:chExt cx="13536677" cy="1279479"/>
          </a:xfrm>
        </p:grpSpPr>
        <p:sp>
          <p:nvSpPr>
            <p:cNvPr name="TextBox 32" id="32"/>
            <p:cNvSpPr txBox="true"/>
            <p:nvPr/>
          </p:nvSpPr>
          <p:spPr>
            <a:xfrm rot="0">
              <a:off x="0" y="-28575"/>
              <a:ext cx="13536677" cy="731308"/>
            </a:xfrm>
            <a:prstGeom prst="rect">
              <a:avLst/>
            </a:prstGeom>
          </p:spPr>
          <p:txBody>
            <a:bodyPr anchor="t" rtlCol="false" tIns="0" lIns="0" bIns="0" rIns="0">
              <a:spAutoFit/>
            </a:bodyPr>
            <a:lstStyle/>
            <a:p>
              <a:pPr algn="l">
                <a:lnSpc>
                  <a:spcPts val="4550"/>
                </a:lnSpc>
              </a:pPr>
              <a:r>
                <a:rPr lang="en-US" b="true" sz="3500">
                  <a:solidFill>
                    <a:srgbClr val="003EA8"/>
                  </a:solidFill>
                  <a:latin typeface="Muli Ultra-Bold"/>
                  <a:ea typeface="Muli Ultra-Bold"/>
                  <a:cs typeface="Muli Ultra-Bold"/>
                  <a:sym typeface="Muli Ultra-Bold"/>
                </a:rPr>
                <a:t>Kênh Tiếp thị 3</a:t>
              </a:r>
            </a:p>
          </p:txBody>
        </p:sp>
        <p:sp>
          <p:nvSpPr>
            <p:cNvPr name="TextBox 33" id="33"/>
            <p:cNvSpPr txBox="true"/>
            <p:nvPr/>
          </p:nvSpPr>
          <p:spPr>
            <a:xfrm rot="0">
              <a:off x="0" y="815083"/>
              <a:ext cx="13536677" cy="472440"/>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Cabin"/>
                  <a:ea typeface="Cabin"/>
                  <a:cs typeface="Cabin"/>
                  <a:sym typeface="Cabin"/>
                </a:rPr>
                <a:t>Bạn sẽ tiếp cận khách hàng mục tiêu như thế nào?</a:t>
              </a:r>
            </a:p>
          </p:txBody>
        </p:sp>
      </p:grpSp>
      <p:grpSp>
        <p:nvGrpSpPr>
          <p:cNvPr name="Group 34" id="34"/>
          <p:cNvGrpSpPr/>
          <p:nvPr/>
        </p:nvGrpSpPr>
        <p:grpSpPr>
          <a:xfrm rot="0">
            <a:off x="895970" y="9044945"/>
            <a:ext cx="3539104" cy="617207"/>
            <a:chOff x="0" y="0"/>
            <a:chExt cx="4718805" cy="822943"/>
          </a:xfrm>
        </p:grpSpPr>
        <p:grpSp>
          <p:nvGrpSpPr>
            <p:cNvPr name="Group 35" id="35"/>
            <p:cNvGrpSpPr/>
            <p:nvPr/>
          </p:nvGrpSpPr>
          <p:grpSpPr>
            <a:xfrm rot="0">
              <a:off x="0" y="0"/>
              <a:ext cx="4718805" cy="822943"/>
              <a:chOff x="0" y="0"/>
              <a:chExt cx="1291075" cy="225159"/>
            </a:xfrm>
          </p:grpSpPr>
          <p:sp>
            <p:nvSpPr>
              <p:cNvPr name="Freeform 36" id="36"/>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37" id="37"/>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11" action="ppaction://hlinksldjump"/>
                </a:rPr>
                <a:t>Quay lại Trang Chương trình</a:t>
              </a:r>
            </a:p>
          </p:txBody>
        </p:sp>
      </p:grpSp>
      <p:sp>
        <p:nvSpPr>
          <p:cNvPr name="Freeform 38" id="38"/>
          <p:cNvSpPr/>
          <p:nvPr/>
        </p:nvSpPr>
        <p:spPr>
          <a:xfrm flipH="false" flipV="false" rot="0">
            <a:off x="-1276562" y="-156776"/>
            <a:ext cx="6732164" cy="1627960"/>
          </a:xfrm>
          <a:custGeom>
            <a:avLst/>
            <a:gdLst/>
            <a:ahLst/>
            <a:cxnLst/>
            <a:rect r="r" b="b" t="t" l="l"/>
            <a:pathLst>
              <a:path h="1627960" w="6732164">
                <a:moveTo>
                  <a:pt x="0" y="0"/>
                </a:moveTo>
                <a:lnTo>
                  <a:pt x="6732164" y="0"/>
                </a:lnTo>
                <a:lnTo>
                  <a:pt x="6732164" y="1627960"/>
                </a:lnTo>
                <a:lnTo>
                  <a:pt x="0" y="16279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false" flipV="false" rot="0">
            <a:off x="463879" y="-156776"/>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0" id="40"/>
          <p:cNvSpPr/>
          <p:nvPr/>
        </p:nvSpPr>
        <p:spPr>
          <a:xfrm flipH="false" flipV="false" rot="0">
            <a:off x="14011526" y="8735435"/>
            <a:ext cx="441616" cy="633141"/>
          </a:xfrm>
          <a:custGeom>
            <a:avLst/>
            <a:gdLst/>
            <a:ahLst/>
            <a:cxnLst/>
            <a:rect r="r" b="b" t="t" l="l"/>
            <a:pathLst>
              <a:path h="633141" w="441616">
                <a:moveTo>
                  <a:pt x="0" y="0"/>
                </a:moveTo>
                <a:lnTo>
                  <a:pt x="441616" y="0"/>
                </a:lnTo>
                <a:lnTo>
                  <a:pt x="441616" y="633140"/>
                </a:lnTo>
                <a:lnTo>
                  <a:pt x="0" y="63314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aphicFrame>
        <p:nvGraphicFramePr>
          <p:cNvPr name="Table 3" id="3"/>
          <p:cNvGraphicFramePr>
            <a:graphicFrameLocks noGrp="true"/>
          </p:cNvGraphicFramePr>
          <p:nvPr/>
        </p:nvGraphicFramePr>
        <p:xfrm>
          <a:off x="895350" y="667144"/>
          <a:ext cx="16452850" cy="7718876"/>
        </p:xfrm>
        <a:graphic>
          <a:graphicData uri="http://schemas.openxmlformats.org/drawingml/2006/table">
            <a:tbl>
              <a:tblPr/>
              <a:tblGrid>
                <a:gridCol w="4196050"/>
                <a:gridCol w="4214603"/>
                <a:gridCol w="3862178"/>
                <a:gridCol w="4180020"/>
              </a:tblGrid>
              <a:tr h="2284971">
                <a:tc>
                  <a:txBody>
                    <a:bodyPr anchor="t" rtlCol="false"/>
                    <a:lstStyle/>
                    <a:p>
                      <a:pPr algn="ctr">
                        <a:lnSpc>
                          <a:spcPts val="4200"/>
                        </a:lnSpc>
                        <a:defRPr/>
                      </a:pPr>
                      <a:r>
                        <a:rPr lang="en-US" sz="3000" b="true">
                          <a:solidFill>
                            <a:srgbClr val="003EA8"/>
                          </a:solidFill>
                          <a:latin typeface="Muli Ultra-Bold"/>
                          <a:ea typeface="Muli Ultra-Bold"/>
                          <a:cs typeface="Muli Ultra-Bold"/>
                          <a:sym typeface="Muli Ultra-Bold"/>
                        </a:rPr>
                        <a:t>S</a:t>
                      </a:r>
                      <a:endParaRPr lang="en-US" sz="1100"/>
                    </a:p>
                    <a:p>
                      <a:pPr algn="ctr">
                        <a:lnSpc>
                          <a:spcPts val="4200"/>
                        </a:lnSpc>
                      </a:pPr>
                      <a:r>
                        <a:rPr lang="en-US" sz="3000" b="true">
                          <a:solidFill>
                            <a:srgbClr val="003EA8"/>
                          </a:solidFill>
                          <a:latin typeface="Muli Ultra-Bold"/>
                          <a:ea typeface="Muli Ultra-Bold"/>
                          <a:cs typeface="Muli Ultra-Bold"/>
                          <a:sym typeface="Muli Ultra-Bold"/>
                        </a:rPr>
                        <a:t>(Điểm mạnh)</a:t>
                      </a:r>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4200"/>
                        </a:lnSpc>
                        <a:defRPr/>
                      </a:pPr>
                      <a:r>
                        <a:rPr lang="en-US" sz="3000" b="true">
                          <a:solidFill>
                            <a:srgbClr val="003EA8"/>
                          </a:solidFill>
                          <a:latin typeface="Muli Ultra-Bold"/>
                          <a:ea typeface="Muli Ultra-Bold"/>
                          <a:cs typeface="Muli Ultra-Bold"/>
                          <a:sym typeface="Muli Ultra-Bold"/>
                        </a:rPr>
                        <a:t>W</a:t>
                      </a:r>
                      <a:endParaRPr lang="en-US" sz="1100"/>
                    </a:p>
                    <a:p>
                      <a:pPr algn="ctr">
                        <a:lnSpc>
                          <a:spcPts val="4200"/>
                        </a:lnSpc>
                      </a:pPr>
                      <a:r>
                        <a:rPr lang="en-US" sz="3000" b="true">
                          <a:solidFill>
                            <a:srgbClr val="003EA8"/>
                          </a:solidFill>
                          <a:latin typeface="Muli Ultra-Bold"/>
                          <a:ea typeface="Muli Ultra-Bold"/>
                          <a:cs typeface="Muli Ultra-Bold"/>
                          <a:sym typeface="Muli Ultra-Bold"/>
                        </a:rPr>
                        <a:t>(Điểm yếu)</a:t>
                      </a:r>
                    </a:p>
                  </a:txBody>
                  <a:tcPr marL="190500" marR="190500" marT="190500" marB="190500" anchor="ctr">
                    <a:lnL cmpd="sng" algn="ctr" cap="flat" w="1905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4200"/>
                        </a:lnSpc>
                        <a:defRPr/>
                      </a:pPr>
                      <a:r>
                        <a:rPr lang="en-US" sz="3000" b="true">
                          <a:solidFill>
                            <a:srgbClr val="003EA8"/>
                          </a:solidFill>
                          <a:latin typeface="Muli Ultra-Bold"/>
                          <a:ea typeface="Muli Ultra-Bold"/>
                          <a:cs typeface="Muli Ultra-Bold"/>
                          <a:sym typeface="Muli Ultra-Bold"/>
                        </a:rPr>
                        <a:t>O</a:t>
                      </a:r>
                      <a:endParaRPr lang="en-US" sz="1100"/>
                    </a:p>
                    <a:p>
                      <a:pPr algn="ctr">
                        <a:lnSpc>
                          <a:spcPts val="4200"/>
                        </a:lnSpc>
                      </a:pPr>
                      <a:r>
                        <a:rPr lang="en-US" sz="3000" b="true">
                          <a:solidFill>
                            <a:srgbClr val="003EA8"/>
                          </a:solidFill>
                          <a:latin typeface="Muli Ultra-Bold"/>
                          <a:ea typeface="Muli Ultra-Bold"/>
                          <a:cs typeface="Muli Ultra-Bold"/>
                          <a:sym typeface="Muli Ultra-Bold"/>
                        </a:rPr>
                        <a:t>(Cơ hội)</a:t>
                      </a:r>
                    </a:p>
                  </a:txBody>
                  <a:tcPr marL="190500" marR="190500" marT="190500" marB="190500" anchor="ctr">
                    <a:lnL cmpd="sng" algn="ctr" cap="flat" w="1905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c>
                  <a:txBody>
                    <a:bodyPr anchor="t" rtlCol="false"/>
                    <a:lstStyle/>
                    <a:p>
                      <a:pPr algn="ctr">
                        <a:lnSpc>
                          <a:spcPts val="4200"/>
                        </a:lnSpc>
                        <a:defRPr/>
                      </a:pPr>
                      <a:r>
                        <a:rPr lang="en-US" sz="3000" b="true">
                          <a:solidFill>
                            <a:srgbClr val="003EA8"/>
                          </a:solidFill>
                          <a:latin typeface="Muli Ultra-Bold"/>
                          <a:ea typeface="Muli Ultra-Bold"/>
                          <a:cs typeface="Muli Ultra-Bold"/>
                          <a:sym typeface="Muli Ultra-Bold"/>
                        </a:rPr>
                        <a:t>T</a:t>
                      </a:r>
                      <a:endParaRPr lang="en-US" sz="1100"/>
                    </a:p>
                    <a:p>
                      <a:pPr algn="ctr">
                        <a:lnSpc>
                          <a:spcPts val="4200"/>
                        </a:lnSpc>
                      </a:pPr>
                      <a:r>
                        <a:rPr lang="en-US" sz="3000" b="true">
                          <a:solidFill>
                            <a:srgbClr val="003EA8"/>
                          </a:solidFill>
                          <a:latin typeface="Muli Ultra-Bold"/>
                          <a:ea typeface="Muli Ultra-Bold"/>
                          <a:cs typeface="Muli Ultra-Bold"/>
                          <a:sym typeface="Muli Ultra-Bold"/>
                        </a:rPr>
                        <a:t>(Thách thức)</a:t>
                      </a:r>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19050">
                      <a:solidFill>
                        <a:srgbClr val="CCCCCC"/>
                      </a:solidFill>
                      <a:prstDash val="solid"/>
                      <a:round/>
                      <a:headEnd type="none" w="med" len="med"/>
                      <a:tailEnd type="none" w="med" len="med"/>
                    </a:lnB>
                    <a:solidFill>
                      <a:srgbClr val="FFFFFF"/>
                    </a:solidFill>
                  </a:tcPr>
                </a:tc>
              </a:tr>
              <a:tr h="5433905">
                <a:tc>
                  <a:txBody>
                    <a:bodyPr anchor="t" rtlCol="false"/>
                    <a:lstStyle/>
                    <a:p>
                      <a:pPr algn="l" marL="474979" indent="-237490" lvl="1">
                        <a:lnSpc>
                          <a:spcPts val="3079"/>
                        </a:lnSpc>
                        <a:buFont typeface="Arial"/>
                        <a:buChar char="•"/>
                        <a:defRPr/>
                      </a:pPr>
                      <a:r>
                        <a:rPr lang="en-US" sz="2199">
                          <a:solidFill>
                            <a:srgbClr val="000000"/>
                          </a:solidFill>
                          <a:latin typeface="Cabin"/>
                          <a:ea typeface="Cabin"/>
                          <a:cs typeface="Cabin"/>
                          <a:sym typeface="Cabin"/>
                        </a:rPr>
                        <a:t>Công ty của bạn có những giá trị độc nhất nào mà các đối thủ không có?</a:t>
                      </a:r>
                      <a:endParaRPr lang="en-US" sz="1100"/>
                    </a:p>
                    <a:p>
                      <a:pPr algn="l">
                        <a:lnSpc>
                          <a:spcPts val="3079"/>
                        </a:lnSpc>
                      </a:pPr>
                    </a:p>
                    <a:p>
                      <a:pPr algn="l" marL="474979" indent="-237490" lvl="1">
                        <a:lnSpc>
                          <a:spcPts val="3079"/>
                        </a:lnSpc>
                        <a:buFont typeface="Arial"/>
                        <a:buChar char="•"/>
                      </a:pPr>
                      <a:r>
                        <a:rPr lang="en-US" sz="2199">
                          <a:solidFill>
                            <a:srgbClr val="000000"/>
                          </a:solidFill>
                          <a:latin typeface="Cabin"/>
                          <a:ea typeface="Cabin"/>
                          <a:cs typeface="Cabin"/>
                          <a:sym typeface="Cabin"/>
                        </a:rPr>
                        <a:t>Những ưu điểm mạnh nhất của công ty bạn là gì?</a:t>
                      </a:r>
                    </a:p>
                  </a:txBody>
                  <a:tcPr marL="190500" marR="190500" marT="190500" marB="190500" anchor="ctr">
                    <a:lnL cmpd="sng" algn="ctr" cap="flat" w="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marL="474979" indent="-237490" lvl="1">
                        <a:lnSpc>
                          <a:spcPts val="3079"/>
                        </a:lnSpc>
                        <a:buFont typeface="Arial"/>
                        <a:buChar char="•"/>
                        <a:defRPr/>
                      </a:pPr>
                      <a:r>
                        <a:rPr lang="en-US" sz="2199">
                          <a:solidFill>
                            <a:srgbClr val="000000"/>
                          </a:solidFill>
                          <a:latin typeface="Cabin"/>
                          <a:ea typeface="Cabin"/>
                          <a:cs typeface="Cabin"/>
                          <a:sym typeface="Cabin"/>
                        </a:rPr>
                        <a:t>Những yếu tố nội bộ nào có thể tác động đến công ty?</a:t>
                      </a:r>
                      <a:endParaRPr lang="en-US" sz="1100"/>
                    </a:p>
                    <a:p>
                      <a:pPr algn="l">
                        <a:lnSpc>
                          <a:spcPts val="3079"/>
                        </a:lnSpc>
                      </a:pPr>
                    </a:p>
                    <a:p>
                      <a:pPr algn="l" marL="474979" indent="-237490" lvl="1">
                        <a:lnSpc>
                          <a:spcPts val="3079"/>
                        </a:lnSpc>
                        <a:buFont typeface="Arial"/>
                        <a:buChar char="•"/>
                      </a:pPr>
                      <a:r>
                        <a:rPr lang="en-US" sz="2199">
                          <a:solidFill>
                            <a:srgbClr val="000000"/>
                          </a:solidFill>
                          <a:latin typeface="Cabin"/>
                          <a:ea typeface="Cabin"/>
                          <a:cs typeface="Cabin"/>
                          <a:sym typeface="Cabin"/>
                        </a:rPr>
                        <a:t>Những lĩnh vực nào công ty cần củng cố?</a:t>
                      </a:r>
                    </a:p>
                  </a:txBody>
                  <a:tcPr marL="190500" marR="190500" marT="190500" marB="190500" anchor="ctr">
                    <a:lnL cmpd="sng" algn="ctr" cap="flat" w="1905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marL="474979" indent="-237490" lvl="1">
                        <a:lnSpc>
                          <a:spcPts val="3079"/>
                        </a:lnSpc>
                        <a:buFont typeface="Arial"/>
                        <a:buChar char="•"/>
                        <a:defRPr/>
                      </a:pPr>
                      <a:r>
                        <a:rPr lang="en-US" sz="2199">
                          <a:solidFill>
                            <a:srgbClr val="000000"/>
                          </a:solidFill>
                          <a:latin typeface="Cabin"/>
                          <a:ea typeface="Cabin"/>
                          <a:cs typeface="Cabin"/>
                          <a:sym typeface="Cabin"/>
                        </a:rPr>
                        <a:t>Công ty bạn có thể khai thác công nghệ mới nào?</a:t>
                      </a:r>
                      <a:endParaRPr lang="en-US" sz="1100"/>
                    </a:p>
                    <a:p>
                      <a:pPr algn="l">
                        <a:lnSpc>
                          <a:spcPts val="3079"/>
                        </a:lnSpc>
                      </a:pPr>
                    </a:p>
                    <a:p>
                      <a:pPr algn="l" marL="474979" indent="-237490" lvl="1">
                        <a:lnSpc>
                          <a:spcPts val="3079"/>
                        </a:lnSpc>
                        <a:buFont typeface="Arial"/>
                        <a:buChar char="•"/>
                      </a:pPr>
                      <a:r>
                        <a:rPr lang="en-US" sz="2199">
                          <a:solidFill>
                            <a:srgbClr val="000000"/>
                          </a:solidFill>
                          <a:latin typeface="Cabin"/>
                          <a:ea typeface="Cabin"/>
                          <a:cs typeface="Cabin"/>
                          <a:sym typeface="Cabin"/>
                        </a:rPr>
                        <a:t>Công ty bạn có thể đáp ứng những xu hướng và nhu cầu nào của thị trường?</a:t>
                      </a:r>
                    </a:p>
                  </a:txBody>
                  <a:tcPr marL="190500" marR="190500" marT="190500" marB="190500" anchor="ctr">
                    <a:lnL cmpd="sng" algn="ctr" cap="flat" w="19050">
                      <a:solidFill>
                        <a:srgbClr val="CCCCCC"/>
                      </a:solidFill>
                      <a:prstDash val="solid"/>
                      <a:round/>
                      <a:headEnd type="none" w="med" len="med"/>
                      <a:tailEnd type="none" w="med" len="med"/>
                    </a:lnL>
                    <a:lnR cmpd="sng" algn="ctr" cap="flat" w="1905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l" marL="474981" indent="-237491" lvl="1">
                        <a:lnSpc>
                          <a:spcPts val="3080"/>
                        </a:lnSpc>
                        <a:buFont typeface="Arial"/>
                        <a:buChar char="•"/>
                        <a:defRPr/>
                      </a:pPr>
                      <a:r>
                        <a:rPr lang="en-US" sz="2200">
                          <a:solidFill>
                            <a:srgbClr val="000000"/>
                          </a:solidFill>
                          <a:latin typeface="Cabin"/>
                          <a:ea typeface="Cabin"/>
                          <a:cs typeface="Cabin"/>
                          <a:sym typeface="Cabin"/>
                        </a:rPr>
                        <a:t>Các yếu tố bên ngoài nào có thể tác động đến doanh nghiệp của bạn?</a:t>
                      </a:r>
                      <a:endParaRPr lang="en-US" sz="1100"/>
                    </a:p>
                    <a:p>
                      <a:pPr algn="l">
                        <a:lnSpc>
                          <a:spcPts val="3080"/>
                        </a:lnSpc>
                      </a:pPr>
                    </a:p>
                    <a:p>
                      <a:pPr algn="l" marL="474981" indent="-237491" lvl="1">
                        <a:lnSpc>
                          <a:spcPts val="3080"/>
                        </a:lnSpc>
                        <a:buFont typeface="Arial"/>
                        <a:buChar char="•"/>
                      </a:pPr>
                      <a:r>
                        <a:rPr lang="en-US" sz="2200">
                          <a:solidFill>
                            <a:srgbClr val="000000"/>
                          </a:solidFill>
                          <a:latin typeface="Cabin"/>
                          <a:ea typeface="Cabin"/>
                          <a:cs typeface="Cabin"/>
                          <a:sym typeface="Cabin"/>
                        </a:rPr>
                        <a:t>Những công ty nào có thể trở thành đối thủ cạnh tranh?</a:t>
                      </a:r>
                    </a:p>
                  </a:txBody>
                  <a:tcPr marL="190500" marR="190500" marT="190500" marB="190500" anchor="ctr">
                    <a:lnL cmpd="sng" algn="ctr" cap="flat" w="19050">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1905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bl>
          </a:graphicData>
        </a:graphic>
      </p:graphicFrame>
      <p:grpSp>
        <p:nvGrpSpPr>
          <p:cNvPr name="Group 4" id="4"/>
          <p:cNvGrpSpPr/>
          <p:nvPr/>
        </p:nvGrpSpPr>
        <p:grpSpPr>
          <a:xfrm rot="0">
            <a:off x="7374448" y="9044945"/>
            <a:ext cx="3539104" cy="617207"/>
            <a:chOff x="0" y="0"/>
            <a:chExt cx="4718805" cy="822943"/>
          </a:xfrm>
        </p:grpSpPr>
        <p:grpSp>
          <p:nvGrpSpPr>
            <p:cNvPr name="Group 5" id="5"/>
            <p:cNvGrpSpPr/>
            <p:nvPr/>
          </p:nvGrpSpPr>
          <p:grpSpPr>
            <a:xfrm rot="0">
              <a:off x="0" y="0"/>
              <a:ext cx="4718805" cy="822943"/>
              <a:chOff x="0" y="0"/>
              <a:chExt cx="1291075" cy="225159"/>
            </a:xfrm>
          </p:grpSpPr>
          <p:sp>
            <p:nvSpPr>
              <p:cNvPr name="Freeform 6" id="6"/>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7" id="7"/>
            <p:cNvSpPr txBox="true"/>
            <p:nvPr/>
          </p:nvSpPr>
          <p:spPr>
            <a:xfrm rot="0">
              <a:off x="307158" y="1883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3" action="ppaction://hlinksldjump"/>
                </a:rPr>
                <a:t>Quay lại Trang Chương trình</a:t>
              </a:r>
            </a:p>
          </p:txBody>
        </p:sp>
      </p:grpSp>
      <p:sp>
        <p:nvSpPr>
          <p:cNvPr name="Freeform 8" id="8"/>
          <p:cNvSpPr/>
          <p:nvPr/>
        </p:nvSpPr>
        <p:spPr>
          <a:xfrm flipH="false" flipV="false" rot="-278358">
            <a:off x="-187185" y="433311"/>
            <a:ext cx="2756025" cy="866895"/>
          </a:xfrm>
          <a:custGeom>
            <a:avLst/>
            <a:gdLst/>
            <a:ahLst/>
            <a:cxnLst/>
            <a:rect r="r" b="b" t="t" l="l"/>
            <a:pathLst>
              <a:path h="866895" w="2756025">
                <a:moveTo>
                  <a:pt x="0" y="0"/>
                </a:moveTo>
                <a:lnTo>
                  <a:pt x="2756025" y="0"/>
                </a:lnTo>
                <a:lnTo>
                  <a:pt x="2756025" y="866895"/>
                </a:lnTo>
                <a:lnTo>
                  <a:pt x="0" y="866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78358">
            <a:off x="15881287" y="7952572"/>
            <a:ext cx="2756025" cy="866895"/>
          </a:xfrm>
          <a:custGeom>
            <a:avLst/>
            <a:gdLst/>
            <a:ahLst/>
            <a:cxnLst/>
            <a:rect r="r" b="b" t="t" l="l"/>
            <a:pathLst>
              <a:path h="866895" w="2756025">
                <a:moveTo>
                  <a:pt x="0" y="0"/>
                </a:moveTo>
                <a:lnTo>
                  <a:pt x="2756026" y="0"/>
                </a:lnTo>
                <a:lnTo>
                  <a:pt x="2756026" y="866895"/>
                </a:lnTo>
                <a:lnTo>
                  <a:pt x="0" y="8668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2462188" y="8728374"/>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384196" y="-309867"/>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657204"/>
            <a:ext cx="16444937" cy="1906519"/>
            <a:chOff x="0" y="0"/>
            <a:chExt cx="5999157" cy="695503"/>
          </a:xfrm>
        </p:grpSpPr>
        <p:sp>
          <p:nvSpPr>
            <p:cNvPr name="Freeform 4" id="4"/>
            <p:cNvSpPr/>
            <p:nvPr/>
          </p:nvSpPr>
          <p:spPr>
            <a:xfrm flipH="false" flipV="false" rot="0">
              <a:off x="0" y="0"/>
              <a:ext cx="5999157" cy="695503"/>
            </a:xfrm>
            <a:custGeom>
              <a:avLst/>
              <a:gdLst/>
              <a:ahLst/>
              <a:cxnLst/>
              <a:rect r="r" b="b" t="t" l="l"/>
              <a:pathLst>
                <a:path h="695503" w="5999157">
                  <a:moveTo>
                    <a:pt x="0" y="0"/>
                  </a:moveTo>
                  <a:lnTo>
                    <a:pt x="5999157" y="0"/>
                  </a:lnTo>
                  <a:lnTo>
                    <a:pt x="5999157" y="695503"/>
                  </a:lnTo>
                  <a:lnTo>
                    <a:pt x="0" y="695503"/>
                  </a:lnTo>
                  <a:close/>
                </a:path>
              </a:pathLst>
            </a:custGeom>
            <a:solidFill>
              <a:srgbClr val="FFFFFF"/>
            </a:solidFill>
          </p:spPr>
        </p:sp>
      </p:grpSp>
      <p:sp>
        <p:nvSpPr>
          <p:cNvPr name="TextBox 5" id="5"/>
          <p:cNvSpPr txBox="true"/>
          <p:nvPr/>
        </p:nvSpPr>
        <p:spPr>
          <a:xfrm rot="0">
            <a:off x="2491067" y="924664"/>
            <a:ext cx="13265837" cy="1371600"/>
          </a:xfrm>
          <a:prstGeom prst="rect">
            <a:avLst/>
          </a:prstGeom>
        </p:spPr>
        <p:txBody>
          <a:bodyPr anchor="t" rtlCol="false" tIns="0" lIns="0" bIns="0" rIns="0">
            <a:spAutoFit/>
          </a:bodyPr>
          <a:lstStyle/>
          <a:p>
            <a:pPr algn="ctr">
              <a:lnSpc>
                <a:spcPts val="10800"/>
              </a:lnSpc>
            </a:pPr>
            <a:r>
              <a:rPr lang="en-US" b="true" sz="9000">
                <a:solidFill>
                  <a:srgbClr val="003EA8"/>
                </a:solidFill>
                <a:latin typeface="Muli Bold"/>
                <a:ea typeface="Muli Bold"/>
                <a:cs typeface="Muli Bold"/>
                <a:sym typeface="Muli Bold"/>
              </a:rPr>
              <a:t>Phân khúc Khách hàng</a:t>
            </a:r>
          </a:p>
        </p:txBody>
      </p:sp>
      <p:grpSp>
        <p:nvGrpSpPr>
          <p:cNvPr name="Group 6" id="6"/>
          <p:cNvGrpSpPr/>
          <p:nvPr/>
        </p:nvGrpSpPr>
        <p:grpSpPr>
          <a:xfrm rot="0">
            <a:off x="905495" y="2917134"/>
            <a:ext cx="5135310" cy="5757653"/>
            <a:chOff x="0" y="0"/>
            <a:chExt cx="1873375" cy="2100407"/>
          </a:xfrm>
        </p:grpSpPr>
        <p:sp>
          <p:nvSpPr>
            <p:cNvPr name="Freeform 7" id="7"/>
            <p:cNvSpPr/>
            <p:nvPr/>
          </p:nvSpPr>
          <p:spPr>
            <a:xfrm flipH="false" flipV="false" rot="0">
              <a:off x="0" y="0"/>
              <a:ext cx="1873375" cy="2100407"/>
            </a:xfrm>
            <a:custGeom>
              <a:avLst/>
              <a:gdLst/>
              <a:ahLst/>
              <a:cxnLst/>
              <a:rect r="r" b="b" t="t" l="l"/>
              <a:pathLst>
                <a:path h="2100407" w="1873375">
                  <a:moveTo>
                    <a:pt x="0" y="0"/>
                  </a:moveTo>
                  <a:lnTo>
                    <a:pt x="1873375" y="0"/>
                  </a:lnTo>
                  <a:lnTo>
                    <a:pt x="1873375" y="2100407"/>
                  </a:lnTo>
                  <a:lnTo>
                    <a:pt x="0" y="2100407"/>
                  </a:lnTo>
                  <a:close/>
                </a:path>
              </a:pathLst>
            </a:custGeom>
            <a:solidFill>
              <a:srgbClr val="FFFFFF"/>
            </a:solidFill>
          </p:spPr>
        </p:sp>
      </p:grpSp>
      <p:grpSp>
        <p:nvGrpSpPr>
          <p:cNvPr name="Group 8" id="8"/>
          <p:cNvGrpSpPr/>
          <p:nvPr/>
        </p:nvGrpSpPr>
        <p:grpSpPr>
          <a:xfrm rot="0">
            <a:off x="6393239" y="2917134"/>
            <a:ext cx="5461493" cy="5757653"/>
            <a:chOff x="0" y="0"/>
            <a:chExt cx="1992367" cy="2100407"/>
          </a:xfrm>
        </p:grpSpPr>
        <p:sp>
          <p:nvSpPr>
            <p:cNvPr name="Freeform 9" id="9"/>
            <p:cNvSpPr/>
            <p:nvPr/>
          </p:nvSpPr>
          <p:spPr>
            <a:xfrm flipH="false" flipV="false" rot="0">
              <a:off x="0" y="0"/>
              <a:ext cx="1992367" cy="2100407"/>
            </a:xfrm>
            <a:custGeom>
              <a:avLst/>
              <a:gdLst/>
              <a:ahLst/>
              <a:cxnLst/>
              <a:rect r="r" b="b" t="t" l="l"/>
              <a:pathLst>
                <a:path h="2100407" w="1992367">
                  <a:moveTo>
                    <a:pt x="0" y="0"/>
                  </a:moveTo>
                  <a:lnTo>
                    <a:pt x="1992367" y="0"/>
                  </a:lnTo>
                  <a:lnTo>
                    <a:pt x="1992367" y="2100407"/>
                  </a:lnTo>
                  <a:lnTo>
                    <a:pt x="0" y="2100407"/>
                  </a:lnTo>
                  <a:close/>
                </a:path>
              </a:pathLst>
            </a:custGeom>
            <a:solidFill>
              <a:srgbClr val="FFFFFF"/>
            </a:solidFill>
          </p:spPr>
        </p:sp>
      </p:grpSp>
      <p:grpSp>
        <p:nvGrpSpPr>
          <p:cNvPr name="Group 10" id="10"/>
          <p:cNvGrpSpPr/>
          <p:nvPr/>
        </p:nvGrpSpPr>
        <p:grpSpPr>
          <a:xfrm rot="0">
            <a:off x="12215122" y="2917134"/>
            <a:ext cx="5135310" cy="5757653"/>
            <a:chOff x="0" y="0"/>
            <a:chExt cx="1873375" cy="2100407"/>
          </a:xfrm>
        </p:grpSpPr>
        <p:sp>
          <p:nvSpPr>
            <p:cNvPr name="Freeform 11" id="11"/>
            <p:cNvSpPr/>
            <p:nvPr/>
          </p:nvSpPr>
          <p:spPr>
            <a:xfrm flipH="false" flipV="false" rot="0">
              <a:off x="0" y="0"/>
              <a:ext cx="1873375" cy="2100407"/>
            </a:xfrm>
            <a:custGeom>
              <a:avLst/>
              <a:gdLst/>
              <a:ahLst/>
              <a:cxnLst/>
              <a:rect r="r" b="b" t="t" l="l"/>
              <a:pathLst>
                <a:path h="2100407" w="1873375">
                  <a:moveTo>
                    <a:pt x="0" y="0"/>
                  </a:moveTo>
                  <a:lnTo>
                    <a:pt x="1873375" y="0"/>
                  </a:lnTo>
                  <a:lnTo>
                    <a:pt x="1873375" y="2100407"/>
                  </a:lnTo>
                  <a:lnTo>
                    <a:pt x="0" y="2100407"/>
                  </a:lnTo>
                  <a:close/>
                </a:path>
              </a:pathLst>
            </a:custGeom>
            <a:solidFill>
              <a:srgbClr val="FFFFFF"/>
            </a:solidFill>
          </p:spPr>
        </p:sp>
      </p:grpSp>
      <p:grpSp>
        <p:nvGrpSpPr>
          <p:cNvPr name="Group 12" id="12"/>
          <p:cNvGrpSpPr>
            <a:grpSpLocks noChangeAspect="true"/>
          </p:cNvGrpSpPr>
          <p:nvPr/>
        </p:nvGrpSpPr>
        <p:grpSpPr>
          <a:xfrm rot="0">
            <a:off x="2162291" y="3333276"/>
            <a:ext cx="2621718" cy="2621708"/>
            <a:chOff x="0" y="0"/>
            <a:chExt cx="6350000" cy="6349975"/>
          </a:xfrm>
        </p:grpSpPr>
        <p:sp>
          <p:nvSpPr>
            <p:cNvPr name="Freeform 13" id="1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0" t="-4223" r="0" b="-29110"/>
              </a:stretch>
            </a:blipFill>
          </p:spPr>
        </p:sp>
      </p:grpSp>
      <p:grpSp>
        <p:nvGrpSpPr>
          <p:cNvPr name="Group 14" id="14"/>
          <p:cNvGrpSpPr>
            <a:grpSpLocks noChangeAspect="true"/>
          </p:cNvGrpSpPr>
          <p:nvPr/>
        </p:nvGrpSpPr>
        <p:grpSpPr>
          <a:xfrm rot="0">
            <a:off x="7817104" y="3333276"/>
            <a:ext cx="2621718" cy="2621708"/>
            <a:chOff x="0" y="0"/>
            <a:chExt cx="6350000" cy="6349975"/>
          </a:xfrm>
        </p:grpSpPr>
        <p:sp>
          <p:nvSpPr>
            <p:cNvPr name="Freeform 15" id="1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25000" r="0" b="-25000"/>
              </a:stretch>
            </a:blipFill>
          </p:spPr>
        </p:sp>
      </p:grpSp>
      <p:grpSp>
        <p:nvGrpSpPr>
          <p:cNvPr name="Group 16" id="16"/>
          <p:cNvGrpSpPr>
            <a:grpSpLocks noChangeAspect="true"/>
          </p:cNvGrpSpPr>
          <p:nvPr/>
        </p:nvGrpSpPr>
        <p:grpSpPr>
          <a:xfrm rot="0">
            <a:off x="13471918" y="3333276"/>
            <a:ext cx="2621718" cy="2621708"/>
            <a:chOff x="0" y="0"/>
            <a:chExt cx="6350000" cy="6349975"/>
          </a:xfrm>
        </p:grpSpPr>
        <p:sp>
          <p:nvSpPr>
            <p:cNvPr name="Freeform 17" id="1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5"/>
              <a:stretch>
                <a:fillRect l="0" t="-14631" r="0" b="-35369"/>
              </a:stretch>
            </a:blipFill>
          </p:spPr>
        </p:sp>
      </p:grpSp>
      <p:grpSp>
        <p:nvGrpSpPr>
          <p:cNvPr name="Group 18" id="18"/>
          <p:cNvGrpSpPr/>
          <p:nvPr/>
        </p:nvGrpSpPr>
        <p:grpSpPr>
          <a:xfrm rot="0">
            <a:off x="1271113" y="6412184"/>
            <a:ext cx="4404073" cy="1487181"/>
            <a:chOff x="0" y="0"/>
            <a:chExt cx="5872098" cy="1982908"/>
          </a:xfrm>
        </p:grpSpPr>
        <p:sp>
          <p:nvSpPr>
            <p:cNvPr name="TextBox 19" id="19"/>
            <p:cNvSpPr txBox="true"/>
            <p:nvPr/>
          </p:nvSpPr>
          <p:spPr>
            <a:xfrm rot="0">
              <a:off x="0" y="-28575"/>
              <a:ext cx="5872098" cy="731308"/>
            </a:xfrm>
            <a:prstGeom prst="rect">
              <a:avLst/>
            </a:prstGeom>
          </p:spPr>
          <p:txBody>
            <a:bodyPr anchor="t" rtlCol="false" tIns="0" lIns="0" bIns="0" rIns="0">
              <a:spAutoFit/>
            </a:bodyPr>
            <a:lstStyle/>
            <a:p>
              <a:pPr algn="ctr">
                <a:lnSpc>
                  <a:spcPts val="4550"/>
                </a:lnSpc>
              </a:pPr>
              <a:r>
                <a:rPr lang="en-US" b="true" sz="3500">
                  <a:solidFill>
                    <a:srgbClr val="003EA8"/>
                  </a:solidFill>
                  <a:latin typeface="Muli Ultra-Bold"/>
                  <a:ea typeface="Muli Ultra-Bold"/>
                  <a:cs typeface="Muli Ultra-Bold"/>
                  <a:sym typeface="Muli Ultra-Bold"/>
                </a:rPr>
                <a:t>Chân dung 1</a:t>
              </a:r>
            </a:p>
          </p:txBody>
        </p:sp>
        <p:sp>
          <p:nvSpPr>
            <p:cNvPr name="TextBox 20" id="20"/>
            <p:cNvSpPr txBox="true"/>
            <p:nvPr/>
          </p:nvSpPr>
          <p:spPr>
            <a:xfrm rot="0">
              <a:off x="0" y="1035912"/>
              <a:ext cx="5872098" cy="946997"/>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Hình dung khách hàng lý tưởng mà các giải pháp của bạn hướng đến.</a:t>
              </a:r>
            </a:p>
          </p:txBody>
        </p:sp>
      </p:grpSp>
      <p:grpSp>
        <p:nvGrpSpPr>
          <p:cNvPr name="Group 21" id="21"/>
          <p:cNvGrpSpPr/>
          <p:nvPr/>
        </p:nvGrpSpPr>
        <p:grpSpPr>
          <a:xfrm rot="0">
            <a:off x="6925927" y="6412184"/>
            <a:ext cx="4404073" cy="1487181"/>
            <a:chOff x="0" y="0"/>
            <a:chExt cx="5872098" cy="1982908"/>
          </a:xfrm>
        </p:grpSpPr>
        <p:sp>
          <p:nvSpPr>
            <p:cNvPr name="TextBox 22" id="22"/>
            <p:cNvSpPr txBox="true"/>
            <p:nvPr/>
          </p:nvSpPr>
          <p:spPr>
            <a:xfrm rot="0">
              <a:off x="0" y="-28575"/>
              <a:ext cx="5872098" cy="731308"/>
            </a:xfrm>
            <a:prstGeom prst="rect">
              <a:avLst/>
            </a:prstGeom>
          </p:spPr>
          <p:txBody>
            <a:bodyPr anchor="t" rtlCol="false" tIns="0" lIns="0" bIns="0" rIns="0">
              <a:spAutoFit/>
            </a:bodyPr>
            <a:lstStyle/>
            <a:p>
              <a:pPr algn="ctr">
                <a:lnSpc>
                  <a:spcPts val="4550"/>
                </a:lnSpc>
              </a:pPr>
              <a:r>
                <a:rPr lang="en-US" b="true" sz="3500">
                  <a:solidFill>
                    <a:srgbClr val="003EA8"/>
                  </a:solidFill>
                  <a:latin typeface="Muli Ultra-Bold"/>
                  <a:ea typeface="Muli Ultra-Bold"/>
                  <a:cs typeface="Muli Ultra-Bold"/>
                  <a:sym typeface="Muli Ultra-Bold"/>
                </a:rPr>
                <a:t>Chân dung 2</a:t>
              </a:r>
            </a:p>
          </p:txBody>
        </p:sp>
        <p:sp>
          <p:nvSpPr>
            <p:cNvPr name="TextBox 23" id="23"/>
            <p:cNvSpPr txBox="true"/>
            <p:nvPr/>
          </p:nvSpPr>
          <p:spPr>
            <a:xfrm rot="0">
              <a:off x="0" y="1035912"/>
              <a:ext cx="5872098" cy="946997"/>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Hình dung khách hàng lý tưởng mà các giải pháp của bạn hướng đến.</a:t>
              </a:r>
            </a:p>
          </p:txBody>
        </p:sp>
      </p:grpSp>
      <p:grpSp>
        <p:nvGrpSpPr>
          <p:cNvPr name="Group 24" id="24"/>
          <p:cNvGrpSpPr/>
          <p:nvPr/>
        </p:nvGrpSpPr>
        <p:grpSpPr>
          <a:xfrm rot="0">
            <a:off x="12580740" y="6412184"/>
            <a:ext cx="4404073" cy="1487181"/>
            <a:chOff x="0" y="0"/>
            <a:chExt cx="5872098" cy="1982908"/>
          </a:xfrm>
        </p:grpSpPr>
        <p:sp>
          <p:nvSpPr>
            <p:cNvPr name="TextBox 25" id="25"/>
            <p:cNvSpPr txBox="true"/>
            <p:nvPr/>
          </p:nvSpPr>
          <p:spPr>
            <a:xfrm rot="0">
              <a:off x="0" y="-28575"/>
              <a:ext cx="5872098" cy="731308"/>
            </a:xfrm>
            <a:prstGeom prst="rect">
              <a:avLst/>
            </a:prstGeom>
          </p:spPr>
          <p:txBody>
            <a:bodyPr anchor="t" rtlCol="false" tIns="0" lIns="0" bIns="0" rIns="0">
              <a:spAutoFit/>
            </a:bodyPr>
            <a:lstStyle/>
            <a:p>
              <a:pPr algn="ctr">
                <a:lnSpc>
                  <a:spcPts val="4550"/>
                </a:lnSpc>
              </a:pPr>
              <a:r>
                <a:rPr lang="en-US" b="true" sz="3500">
                  <a:solidFill>
                    <a:srgbClr val="003EA8"/>
                  </a:solidFill>
                  <a:latin typeface="Muli Ultra-Bold"/>
                  <a:ea typeface="Muli Ultra-Bold"/>
                  <a:cs typeface="Muli Ultra-Bold"/>
                  <a:sym typeface="Muli Ultra-Bold"/>
                </a:rPr>
                <a:t>Chân dung 3</a:t>
              </a:r>
            </a:p>
          </p:txBody>
        </p:sp>
        <p:sp>
          <p:nvSpPr>
            <p:cNvPr name="TextBox 26" id="26"/>
            <p:cNvSpPr txBox="true"/>
            <p:nvPr/>
          </p:nvSpPr>
          <p:spPr>
            <a:xfrm rot="0">
              <a:off x="0" y="1035912"/>
              <a:ext cx="5872098" cy="946997"/>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Hình dung khách hàng lý tưởng mà các giải pháp của bạn hướng đến.</a:t>
              </a:r>
            </a:p>
          </p:txBody>
        </p:sp>
      </p:grpSp>
      <p:grpSp>
        <p:nvGrpSpPr>
          <p:cNvPr name="Group 27" id="27"/>
          <p:cNvGrpSpPr/>
          <p:nvPr/>
        </p:nvGrpSpPr>
        <p:grpSpPr>
          <a:xfrm rot="0">
            <a:off x="7374448" y="9044945"/>
            <a:ext cx="3539104" cy="617207"/>
            <a:chOff x="0" y="0"/>
            <a:chExt cx="4718805" cy="822943"/>
          </a:xfrm>
        </p:grpSpPr>
        <p:grpSp>
          <p:nvGrpSpPr>
            <p:cNvPr name="Group 28" id="28"/>
            <p:cNvGrpSpPr/>
            <p:nvPr/>
          </p:nvGrpSpPr>
          <p:grpSpPr>
            <a:xfrm rot="0">
              <a:off x="0" y="0"/>
              <a:ext cx="4718805" cy="822943"/>
              <a:chOff x="0" y="0"/>
              <a:chExt cx="1291075" cy="225159"/>
            </a:xfrm>
          </p:grpSpPr>
          <p:sp>
            <p:nvSpPr>
              <p:cNvPr name="Freeform 29" id="2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30" id="30"/>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6" action="ppaction://hlinksldjump"/>
                </a:rPr>
                <a:t>Quay lại Trang Chương trình</a:t>
              </a:r>
            </a:p>
          </p:txBody>
        </p:sp>
      </p:grpSp>
      <p:sp>
        <p:nvSpPr>
          <p:cNvPr name="Freeform 31" id="31"/>
          <p:cNvSpPr/>
          <p:nvPr/>
        </p:nvSpPr>
        <p:spPr>
          <a:xfrm flipH="true" flipV="false" rot="0">
            <a:off x="15484919" y="8123782"/>
            <a:ext cx="4585506" cy="1625770"/>
          </a:xfrm>
          <a:custGeom>
            <a:avLst/>
            <a:gdLst/>
            <a:ahLst/>
            <a:cxnLst/>
            <a:rect r="r" b="b" t="t" l="l"/>
            <a:pathLst>
              <a:path h="1625770" w="4585506">
                <a:moveTo>
                  <a:pt x="4585506" y="0"/>
                </a:moveTo>
                <a:lnTo>
                  <a:pt x="0" y="0"/>
                </a:lnTo>
                <a:lnTo>
                  <a:pt x="0" y="1625770"/>
                </a:lnTo>
                <a:lnTo>
                  <a:pt x="4585506" y="1625770"/>
                </a:lnTo>
                <a:lnTo>
                  <a:pt x="4585506"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2" id="32"/>
          <p:cNvSpPr/>
          <p:nvPr/>
        </p:nvSpPr>
        <p:spPr>
          <a:xfrm flipH="false" flipV="false" rot="0">
            <a:off x="-1782425" y="8123782"/>
            <a:ext cx="4585506" cy="1625770"/>
          </a:xfrm>
          <a:custGeom>
            <a:avLst/>
            <a:gdLst/>
            <a:ahLst/>
            <a:cxnLst/>
            <a:rect r="r" b="b" t="t" l="l"/>
            <a:pathLst>
              <a:path h="1625770" w="4585506">
                <a:moveTo>
                  <a:pt x="0" y="0"/>
                </a:moveTo>
                <a:lnTo>
                  <a:pt x="4585506" y="0"/>
                </a:lnTo>
                <a:lnTo>
                  <a:pt x="4585506" y="1625770"/>
                </a:lnTo>
                <a:lnTo>
                  <a:pt x="0" y="1625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8923192" y="-166829"/>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905495" y="333044"/>
            <a:ext cx="16444941" cy="934419"/>
            <a:chOff x="0" y="0"/>
            <a:chExt cx="5999159" cy="340879"/>
          </a:xfrm>
        </p:grpSpPr>
        <p:sp>
          <p:nvSpPr>
            <p:cNvPr name="Freeform 4" id="4"/>
            <p:cNvSpPr/>
            <p:nvPr/>
          </p:nvSpPr>
          <p:spPr>
            <a:xfrm flipH="false" flipV="false" rot="0">
              <a:off x="0" y="0"/>
              <a:ext cx="5999159" cy="340879"/>
            </a:xfrm>
            <a:custGeom>
              <a:avLst/>
              <a:gdLst/>
              <a:ahLst/>
              <a:cxnLst/>
              <a:rect r="r" b="b" t="t" l="l"/>
              <a:pathLst>
                <a:path h="340879" w="5999159">
                  <a:moveTo>
                    <a:pt x="0" y="0"/>
                  </a:moveTo>
                  <a:lnTo>
                    <a:pt x="5999159" y="0"/>
                  </a:lnTo>
                  <a:lnTo>
                    <a:pt x="5999159" y="340879"/>
                  </a:lnTo>
                  <a:lnTo>
                    <a:pt x="0" y="340879"/>
                  </a:lnTo>
                  <a:close/>
                </a:path>
              </a:pathLst>
            </a:custGeom>
            <a:solidFill>
              <a:srgbClr val="FFFFFF"/>
            </a:solidFill>
          </p:spPr>
        </p:sp>
      </p:grpSp>
      <p:graphicFrame>
        <p:nvGraphicFramePr>
          <p:cNvPr name="Table 5" id="5"/>
          <p:cNvGraphicFramePr>
            <a:graphicFrameLocks noGrp="true"/>
          </p:cNvGraphicFramePr>
          <p:nvPr/>
        </p:nvGraphicFramePr>
        <p:xfrm>
          <a:off x="905495" y="1619889"/>
          <a:ext cx="13617506" cy="6256895"/>
        </p:xfrm>
        <a:graphic>
          <a:graphicData uri="http://schemas.openxmlformats.org/drawingml/2006/table">
            <a:tbl>
              <a:tblPr/>
              <a:tblGrid>
                <a:gridCol w="7203161"/>
                <a:gridCol w="1613371"/>
                <a:gridCol w="1609165"/>
                <a:gridCol w="1598594"/>
                <a:gridCol w="1593215"/>
              </a:tblGrid>
              <a:tr h="624218">
                <a:tc>
                  <a:txBody>
                    <a:bodyPr anchor="t" rtlCol="false"/>
                    <a:lstStyle/>
                    <a:p>
                      <a:pPr algn="ctr">
                        <a:lnSpc>
                          <a:spcPts val="1183"/>
                        </a:lnSpc>
                        <a:defRPr/>
                      </a:pP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7887">
                      <a:solidFill>
                        <a:srgbClr val="CCCCCC"/>
                      </a:solidFill>
                      <a:prstDash val="solid"/>
                      <a:round/>
                      <a:headEnd type="none" w="med" len="med"/>
                      <a:tailEnd type="none" w="med" len="med"/>
                    </a:lnB>
                    <a:solidFill>
                      <a:srgbClr val="FFFFFF"/>
                    </a:solidFill>
                  </a:tcPr>
                </a:tc>
                <a:tc>
                  <a:txBody>
                    <a:bodyPr anchor="t" rtlCol="false"/>
                    <a:lstStyle/>
                    <a:p>
                      <a:pPr algn="ctr">
                        <a:lnSpc>
                          <a:spcPts val="1799"/>
                        </a:lnSpc>
                        <a:defRPr/>
                      </a:pPr>
                      <a:r>
                        <a:rPr lang="en-US" sz="1799" b="true">
                          <a:solidFill>
                            <a:srgbClr val="003EA8"/>
                          </a:solidFill>
                          <a:latin typeface="Muli Ultra-Bold"/>
                          <a:ea typeface="Muli Ultra-Bold"/>
                          <a:cs typeface="Muli Ultra-Bold"/>
                          <a:sym typeface="Muli Ultra-Bold"/>
                        </a:rPr>
                        <a:t>Quý 1</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7887">
                      <a:solidFill>
                        <a:srgbClr val="CCCCCC"/>
                      </a:solidFill>
                      <a:prstDash val="solid"/>
                      <a:round/>
                      <a:headEnd type="none" w="med" len="med"/>
                      <a:tailEnd type="none" w="med" len="med"/>
                    </a:lnB>
                    <a:solidFill>
                      <a:srgbClr val="FFFFFF"/>
                    </a:solidFill>
                  </a:tcPr>
                </a:tc>
                <a:tc>
                  <a:txBody>
                    <a:bodyPr anchor="t" rtlCol="false"/>
                    <a:lstStyle/>
                    <a:p>
                      <a:pPr algn="ctr">
                        <a:lnSpc>
                          <a:spcPts val="1799"/>
                        </a:lnSpc>
                        <a:defRPr/>
                      </a:pPr>
                      <a:r>
                        <a:rPr lang="en-US" sz="1799" b="true">
                          <a:solidFill>
                            <a:srgbClr val="003EA8"/>
                          </a:solidFill>
                          <a:latin typeface="Muli Ultra-Bold"/>
                          <a:ea typeface="Muli Ultra-Bold"/>
                          <a:cs typeface="Muli Ultra-Bold"/>
                          <a:sym typeface="Muli Ultra-Bold"/>
                        </a:rPr>
                        <a:t>Quý 2</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7887">
                      <a:solidFill>
                        <a:srgbClr val="CCCCCC"/>
                      </a:solidFill>
                      <a:prstDash val="solid"/>
                      <a:round/>
                      <a:headEnd type="none" w="med" len="med"/>
                      <a:tailEnd type="none" w="med" len="med"/>
                    </a:lnB>
                    <a:solidFill>
                      <a:srgbClr val="FFFFFF"/>
                    </a:solidFill>
                  </a:tcPr>
                </a:tc>
                <a:tc>
                  <a:txBody>
                    <a:bodyPr anchor="t" rtlCol="false"/>
                    <a:lstStyle/>
                    <a:p>
                      <a:pPr algn="ctr">
                        <a:lnSpc>
                          <a:spcPts val="1799"/>
                        </a:lnSpc>
                        <a:defRPr/>
                      </a:pPr>
                      <a:r>
                        <a:rPr lang="en-US" sz="1799" b="true">
                          <a:solidFill>
                            <a:srgbClr val="003EA8"/>
                          </a:solidFill>
                          <a:latin typeface="Muli Ultra-Bold"/>
                          <a:ea typeface="Muli Ultra-Bold"/>
                          <a:cs typeface="Muli Ultra-Bold"/>
                          <a:sym typeface="Muli Ultra-Bold"/>
                        </a:rPr>
                        <a:t>Quý 3</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7887">
                      <a:solidFill>
                        <a:srgbClr val="CCCCCC"/>
                      </a:solidFill>
                      <a:prstDash val="solid"/>
                      <a:round/>
                      <a:headEnd type="none" w="med" len="med"/>
                      <a:tailEnd type="none" w="med" len="med"/>
                    </a:lnB>
                    <a:solidFill>
                      <a:srgbClr val="FFFFFF"/>
                    </a:solidFill>
                  </a:tcPr>
                </a:tc>
                <a:tc>
                  <a:txBody>
                    <a:bodyPr anchor="t" rtlCol="false"/>
                    <a:lstStyle/>
                    <a:p>
                      <a:pPr algn="ctr">
                        <a:lnSpc>
                          <a:spcPts val="1799"/>
                        </a:lnSpc>
                        <a:defRPr/>
                      </a:pPr>
                      <a:r>
                        <a:rPr lang="en-US" sz="1799" b="true">
                          <a:solidFill>
                            <a:srgbClr val="003EA8"/>
                          </a:solidFill>
                          <a:latin typeface="Muli Ultra-Bold"/>
                          <a:ea typeface="Muli Ultra-Bold"/>
                          <a:cs typeface="Muli Ultra-Bold"/>
                          <a:sym typeface="Muli Ultra-Bold"/>
                        </a:rPr>
                        <a:t>Quý 4</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7887">
                      <a:solidFill>
                        <a:srgbClr val="CCCCCC"/>
                      </a:solidFill>
                      <a:prstDash val="solid"/>
                      <a:round/>
                      <a:headEnd type="none" w="med" len="med"/>
                      <a:tailEnd type="none" w="med" len="med"/>
                    </a:lnB>
                    <a:solidFill>
                      <a:srgbClr val="FFFFFF"/>
                    </a:solidFill>
                  </a:tcPr>
                </a:tc>
              </a:tr>
              <a:tr h="668150">
                <a:tc>
                  <a:txBody>
                    <a:bodyPr anchor="t" rtlCol="false"/>
                    <a:lstStyle/>
                    <a:p>
                      <a:pPr algn="l">
                        <a:lnSpc>
                          <a:spcPts val="2520"/>
                        </a:lnSpc>
                        <a:defRPr/>
                      </a:pPr>
                      <a:r>
                        <a:rPr lang="en-US" sz="1800" b="true">
                          <a:solidFill>
                            <a:srgbClr val="003EA8"/>
                          </a:solidFill>
                          <a:latin typeface="Muli Ultra-Bold"/>
                          <a:ea typeface="Muli Ultra-Bold"/>
                          <a:cs typeface="Muli Ultra-Bold"/>
                          <a:sym typeface="Muli Ultra-Bold"/>
                        </a:rPr>
                        <a:t>Báo cáo Kết quả Kinh doanh</a:t>
                      </a:r>
                      <a:endParaRPr lang="en-US" sz="1100"/>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7887">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043"/>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7887">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043"/>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7887">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043"/>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7887">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043"/>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7887">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1139441">
                <a:tc>
                  <a:txBody>
                    <a:bodyPr anchor="t" rtlCol="false"/>
                    <a:lstStyle/>
                    <a:p>
                      <a:pPr algn="just">
                        <a:lnSpc>
                          <a:spcPts val="2520"/>
                        </a:lnSpc>
                        <a:defRPr/>
                      </a:pPr>
                      <a:r>
                        <a:rPr lang="en-US" sz="1800" b="true">
                          <a:solidFill>
                            <a:srgbClr val="000000"/>
                          </a:solidFill>
                          <a:latin typeface="Muli Bold"/>
                          <a:ea typeface="Muli Bold"/>
                          <a:cs typeface="Muli Bold"/>
                          <a:sym typeface="Muli Bold"/>
                        </a:rPr>
                        <a:t>Doanh thu</a:t>
                      </a:r>
                      <a:endParaRPr lang="en-US" sz="1100"/>
                    </a:p>
                    <a:p>
                      <a:pPr algn="just">
                        <a:lnSpc>
                          <a:spcPts val="2380"/>
                        </a:lnSpc>
                      </a:pPr>
                      <a:r>
                        <a:rPr lang="en-US" sz="1700">
                          <a:solidFill>
                            <a:srgbClr val="000000"/>
                          </a:solidFill>
                          <a:latin typeface="Cabin"/>
                          <a:ea typeface="Cabin"/>
                          <a:cs typeface="Cabin"/>
                          <a:sym typeface="Cabin"/>
                        </a:rPr>
                        <a:t>Thêm sản phẩm có giá bán trung bình của bạn và số lượng đơn vị đã bán với các nguồn doanh thu khác của bạn</a:t>
                      </a:r>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i="true">
                          <a:solidFill>
                            <a:srgbClr val="000000"/>
                          </a:solidFill>
                          <a:latin typeface="Muli Bold Italics"/>
                          <a:ea typeface="Muli Bold Italics"/>
                          <a:cs typeface="Muli Bold Italics"/>
                          <a:sym typeface="Muli Bold Italics"/>
                        </a:rPr>
                        <a:t>000 VNĐ</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1120001">
                <a:tc>
                  <a:txBody>
                    <a:bodyPr anchor="t" rtlCol="false"/>
                    <a:lstStyle/>
                    <a:p>
                      <a:pPr algn="just">
                        <a:lnSpc>
                          <a:spcPts val="2520"/>
                        </a:lnSpc>
                        <a:defRPr/>
                      </a:pPr>
                      <a:r>
                        <a:rPr lang="en-US" sz="1800" b="true">
                          <a:solidFill>
                            <a:srgbClr val="000000"/>
                          </a:solidFill>
                          <a:latin typeface="Muli Bold"/>
                          <a:ea typeface="Muli Bold"/>
                          <a:cs typeface="Muli Bold"/>
                          <a:sym typeface="Muli Bold"/>
                        </a:rPr>
                        <a:t>Chi phí cố định</a:t>
                      </a:r>
                      <a:endParaRPr lang="en-US" sz="1100"/>
                    </a:p>
                    <a:p>
                      <a:pPr algn="just">
                        <a:lnSpc>
                          <a:spcPts val="2380"/>
                        </a:lnSpc>
                      </a:pPr>
                      <a:r>
                        <a:rPr lang="en-US" sz="1700">
                          <a:solidFill>
                            <a:srgbClr val="000000"/>
                          </a:solidFill>
                          <a:latin typeface="Cabin"/>
                          <a:ea typeface="Cabin"/>
                          <a:cs typeface="Cabin"/>
                          <a:sym typeface="Cabin"/>
                        </a:rPr>
                        <a:t>Thêm các chi phí cố định, như tiền lương, bảo hiểm, phí thuê văn phòng cùng những khoản khác</a:t>
                      </a:r>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i="true">
                          <a:solidFill>
                            <a:srgbClr val="000000"/>
                          </a:solidFill>
                          <a:latin typeface="Muli Bold Italics"/>
                          <a:ea typeface="Muli Bold Italics"/>
                          <a:cs typeface="Muli Bold Italics"/>
                          <a:sym typeface="Muli Bold Italics"/>
                        </a:rPr>
                        <a:t>000 VNĐ</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899472">
                <a:tc>
                  <a:txBody>
                    <a:bodyPr anchor="t" rtlCol="false"/>
                    <a:lstStyle/>
                    <a:p>
                      <a:pPr algn="just">
                        <a:lnSpc>
                          <a:spcPts val="2520"/>
                        </a:lnSpc>
                        <a:defRPr/>
                      </a:pPr>
                      <a:r>
                        <a:rPr lang="en-US" sz="1800" b="true">
                          <a:solidFill>
                            <a:srgbClr val="000000"/>
                          </a:solidFill>
                          <a:latin typeface="Muli Bold"/>
                          <a:ea typeface="Muli Bold"/>
                          <a:cs typeface="Muli Bold"/>
                          <a:sym typeface="Muli Bold"/>
                        </a:rPr>
                        <a:t>Chi phí biến đổi</a:t>
                      </a:r>
                      <a:endParaRPr lang="en-US" sz="1100"/>
                    </a:p>
                    <a:p>
                      <a:pPr algn="just">
                        <a:lnSpc>
                          <a:spcPts val="2380"/>
                        </a:lnSpc>
                      </a:pPr>
                      <a:r>
                        <a:rPr lang="en-US" sz="1700">
                          <a:solidFill>
                            <a:srgbClr val="000000"/>
                          </a:solidFill>
                          <a:latin typeface="Cabin"/>
                          <a:ea typeface="Cabin"/>
                          <a:cs typeface="Cabin"/>
                          <a:sym typeface="Cabin"/>
                        </a:rPr>
                        <a:t>Thêm các chi phí biến đổi, như nguyên vật liệu, nhân công, bảo hiểm và các khoản khác</a:t>
                      </a:r>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i="true">
                          <a:solidFill>
                            <a:srgbClr val="000000"/>
                          </a:solidFill>
                          <a:latin typeface="Muli Bold Italics"/>
                          <a:ea typeface="Muli Bold Italics"/>
                          <a:cs typeface="Muli Bold Italics"/>
                          <a:sym typeface="Muli Bold Italics"/>
                        </a:rPr>
                        <a:t>000 VNĐ</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914359">
                <a:tc>
                  <a:txBody>
                    <a:bodyPr anchor="t" rtlCol="false"/>
                    <a:lstStyle/>
                    <a:p>
                      <a:pPr algn="just">
                        <a:lnSpc>
                          <a:spcPts val="2520"/>
                        </a:lnSpc>
                        <a:defRPr/>
                      </a:pPr>
                      <a:r>
                        <a:rPr lang="en-US" sz="1800" b="true">
                          <a:solidFill>
                            <a:srgbClr val="000000"/>
                          </a:solidFill>
                          <a:latin typeface="Muli Bold"/>
                          <a:ea typeface="Muli Bold"/>
                          <a:cs typeface="Muli Bold"/>
                          <a:sym typeface="Muli Bold"/>
                        </a:rPr>
                        <a:t>Tổng chi phí</a:t>
                      </a:r>
                      <a:endParaRPr lang="en-US" sz="1100"/>
                    </a:p>
                    <a:p>
                      <a:pPr algn="just">
                        <a:lnSpc>
                          <a:spcPts val="2380"/>
                        </a:lnSpc>
                      </a:pPr>
                      <a:r>
                        <a:rPr lang="en-US" sz="1700">
                          <a:solidFill>
                            <a:srgbClr val="000000"/>
                          </a:solidFill>
                          <a:latin typeface="Cabin"/>
                          <a:ea typeface="Cabin"/>
                          <a:cs typeface="Cabin"/>
                          <a:sym typeface="Cabin"/>
                        </a:rPr>
                        <a:t>Thêm các chi phí cố định và biến đổi</a:t>
                      </a:r>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i="true">
                          <a:solidFill>
                            <a:srgbClr val="000000"/>
                          </a:solidFill>
                          <a:latin typeface="Muli Bold Italics"/>
                          <a:ea typeface="Muli Bold Italics"/>
                          <a:cs typeface="Muli Bold Italics"/>
                          <a:sym typeface="Muli Bold Italics"/>
                        </a:rPr>
                        <a:t>000 VNĐ</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r h="891254">
                <a:tc>
                  <a:txBody>
                    <a:bodyPr anchor="t" rtlCol="false"/>
                    <a:lstStyle/>
                    <a:p>
                      <a:pPr algn="just">
                        <a:lnSpc>
                          <a:spcPts val="2520"/>
                        </a:lnSpc>
                        <a:defRPr/>
                      </a:pPr>
                      <a:r>
                        <a:rPr lang="en-US" sz="1800" b="true">
                          <a:solidFill>
                            <a:srgbClr val="000000"/>
                          </a:solidFill>
                          <a:latin typeface="Muli Bold"/>
                          <a:ea typeface="Muli Bold"/>
                          <a:cs typeface="Muli Bold"/>
                          <a:sym typeface="Muli Bold"/>
                        </a:rPr>
                        <a:t>Lợi nhuận</a:t>
                      </a:r>
                      <a:endParaRPr lang="en-US" sz="1100"/>
                    </a:p>
                    <a:p>
                      <a:pPr algn="just">
                        <a:lnSpc>
                          <a:spcPts val="2380"/>
                        </a:lnSpc>
                      </a:pPr>
                      <a:r>
                        <a:rPr lang="en-US" sz="1700">
                          <a:solidFill>
                            <a:srgbClr val="000000"/>
                          </a:solidFill>
                          <a:latin typeface="Cabin"/>
                          <a:ea typeface="Cabin"/>
                          <a:cs typeface="Cabin"/>
                          <a:sym typeface="Cabin"/>
                        </a:rPr>
                        <a:t>Trừ tổng chi phí khỏi tổng doanh thu của bạn</a:t>
                      </a:r>
                    </a:p>
                  </a:txBody>
                  <a:tcPr marL="190500" marR="190500" marT="190500" marB="190500" anchor="ctr">
                    <a:lnL cmpd="sng" algn="ctr" cap="flat" w="0">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2520"/>
                        </a:lnSpc>
                        <a:defRPr/>
                      </a:pPr>
                      <a:r>
                        <a:rPr lang="en-US" b="true" sz="1800" i="true">
                          <a:solidFill>
                            <a:srgbClr val="000000"/>
                          </a:solidFill>
                          <a:latin typeface="Muli Bold Italics"/>
                          <a:ea typeface="Muli Bold Italics"/>
                          <a:cs typeface="Muli Bold Italics"/>
                          <a:sym typeface="Muli Bold Italics"/>
                        </a:rPr>
                        <a:t>000 VNĐ</a:t>
                      </a: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7887">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c>
                  <a:txBody>
                    <a:bodyPr anchor="t" rtlCol="false"/>
                    <a:lstStyle/>
                    <a:p>
                      <a:pPr algn="ctr">
                        <a:lnSpc>
                          <a:spcPts val="1946"/>
                        </a:lnSpc>
                        <a:defRPr/>
                      </a:pPr>
                      <a:endParaRPr lang="en-US" sz="1100"/>
                    </a:p>
                  </a:txBody>
                  <a:tcPr marL="190500" marR="190500" marT="190500" marB="190500" anchor="ctr">
                    <a:lnL cmpd="sng" algn="ctr" cap="flat" w="7887">
                      <a:solidFill>
                        <a:srgbClr val="CCCCCC"/>
                      </a:solidFill>
                      <a:prstDash val="solid"/>
                      <a:round/>
                      <a:headEnd type="none" w="med" len="med"/>
                      <a:tailEnd type="none" w="med" len="med"/>
                    </a:lnL>
                    <a:lnR cmpd="sng" algn="ctr" cap="flat" w="0">
                      <a:solidFill>
                        <a:srgbClr val="CCCCCC"/>
                      </a:solidFill>
                      <a:prstDash val="solid"/>
                      <a:round/>
                      <a:headEnd type="none" w="med" len="med"/>
                      <a:tailEnd type="none" w="med" len="med"/>
                    </a:lnR>
                    <a:lnT cmpd="sng" algn="ctr" cap="flat" w="0">
                      <a:solidFill>
                        <a:srgbClr val="CCCCCC"/>
                      </a:solidFill>
                      <a:prstDash val="solid"/>
                      <a:round/>
                      <a:headEnd type="none" w="med" len="med"/>
                      <a:tailEnd type="none" w="med" len="med"/>
                    </a:lnT>
                    <a:lnB cmpd="sng" algn="ctr" cap="flat" w="0">
                      <a:solidFill>
                        <a:srgbClr val="CCCCCC"/>
                      </a:solidFill>
                      <a:prstDash val="solid"/>
                      <a:round/>
                      <a:headEnd type="none" w="med" len="med"/>
                      <a:tailEnd type="none" w="med" len="med"/>
                    </a:lnB>
                    <a:solidFill>
                      <a:srgbClr val="FFFFFF"/>
                    </a:solidFill>
                  </a:tcPr>
                </a:tc>
              </a:tr>
            </a:tbl>
          </a:graphicData>
        </a:graphic>
      </p:graphicFrame>
      <p:sp>
        <p:nvSpPr>
          <p:cNvPr name="TextBox 6" id="6"/>
          <p:cNvSpPr txBox="true"/>
          <p:nvPr/>
        </p:nvSpPr>
        <p:spPr>
          <a:xfrm rot="0">
            <a:off x="1768754" y="385799"/>
            <a:ext cx="14750492" cy="828909"/>
          </a:xfrm>
          <a:prstGeom prst="rect">
            <a:avLst/>
          </a:prstGeom>
        </p:spPr>
        <p:txBody>
          <a:bodyPr anchor="t" rtlCol="false" tIns="0" lIns="0" bIns="0" rIns="0">
            <a:spAutoFit/>
          </a:bodyPr>
          <a:lstStyle/>
          <a:p>
            <a:pPr algn="ctr">
              <a:lnSpc>
                <a:spcPts val="6599"/>
              </a:lnSpc>
            </a:pPr>
            <a:r>
              <a:rPr lang="en-US" b="true" sz="5499">
                <a:solidFill>
                  <a:srgbClr val="003EA8"/>
                </a:solidFill>
                <a:latin typeface="Muli Bold"/>
                <a:ea typeface="Muli Bold"/>
                <a:cs typeface="Muli Bold"/>
                <a:sym typeface="Muli Bold"/>
              </a:rPr>
              <a:t>Cấu trúc Chi phí &amp; Dòng Doanh thu</a:t>
            </a:r>
          </a:p>
        </p:txBody>
      </p:sp>
      <p:grpSp>
        <p:nvGrpSpPr>
          <p:cNvPr name="Group 7" id="7"/>
          <p:cNvGrpSpPr/>
          <p:nvPr/>
        </p:nvGrpSpPr>
        <p:grpSpPr>
          <a:xfrm rot="0">
            <a:off x="7358414" y="9374552"/>
            <a:ext cx="3539104" cy="617207"/>
            <a:chOff x="0" y="0"/>
            <a:chExt cx="4718805" cy="822943"/>
          </a:xfrm>
        </p:grpSpPr>
        <p:grpSp>
          <p:nvGrpSpPr>
            <p:cNvPr name="Group 8" id="8"/>
            <p:cNvGrpSpPr/>
            <p:nvPr/>
          </p:nvGrpSpPr>
          <p:grpSpPr>
            <a:xfrm rot="0">
              <a:off x="0" y="0"/>
              <a:ext cx="4718805" cy="822943"/>
              <a:chOff x="0" y="0"/>
              <a:chExt cx="1291075" cy="225159"/>
            </a:xfrm>
          </p:grpSpPr>
          <p:sp>
            <p:nvSpPr>
              <p:cNvPr name="Freeform 9" id="9"/>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FFFFFF"/>
              </a:solidFill>
            </p:spPr>
          </p:sp>
        </p:grpSp>
        <p:sp>
          <p:nvSpPr>
            <p:cNvPr name="TextBox 10" id="10"/>
            <p:cNvSpPr txBox="true"/>
            <p:nvPr/>
          </p:nvSpPr>
          <p:spPr>
            <a:xfrm rot="0">
              <a:off x="307158" y="226475"/>
              <a:ext cx="4104490" cy="408093"/>
            </a:xfrm>
            <a:prstGeom prst="rect">
              <a:avLst/>
            </a:prstGeom>
          </p:spPr>
          <p:txBody>
            <a:bodyPr anchor="t" rtlCol="false" tIns="0" lIns="0" bIns="0" rIns="0">
              <a:spAutoFit/>
            </a:bodyPr>
            <a:lstStyle/>
            <a:p>
              <a:pPr algn="ctr">
                <a:lnSpc>
                  <a:spcPts val="2554"/>
                </a:lnSpc>
              </a:pPr>
              <a:r>
                <a:rPr lang="en-US" sz="1824" u="sng">
                  <a:solidFill>
                    <a:srgbClr val="003EA8"/>
                  </a:solidFill>
                  <a:latin typeface="Cabin"/>
                  <a:ea typeface="Cabin"/>
                  <a:cs typeface="Cabin"/>
                  <a:sym typeface="Cabin"/>
                  <a:hlinkClick r:id="rId3" action="ppaction://hlinksldjump"/>
                </a:rPr>
                <a:t>Quay lại Trang Chương trình</a:t>
              </a:r>
            </a:p>
          </p:txBody>
        </p:sp>
      </p:grpSp>
      <p:sp>
        <p:nvSpPr>
          <p:cNvPr name="Freeform 11" id="11"/>
          <p:cNvSpPr/>
          <p:nvPr/>
        </p:nvSpPr>
        <p:spPr>
          <a:xfrm flipH="false" flipV="false" rot="-278358">
            <a:off x="13186236" y="8760183"/>
            <a:ext cx="5868613" cy="1845945"/>
          </a:xfrm>
          <a:custGeom>
            <a:avLst/>
            <a:gdLst/>
            <a:ahLst/>
            <a:cxnLst/>
            <a:rect r="r" b="b" t="t" l="l"/>
            <a:pathLst>
              <a:path h="1845945" w="5868613">
                <a:moveTo>
                  <a:pt x="0" y="0"/>
                </a:moveTo>
                <a:lnTo>
                  <a:pt x="5868612" y="0"/>
                </a:lnTo>
                <a:lnTo>
                  <a:pt x="5868612" y="1845946"/>
                </a:lnTo>
                <a:lnTo>
                  <a:pt x="0" y="18459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609762" y="7735400"/>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243671" y="95089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a:off x="3506223" y="2619305"/>
            <a:ext cx="13860246" cy="5448230"/>
          </a:xfrm>
          <a:prstGeom prst="rect">
            <a:avLst/>
          </a:prstGeom>
          <a:solidFill>
            <a:srgbClr val="CCCCCC"/>
          </a:solidFill>
        </p:spPr>
      </p:sp>
      <p:grpSp>
        <p:nvGrpSpPr>
          <p:cNvPr name="Group 3" id="3"/>
          <p:cNvGrpSpPr>
            <a:grpSpLocks noChangeAspect="true"/>
          </p:cNvGrpSpPr>
          <p:nvPr/>
        </p:nvGrpSpPr>
        <p:grpSpPr>
          <a:xfrm rot="0">
            <a:off x="4073829" y="6946242"/>
            <a:ext cx="840801" cy="840798"/>
            <a:chOff x="0" y="0"/>
            <a:chExt cx="6350000" cy="6349975"/>
          </a:xfrm>
        </p:grpSpPr>
        <p:sp>
          <p:nvSpPr>
            <p:cNvPr name="Freeform 4" id="4"/>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0" t="-25000" r="0" b="-25000"/>
              </a:stretch>
            </a:blipFill>
          </p:spPr>
        </p:sp>
      </p:grpSp>
      <p:grpSp>
        <p:nvGrpSpPr>
          <p:cNvPr name="Group 5" id="5"/>
          <p:cNvGrpSpPr>
            <a:grpSpLocks noChangeAspect="true"/>
          </p:cNvGrpSpPr>
          <p:nvPr/>
        </p:nvGrpSpPr>
        <p:grpSpPr>
          <a:xfrm rot="0">
            <a:off x="5092471" y="6946242"/>
            <a:ext cx="840801" cy="840798"/>
            <a:chOff x="0" y="0"/>
            <a:chExt cx="6350000" cy="6349975"/>
          </a:xfrm>
        </p:grpSpPr>
        <p:sp>
          <p:nvSpPr>
            <p:cNvPr name="Freeform 6" id="6"/>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4999" t="0" r="-24999" b="0"/>
              </a:stretch>
            </a:blipFill>
          </p:spPr>
        </p:sp>
      </p:grpSp>
      <p:grpSp>
        <p:nvGrpSpPr>
          <p:cNvPr name="Group 7" id="7"/>
          <p:cNvGrpSpPr>
            <a:grpSpLocks noChangeAspect="true"/>
          </p:cNvGrpSpPr>
          <p:nvPr/>
        </p:nvGrpSpPr>
        <p:grpSpPr>
          <a:xfrm rot="0">
            <a:off x="6111113" y="6946242"/>
            <a:ext cx="840801" cy="840798"/>
            <a:chOff x="0" y="0"/>
            <a:chExt cx="6350000" cy="6349975"/>
          </a:xfrm>
        </p:grpSpPr>
        <p:sp>
          <p:nvSpPr>
            <p:cNvPr name="Freeform 8" id="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25000" r="0" b="-25000"/>
              </a:stretch>
            </a:blipFill>
          </p:spPr>
        </p:sp>
      </p:grpSp>
      <p:grpSp>
        <p:nvGrpSpPr>
          <p:cNvPr name="Group 9" id="9"/>
          <p:cNvGrpSpPr/>
          <p:nvPr/>
        </p:nvGrpSpPr>
        <p:grpSpPr>
          <a:xfrm rot="0">
            <a:off x="9695440" y="3746385"/>
            <a:ext cx="2506383" cy="1315879"/>
            <a:chOff x="0" y="0"/>
            <a:chExt cx="1035847" cy="543831"/>
          </a:xfrm>
        </p:grpSpPr>
        <p:sp>
          <p:nvSpPr>
            <p:cNvPr name="Freeform 10" id="10"/>
            <p:cNvSpPr/>
            <p:nvPr/>
          </p:nvSpPr>
          <p:spPr>
            <a:xfrm flipH="false" flipV="false" rot="0">
              <a:off x="0" y="0"/>
              <a:ext cx="1035847" cy="543831"/>
            </a:xfrm>
            <a:custGeom>
              <a:avLst/>
              <a:gdLst/>
              <a:ahLst/>
              <a:cxnLst/>
              <a:rect r="r" b="b" t="t" l="l"/>
              <a:pathLst>
                <a:path h="543831" w="1035847">
                  <a:moveTo>
                    <a:pt x="0" y="0"/>
                  </a:moveTo>
                  <a:lnTo>
                    <a:pt x="1035847" y="0"/>
                  </a:lnTo>
                  <a:lnTo>
                    <a:pt x="1035847" y="543831"/>
                  </a:lnTo>
                  <a:lnTo>
                    <a:pt x="0" y="543831"/>
                  </a:lnTo>
                  <a:close/>
                </a:path>
              </a:pathLst>
            </a:custGeom>
            <a:solidFill>
              <a:srgbClr val="003EA8"/>
            </a:solidFill>
          </p:spPr>
        </p:sp>
        <p:sp>
          <p:nvSpPr>
            <p:cNvPr name="TextBox 11" id="11"/>
            <p:cNvSpPr txBox="true"/>
            <p:nvPr/>
          </p:nvSpPr>
          <p:spPr>
            <a:xfrm>
              <a:off x="0" y="-28575"/>
              <a:ext cx="1035847" cy="572406"/>
            </a:xfrm>
            <a:prstGeom prst="rect">
              <a:avLst/>
            </a:prstGeom>
          </p:spPr>
          <p:txBody>
            <a:bodyPr anchor="ctr" rtlCol="false" tIns="254000" lIns="254000" bIns="254000" rIns="254000"/>
            <a:lstStyle/>
            <a:p>
              <a:pPr algn="ctr">
                <a:lnSpc>
                  <a:spcPts val="2100"/>
                </a:lnSpc>
              </a:pPr>
              <a:r>
                <a:rPr lang="en-US" b="true" sz="1500">
                  <a:solidFill>
                    <a:srgbClr val="FFFFFF"/>
                  </a:solidFill>
                  <a:latin typeface="Muli Bold"/>
                  <a:ea typeface="Muli Bold"/>
                  <a:cs typeface="Muli Bold"/>
                  <a:sym typeface="Muli Bold"/>
                </a:rPr>
                <a:t>Viết ghi chú ở đây</a:t>
              </a:r>
            </a:p>
          </p:txBody>
        </p:sp>
      </p:grpSp>
      <p:grpSp>
        <p:nvGrpSpPr>
          <p:cNvPr name="Group 12" id="12"/>
          <p:cNvGrpSpPr>
            <a:grpSpLocks noChangeAspect="true"/>
          </p:cNvGrpSpPr>
          <p:nvPr/>
        </p:nvGrpSpPr>
        <p:grpSpPr>
          <a:xfrm rot="0">
            <a:off x="11880192" y="4404325"/>
            <a:ext cx="1055971" cy="1055967"/>
            <a:chOff x="0" y="0"/>
            <a:chExt cx="6350000" cy="6349975"/>
          </a:xfrm>
        </p:grpSpPr>
        <p:sp>
          <p:nvSpPr>
            <p:cNvPr name="Freeform 13" id="1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0" t="-25000" r="0" b="-25000"/>
              </a:stretch>
            </a:blipFill>
          </p:spPr>
        </p:sp>
      </p:grpSp>
      <p:grpSp>
        <p:nvGrpSpPr>
          <p:cNvPr name="Group 14" id="14"/>
          <p:cNvGrpSpPr/>
          <p:nvPr/>
        </p:nvGrpSpPr>
        <p:grpSpPr>
          <a:xfrm rot="0">
            <a:off x="13698381" y="4777070"/>
            <a:ext cx="1966688" cy="1966688"/>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6" id="16"/>
            <p:cNvSpPr txBox="true"/>
            <p:nvPr/>
          </p:nvSpPr>
          <p:spPr>
            <a:xfrm>
              <a:off x="76200" y="47625"/>
              <a:ext cx="660400" cy="688975"/>
            </a:xfrm>
            <a:prstGeom prst="rect">
              <a:avLst/>
            </a:prstGeom>
          </p:spPr>
          <p:txBody>
            <a:bodyPr anchor="ctr" rtlCol="false" tIns="254000" lIns="254000" bIns="254000" rIns="254000"/>
            <a:lstStyle/>
            <a:p>
              <a:pPr algn="ctr">
                <a:lnSpc>
                  <a:spcPts val="2100"/>
                </a:lnSpc>
              </a:pPr>
              <a:r>
                <a:rPr lang="en-US" b="true" sz="1500">
                  <a:solidFill>
                    <a:srgbClr val="000000"/>
                  </a:solidFill>
                  <a:latin typeface="Muli Bold"/>
                  <a:ea typeface="Muli Bold"/>
                  <a:cs typeface="Muli Bold"/>
                  <a:sym typeface="Muli Bold"/>
                </a:rPr>
                <a:t>Viết ghi chú ở đây</a:t>
              </a:r>
            </a:p>
          </p:txBody>
        </p:sp>
      </p:grpSp>
      <p:grpSp>
        <p:nvGrpSpPr>
          <p:cNvPr name="Group 17" id="17"/>
          <p:cNvGrpSpPr>
            <a:grpSpLocks noChangeAspect="true"/>
          </p:cNvGrpSpPr>
          <p:nvPr/>
        </p:nvGrpSpPr>
        <p:grpSpPr>
          <a:xfrm rot="0">
            <a:off x="15149428" y="6049720"/>
            <a:ext cx="840801" cy="840798"/>
            <a:chOff x="0" y="0"/>
            <a:chExt cx="6350000" cy="6349975"/>
          </a:xfrm>
        </p:grpSpPr>
        <p:sp>
          <p:nvSpPr>
            <p:cNvPr name="Freeform 18" id="18"/>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4999" t="0" r="-24999" b="0"/>
              </a:stretch>
            </a:blipFill>
          </p:spPr>
        </p:sp>
      </p:grpSp>
      <p:grpSp>
        <p:nvGrpSpPr>
          <p:cNvPr name="Group 19" id="19"/>
          <p:cNvGrpSpPr/>
          <p:nvPr/>
        </p:nvGrpSpPr>
        <p:grpSpPr>
          <a:xfrm rot="0">
            <a:off x="921532" y="2599178"/>
            <a:ext cx="2233615" cy="223361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3EA8"/>
            </a:solidFill>
          </p:spPr>
        </p:sp>
        <p:sp>
          <p:nvSpPr>
            <p:cNvPr name="TextBox 21" id="21"/>
            <p:cNvSpPr txBox="true"/>
            <p:nvPr/>
          </p:nvSpPr>
          <p:spPr>
            <a:xfrm>
              <a:off x="0" y="-28575"/>
              <a:ext cx="812800" cy="841375"/>
            </a:xfrm>
            <a:prstGeom prst="rect">
              <a:avLst/>
            </a:prstGeom>
          </p:spPr>
          <p:txBody>
            <a:bodyPr anchor="ctr" rtlCol="false" tIns="254000" lIns="254000" bIns="254000" rIns="254000"/>
            <a:lstStyle/>
            <a:p>
              <a:pPr algn="ctr">
                <a:lnSpc>
                  <a:spcPts val="2100"/>
                </a:lnSpc>
              </a:pPr>
              <a:r>
                <a:rPr lang="en-US" b="true" sz="1500">
                  <a:solidFill>
                    <a:srgbClr val="FFFFFF"/>
                  </a:solidFill>
                  <a:latin typeface="Muli Bold"/>
                  <a:ea typeface="Muli Bold"/>
                  <a:cs typeface="Muli Bold"/>
                  <a:sym typeface="Muli Bold"/>
                </a:rPr>
                <a:t>Sao chép một ghi chú, kéo vào bảng và viết các ý tưởng của bạn.</a:t>
              </a:r>
            </a:p>
          </p:txBody>
        </p:sp>
      </p:grpSp>
      <p:grpSp>
        <p:nvGrpSpPr>
          <p:cNvPr name="Group 22" id="22"/>
          <p:cNvGrpSpPr/>
          <p:nvPr/>
        </p:nvGrpSpPr>
        <p:grpSpPr>
          <a:xfrm rot="0">
            <a:off x="921532" y="5133025"/>
            <a:ext cx="2233615" cy="223361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3EA8"/>
            </a:solidFill>
            <a:ln cap="sq">
              <a:noFill/>
              <a:prstDash val="solid"/>
              <a:miter/>
            </a:ln>
          </p:spPr>
        </p:sp>
        <p:sp>
          <p:nvSpPr>
            <p:cNvPr name="TextBox 24" id="24"/>
            <p:cNvSpPr txBox="true"/>
            <p:nvPr/>
          </p:nvSpPr>
          <p:spPr>
            <a:xfrm>
              <a:off x="76200" y="47625"/>
              <a:ext cx="660400" cy="688975"/>
            </a:xfrm>
            <a:prstGeom prst="rect">
              <a:avLst/>
            </a:prstGeom>
          </p:spPr>
          <p:txBody>
            <a:bodyPr anchor="ctr" rtlCol="false" tIns="190500" lIns="190500" bIns="190500" rIns="190500"/>
            <a:lstStyle/>
            <a:p>
              <a:pPr algn="ctr" marL="0" indent="0" lvl="0">
                <a:lnSpc>
                  <a:spcPts val="2100"/>
                </a:lnSpc>
                <a:spcBef>
                  <a:spcPct val="0"/>
                </a:spcBef>
              </a:pPr>
              <a:r>
                <a:rPr lang="en-US" b="true" sz="1500" u="none">
                  <a:solidFill>
                    <a:srgbClr val="FFFFFF"/>
                  </a:solidFill>
                  <a:latin typeface="Muli Bold"/>
                  <a:ea typeface="Muli Bold"/>
                  <a:cs typeface="Muli Bold"/>
                  <a:sym typeface="Muli Bold"/>
                </a:rPr>
                <a:t>Sao chép một ghi chú, kéo vào bảng và viết các ý tưởng của bạn.</a:t>
              </a:r>
            </a:p>
          </p:txBody>
        </p:sp>
      </p:grpSp>
      <p:grpSp>
        <p:nvGrpSpPr>
          <p:cNvPr name="Group 25" id="25"/>
          <p:cNvGrpSpPr/>
          <p:nvPr/>
        </p:nvGrpSpPr>
        <p:grpSpPr>
          <a:xfrm rot="0">
            <a:off x="3506223" y="8412855"/>
            <a:ext cx="13860246" cy="1275217"/>
            <a:chOff x="0" y="0"/>
            <a:chExt cx="10456369" cy="962042"/>
          </a:xfrm>
        </p:grpSpPr>
        <p:sp>
          <p:nvSpPr>
            <p:cNvPr name="Freeform 26" id="26"/>
            <p:cNvSpPr/>
            <p:nvPr/>
          </p:nvSpPr>
          <p:spPr>
            <a:xfrm flipH="false" flipV="false" rot="0">
              <a:off x="0" y="0"/>
              <a:ext cx="10456369" cy="962042"/>
            </a:xfrm>
            <a:custGeom>
              <a:avLst/>
              <a:gdLst/>
              <a:ahLst/>
              <a:cxnLst/>
              <a:rect r="r" b="b" t="t" l="l"/>
              <a:pathLst>
                <a:path h="962042" w="10456369">
                  <a:moveTo>
                    <a:pt x="16757" y="0"/>
                  </a:moveTo>
                  <a:lnTo>
                    <a:pt x="10439612" y="0"/>
                  </a:lnTo>
                  <a:cubicBezTo>
                    <a:pt x="10444056" y="0"/>
                    <a:pt x="10448318" y="1765"/>
                    <a:pt x="10451461" y="4908"/>
                  </a:cubicBezTo>
                  <a:cubicBezTo>
                    <a:pt x="10454603" y="8051"/>
                    <a:pt x="10456369" y="12313"/>
                    <a:pt x="10456369" y="16757"/>
                  </a:cubicBezTo>
                  <a:lnTo>
                    <a:pt x="10456369" y="945285"/>
                  </a:lnTo>
                  <a:cubicBezTo>
                    <a:pt x="10456369" y="954540"/>
                    <a:pt x="10448866" y="962042"/>
                    <a:pt x="10439612" y="962042"/>
                  </a:cubicBezTo>
                  <a:lnTo>
                    <a:pt x="16757" y="962042"/>
                  </a:lnTo>
                  <a:cubicBezTo>
                    <a:pt x="7502" y="962042"/>
                    <a:pt x="0" y="954540"/>
                    <a:pt x="0" y="945285"/>
                  </a:cubicBezTo>
                  <a:lnTo>
                    <a:pt x="0" y="16757"/>
                  </a:lnTo>
                  <a:cubicBezTo>
                    <a:pt x="0" y="7502"/>
                    <a:pt x="7502" y="0"/>
                    <a:pt x="16757" y="0"/>
                  </a:cubicBezTo>
                  <a:close/>
                </a:path>
              </a:pathLst>
            </a:custGeom>
            <a:solidFill>
              <a:srgbClr val="CCCCCC"/>
            </a:solidFill>
            <a:ln cap="rnd">
              <a:noFill/>
              <a:prstDash val="sysDot"/>
              <a:round/>
            </a:ln>
          </p:spPr>
        </p:sp>
        <p:sp>
          <p:nvSpPr>
            <p:cNvPr name="TextBox 27" id="27"/>
            <p:cNvSpPr txBox="true"/>
            <p:nvPr/>
          </p:nvSpPr>
          <p:spPr>
            <a:xfrm>
              <a:off x="0" y="-19050"/>
              <a:ext cx="10456369" cy="981092"/>
            </a:xfrm>
            <a:prstGeom prst="rect">
              <a:avLst/>
            </a:prstGeom>
          </p:spPr>
          <p:txBody>
            <a:bodyPr anchor="ctr" rtlCol="false" tIns="254000" lIns="254000" bIns="254000" rIns="254000"/>
            <a:lstStyle/>
            <a:p>
              <a:pPr algn="ctr">
                <a:lnSpc>
                  <a:spcPts val="2380"/>
                </a:lnSpc>
              </a:pPr>
              <a:r>
                <a:rPr lang="en-US" sz="1700" b="true">
                  <a:solidFill>
                    <a:srgbClr val="000000"/>
                  </a:solidFill>
                  <a:latin typeface="Muli Ultra-Bold"/>
                  <a:ea typeface="Muli Ultra-Bold"/>
                  <a:cs typeface="Muli Ultra-Bold"/>
                  <a:sym typeface="Muli Ultra-Bold"/>
                </a:rPr>
                <a:t>Mẹo:</a:t>
              </a:r>
              <a:r>
                <a:rPr lang="en-US" sz="1700" b="true">
                  <a:solidFill>
                    <a:srgbClr val="000000"/>
                  </a:solidFill>
                  <a:latin typeface="Muli Bold"/>
                  <a:ea typeface="Muli Bold"/>
                  <a:cs typeface="Muli Bold"/>
                  <a:sym typeface="Muli Bold"/>
                </a:rPr>
                <a:t> Cộng tác giúp cho quá trình làm việc nhóm trở nên dễ dàng hơn! Hãy nhấp "Chia sẻ" và mời các thành viên trong nhóm của bạn cùng điền vào đây. Sử dụng trang này để thêm các thông báo, động não hoặc các ý tưởng nhóm thú vị khác!</a:t>
              </a:r>
            </a:p>
          </p:txBody>
        </p:sp>
      </p:grpSp>
      <p:sp>
        <p:nvSpPr>
          <p:cNvPr name="TextBox 28" id="28"/>
          <p:cNvSpPr txBox="true"/>
          <p:nvPr/>
        </p:nvSpPr>
        <p:spPr>
          <a:xfrm rot="0">
            <a:off x="921532" y="598928"/>
            <a:ext cx="10958660" cy="1371600"/>
          </a:xfrm>
          <a:prstGeom prst="rect">
            <a:avLst/>
          </a:prstGeom>
        </p:spPr>
        <p:txBody>
          <a:bodyPr anchor="t" rtlCol="false" tIns="0" lIns="0" bIns="0" rIns="0">
            <a:spAutoFit/>
          </a:bodyPr>
          <a:lstStyle/>
          <a:p>
            <a:pPr algn="l">
              <a:lnSpc>
                <a:spcPts val="10800"/>
              </a:lnSpc>
            </a:pPr>
            <a:r>
              <a:rPr lang="en-US" b="true" sz="9000">
                <a:solidFill>
                  <a:srgbClr val="003EA8"/>
                </a:solidFill>
                <a:latin typeface="Muli Bold"/>
                <a:ea typeface="Muli Bold"/>
                <a:cs typeface="Muli Bold"/>
                <a:sym typeface="Muli Bold"/>
              </a:rPr>
              <a:t>Trang Bảng trắng</a:t>
            </a:r>
          </a:p>
        </p:txBody>
      </p:sp>
      <p:grpSp>
        <p:nvGrpSpPr>
          <p:cNvPr name="Group 29" id="29"/>
          <p:cNvGrpSpPr/>
          <p:nvPr/>
        </p:nvGrpSpPr>
        <p:grpSpPr>
          <a:xfrm rot="0">
            <a:off x="13827364" y="976124"/>
            <a:ext cx="3539104" cy="617207"/>
            <a:chOff x="0" y="0"/>
            <a:chExt cx="4718805" cy="822943"/>
          </a:xfrm>
        </p:grpSpPr>
        <p:grpSp>
          <p:nvGrpSpPr>
            <p:cNvPr name="Group 30" id="30"/>
            <p:cNvGrpSpPr/>
            <p:nvPr/>
          </p:nvGrpSpPr>
          <p:grpSpPr>
            <a:xfrm rot="0">
              <a:off x="0" y="0"/>
              <a:ext cx="4718805" cy="822943"/>
              <a:chOff x="0" y="0"/>
              <a:chExt cx="1291075" cy="225159"/>
            </a:xfrm>
          </p:grpSpPr>
          <p:sp>
            <p:nvSpPr>
              <p:cNvPr name="Freeform 31" id="31"/>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003EA8"/>
              </a:solidFill>
            </p:spPr>
          </p:sp>
        </p:grpSp>
        <p:sp>
          <p:nvSpPr>
            <p:cNvPr name="TextBox 32" id="32"/>
            <p:cNvSpPr txBox="true"/>
            <p:nvPr/>
          </p:nvSpPr>
          <p:spPr>
            <a:xfrm rot="0">
              <a:off x="307158" y="188375"/>
              <a:ext cx="4104490" cy="408093"/>
            </a:xfrm>
            <a:prstGeom prst="rect">
              <a:avLst/>
            </a:prstGeom>
          </p:spPr>
          <p:txBody>
            <a:bodyPr anchor="t" rtlCol="false" tIns="0" lIns="0" bIns="0" rIns="0">
              <a:spAutoFit/>
            </a:bodyPr>
            <a:lstStyle/>
            <a:p>
              <a:pPr algn="ctr">
                <a:lnSpc>
                  <a:spcPts val="2554"/>
                </a:lnSpc>
              </a:pPr>
              <a:r>
                <a:rPr lang="en-US" sz="1824" u="sng">
                  <a:solidFill>
                    <a:srgbClr val="FFFFFF"/>
                  </a:solidFill>
                  <a:latin typeface="Cabin"/>
                  <a:ea typeface="Cabin"/>
                  <a:cs typeface="Cabin"/>
                  <a:sym typeface="Cabin"/>
                  <a:hlinkClick r:id="rId5" action="ppaction://hlinksldjump"/>
                </a:rPr>
                <a:t>Quay lại Trang Chương trình</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371348" y="3481793"/>
            <a:ext cx="3545459" cy="1599336"/>
            <a:chOff x="0" y="0"/>
            <a:chExt cx="817927" cy="368962"/>
          </a:xfrm>
        </p:grpSpPr>
        <p:sp>
          <p:nvSpPr>
            <p:cNvPr name="Freeform 3" id="3"/>
            <p:cNvSpPr/>
            <p:nvPr/>
          </p:nvSpPr>
          <p:spPr>
            <a:xfrm flipH="false" flipV="false" rot="0">
              <a:off x="0" y="0"/>
              <a:ext cx="817927" cy="368962"/>
            </a:xfrm>
            <a:custGeom>
              <a:avLst/>
              <a:gdLst/>
              <a:ahLst/>
              <a:cxnLst/>
              <a:rect r="r" b="b" t="t" l="l"/>
              <a:pathLst>
                <a:path h="368962" w="817927">
                  <a:moveTo>
                    <a:pt x="0" y="0"/>
                  </a:moveTo>
                  <a:lnTo>
                    <a:pt x="817927" y="0"/>
                  </a:lnTo>
                  <a:lnTo>
                    <a:pt x="817927" y="368962"/>
                  </a:lnTo>
                  <a:lnTo>
                    <a:pt x="0" y="368962"/>
                  </a:lnTo>
                  <a:close/>
                </a:path>
              </a:pathLst>
            </a:custGeom>
            <a:solidFill>
              <a:srgbClr val="003EA8"/>
            </a:solidFill>
          </p:spPr>
        </p:sp>
        <p:sp>
          <p:nvSpPr>
            <p:cNvPr name="TextBox 4" id="4"/>
            <p:cNvSpPr txBox="true"/>
            <p:nvPr/>
          </p:nvSpPr>
          <p:spPr>
            <a:xfrm>
              <a:off x="0" y="-38100"/>
              <a:ext cx="817927" cy="407062"/>
            </a:xfrm>
            <a:prstGeom prst="rect">
              <a:avLst/>
            </a:prstGeom>
          </p:spPr>
          <p:txBody>
            <a:bodyPr anchor="ctr" rtlCol="false" tIns="254000" lIns="254000" bIns="254000" rIns="254000"/>
            <a:lstStyle/>
            <a:p>
              <a:pPr algn="ctr">
                <a:lnSpc>
                  <a:spcPts val="3499"/>
                </a:lnSpc>
              </a:pPr>
              <a:r>
                <a:rPr lang="en-US" b="true" sz="2499">
                  <a:solidFill>
                    <a:srgbClr val="FFFFFF"/>
                  </a:solidFill>
                  <a:latin typeface="Muli Bold"/>
                  <a:ea typeface="Muli Bold"/>
                  <a:cs typeface="Muli Bold"/>
                  <a:sym typeface="Muli Bold"/>
                </a:rPr>
                <a:t>Thêm chủ đề chính</a:t>
              </a:r>
            </a:p>
          </p:txBody>
        </p:sp>
      </p:grpSp>
      <p:grpSp>
        <p:nvGrpSpPr>
          <p:cNvPr name="Group 5" id="5"/>
          <p:cNvGrpSpPr/>
          <p:nvPr/>
        </p:nvGrpSpPr>
        <p:grpSpPr>
          <a:xfrm rot="0">
            <a:off x="11945507" y="3673700"/>
            <a:ext cx="2223948" cy="1215522"/>
            <a:chOff x="0" y="0"/>
            <a:chExt cx="1086195" cy="593671"/>
          </a:xfrm>
        </p:grpSpPr>
        <p:sp>
          <p:nvSpPr>
            <p:cNvPr name="Freeform 6" id="6"/>
            <p:cNvSpPr/>
            <p:nvPr/>
          </p:nvSpPr>
          <p:spPr>
            <a:xfrm flipH="false" flipV="false" rot="0">
              <a:off x="0" y="0"/>
              <a:ext cx="1086195" cy="593671"/>
            </a:xfrm>
            <a:custGeom>
              <a:avLst/>
              <a:gdLst/>
              <a:ahLst/>
              <a:cxnLst/>
              <a:rect r="r" b="b" t="t" l="l"/>
              <a:pathLst>
                <a:path h="593671" w="1086195">
                  <a:moveTo>
                    <a:pt x="0" y="0"/>
                  </a:moveTo>
                  <a:lnTo>
                    <a:pt x="1086195" y="0"/>
                  </a:lnTo>
                  <a:lnTo>
                    <a:pt x="1086195" y="593671"/>
                  </a:lnTo>
                  <a:lnTo>
                    <a:pt x="0" y="593671"/>
                  </a:lnTo>
                  <a:close/>
                </a:path>
              </a:pathLst>
            </a:custGeom>
            <a:solidFill>
              <a:srgbClr val="000000"/>
            </a:solidFill>
          </p:spPr>
        </p:sp>
        <p:sp>
          <p:nvSpPr>
            <p:cNvPr name="TextBox 7" id="7"/>
            <p:cNvSpPr txBox="true"/>
            <p:nvPr/>
          </p:nvSpPr>
          <p:spPr>
            <a:xfrm>
              <a:off x="0" y="-28575"/>
              <a:ext cx="1086195" cy="62224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b="true" sz="1500">
                  <a:solidFill>
                    <a:srgbClr val="FFFFFF"/>
                  </a:solidFill>
                  <a:latin typeface="Muli Bold"/>
                  <a:ea typeface="Muli Bold"/>
                  <a:cs typeface="Muli Bold"/>
                  <a:sym typeface="Muli Bold"/>
                </a:rPr>
                <a:t>liên quan</a:t>
              </a:r>
            </a:p>
          </p:txBody>
        </p:sp>
      </p:grpSp>
      <p:grpSp>
        <p:nvGrpSpPr>
          <p:cNvPr name="Group 8" id="8"/>
          <p:cNvGrpSpPr/>
          <p:nvPr/>
        </p:nvGrpSpPr>
        <p:grpSpPr>
          <a:xfrm rot="0">
            <a:off x="8032103" y="6079552"/>
            <a:ext cx="2223948" cy="1215522"/>
            <a:chOff x="0" y="0"/>
            <a:chExt cx="1086195" cy="593671"/>
          </a:xfrm>
        </p:grpSpPr>
        <p:sp>
          <p:nvSpPr>
            <p:cNvPr name="Freeform 9" id="9"/>
            <p:cNvSpPr/>
            <p:nvPr/>
          </p:nvSpPr>
          <p:spPr>
            <a:xfrm flipH="false" flipV="false" rot="0">
              <a:off x="0" y="0"/>
              <a:ext cx="1086195" cy="593671"/>
            </a:xfrm>
            <a:custGeom>
              <a:avLst/>
              <a:gdLst/>
              <a:ahLst/>
              <a:cxnLst/>
              <a:rect r="r" b="b" t="t" l="l"/>
              <a:pathLst>
                <a:path h="593671" w="1086195">
                  <a:moveTo>
                    <a:pt x="0" y="0"/>
                  </a:moveTo>
                  <a:lnTo>
                    <a:pt x="1086195" y="0"/>
                  </a:lnTo>
                  <a:lnTo>
                    <a:pt x="1086195" y="593671"/>
                  </a:lnTo>
                  <a:lnTo>
                    <a:pt x="0" y="593671"/>
                  </a:lnTo>
                  <a:close/>
                </a:path>
              </a:pathLst>
            </a:custGeom>
            <a:solidFill>
              <a:srgbClr val="000000"/>
            </a:solidFill>
          </p:spPr>
        </p:sp>
        <p:sp>
          <p:nvSpPr>
            <p:cNvPr name="TextBox 10" id="10"/>
            <p:cNvSpPr txBox="true"/>
            <p:nvPr/>
          </p:nvSpPr>
          <p:spPr>
            <a:xfrm>
              <a:off x="0" y="-28575"/>
              <a:ext cx="1086195" cy="62224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b="true" sz="1500">
                  <a:solidFill>
                    <a:srgbClr val="FFFFFF"/>
                  </a:solidFill>
                  <a:latin typeface="Muli Bold"/>
                  <a:ea typeface="Muli Bold"/>
                  <a:cs typeface="Muli Bold"/>
                  <a:sym typeface="Muli Bold"/>
                </a:rPr>
                <a:t>liên quan</a:t>
              </a:r>
            </a:p>
          </p:txBody>
        </p:sp>
      </p:grpSp>
      <p:grpSp>
        <p:nvGrpSpPr>
          <p:cNvPr name="Group 11" id="11"/>
          <p:cNvGrpSpPr/>
          <p:nvPr/>
        </p:nvGrpSpPr>
        <p:grpSpPr>
          <a:xfrm rot="0">
            <a:off x="8032103" y="1296424"/>
            <a:ext cx="2223948" cy="1215522"/>
            <a:chOff x="0" y="0"/>
            <a:chExt cx="1086195" cy="593671"/>
          </a:xfrm>
        </p:grpSpPr>
        <p:sp>
          <p:nvSpPr>
            <p:cNvPr name="Freeform 12" id="12"/>
            <p:cNvSpPr/>
            <p:nvPr/>
          </p:nvSpPr>
          <p:spPr>
            <a:xfrm flipH="false" flipV="false" rot="0">
              <a:off x="0" y="0"/>
              <a:ext cx="1086195" cy="593671"/>
            </a:xfrm>
            <a:custGeom>
              <a:avLst/>
              <a:gdLst/>
              <a:ahLst/>
              <a:cxnLst/>
              <a:rect r="r" b="b" t="t" l="l"/>
              <a:pathLst>
                <a:path h="593671" w="1086195">
                  <a:moveTo>
                    <a:pt x="0" y="0"/>
                  </a:moveTo>
                  <a:lnTo>
                    <a:pt x="1086195" y="0"/>
                  </a:lnTo>
                  <a:lnTo>
                    <a:pt x="1086195" y="593671"/>
                  </a:lnTo>
                  <a:lnTo>
                    <a:pt x="0" y="593671"/>
                  </a:lnTo>
                  <a:close/>
                </a:path>
              </a:pathLst>
            </a:custGeom>
            <a:solidFill>
              <a:srgbClr val="000000"/>
            </a:solidFill>
          </p:spPr>
        </p:sp>
        <p:sp>
          <p:nvSpPr>
            <p:cNvPr name="TextBox 13" id="13"/>
            <p:cNvSpPr txBox="true"/>
            <p:nvPr/>
          </p:nvSpPr>
          <p:spPr>
            <a:xfrm>
              <a:off x="0" y="-28575"/>
              <a:ext cx="1086195" cy="622246"/>
            </a:xfrm>
            <a:prstGeom prst="rect">
              <a:avLst/>
            </a:prstGeom>
          </p:spPr>
          <p:txBody>
            <a:bodyPr anchor="ctr" rtlCol="false" tIns="254000" lIns="254000" bIns="254000" rIns="254000"/>
            <a:lstStyle/>
            <a:p>
              <a:pPr algn="ctr">
                <a:lnSpc>
                  <a:spcPts val="2100"/>
                </a:lnSpc>
              </a:pPr>
              <a:r>
                <a:rPr lang="en-US" b="true" sz="1500">
                  <a:solidFill>
                    <a:srgbClr val="FFFFFF"/>
                  </a:solidFill>
                  <a:latin typeface="Muli Bold"/>
                  <a:ea typeface="Muli Bold"/>
                  <a:cs typeface="Muli Bold"/>
                  <a:sym typeface="Muli Bold"/>
                </a:rPr>
                <a:t>Thêm ý tưởng</a:t>
              </a:r>
            </a:p>
            <a:p>
              <a:pPr algn="ctr">
                <a:lnSpc>
                  <a:spcPts val="2100"/>
                </a:lnSpc>
              </a:pPr>
              <a:r>
                <a:rPr lang="en-US" b="true" sz="1500">
                  <a:solidFill>
                    <a:srgbClr val="FFFFFF"/>
                  </a:solidFill>
                  <a:latin typeface="Muli Bold"/>
                  <a:ea typeface="Muli Bold"/>
                  <a:cs typeface="Muli Bold"/>
                  <a:sym typeface="Muli Bold"/>
                </a:rPr>
                <a:t>liên quan</a:t>
              </a:r>
            </a:p>
          </p:txBody>
        </p:sp>
      </p:grpSp>
      <p:grpSp>
        <p:nvGrpSpPr>
          <p:cNvPr name="Group 14" id="14"/>
          <p:cNvGrpSpPr/>
          <p:nvPr/>
        </p:nvGrpSpPr>
        <p:grpSpPr>
          <a:xfrm rot="0">
            <a:off x="4118700" y="3673700"/>
            <a:ext cx="2223948" cy="1215522"/>
            <a:chOff x="0" y="0"/>
            <a:chExt cx="1086195" cy="593671"/>
          </a:xfrm>
        </p:grpSpPr>
        <p:sp>
          <p:nvSpPr>
            <p:cNvPr name="Freeform 15" id="15"/>
            <p:cNvSpPr/>
            <p:nvPr/>
          </p:nvSpPr>
          <p:spPr>
            <a:xfrm flipH="false" flipV="false" rot="0">
              <a:off x="0" y="0"/>
              <a:ext cx="1086195" cy="593671"/>
            </a:xfrm>
            <a:custGeom>
              <a:avLst/>
              <a:gdLst/>
              <a:ahLst/>
              <a:cxnLst/>
              <a:rect r="r" b="b" t="t" l="l"/>
              <a:pathLst>
                <a:path h="593671" w="1086195">
                  <a:moveTo>
                    <a:pt x="0" y="0"/>
                  </a:moveTo>
                  <a:lnTo>
                    <a:pt x="1086195" y="0"/>
                  </a:lnTo>
                  <a:lnTo>
                    <a:pt x="1086195" y="593671"/>
                  </a:lnTo>
                  <a:lnTo>
                    <a:pt x="0" y="593671"/>
                  </a:lnTo>
                  <a:close/>
                </a:path>
              </a:pathLst>
            </a:custGeom>
            <a:solidFill>
              <a:srgbClr val="000000"/>
            </a:solidFill>
          </p:spPr>
        </p:sp>
        <p:sp>
          <p:nvSpPr>
            <p:cNvPr name="TextBox 16" id="16"/>
            <p:cNvSpPr txBox="true"/>
            <p:nvPr/>
          </p:nvSpPr>
          <p:spPr>
            <a:xfrm>
              <a:off x="0" y="-28575"/>
              <a:ext cx="1086195" cy="62224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b="true" sz="1500">
                  <a:solidFill>
                    <a:srgbClr val="FFFFFF"/>
                  </a:solidFill>
                  <a:latin typeface="Muli Bold"/>
                  <a:ea typeface="Muli Bold"/>
                  <a:cs typeface="Muli Bold"/>
                  <a:sym typeface="Muli Bold"/>
                </a:rPr>
                <a:t>liên quan</a:t>
              </a:r>
            </a:p>
          </p:txBody>
        </p:sp>
      </p:grpSp>
      <p:sp>
        <p:nvSpPr>
          <p:cNvPr name="AutoShape 17" id="17"/>
          <p:cNvSpPr/>
          <p:nvPr/>
        </p:nvSpPr>
        <p:spPr>
          <a:xfrm>
            <a:off x="10916807" y="4281461"/>
            <a:ext cx="1028700" cy="0"/>
          </a:xfrm>
          <a:prstGeom prst="line">
            <a:avLst/>
          </a:prstGeom>
          <a:ln cap="rnd" w="28575">
            <a:solidFill>
              <a:srgbClr val="003EA8"/>
            </a:solidFill>
            <a:prstDash val="solid"/>
            <a:headEnd type="none" len="sm" w="sm"/>
            <a:tailEnd type="triangle" len="med" w="lg"/>
          </a:ln>
        </p:spPr>
      </p:sp>
      <p:sp>
        <p:nvSpPr>
          <p:cNvPr name="AutoShape 18" id="18"/>
          <p:cNvSpPr/>
          <p:nvPr/>
        </p:nvSpPr>
        <p:spPr>
          <a:xfrm flipH="true">
            <a:off x="6342648" y="4281461"/>
            <a:ext cx="1028700" cy="0"/>
          </a:xfrm>
          <a:prstGeom prst="line">
            <a:avLst/>
          </a:prstGeom>
          <a:ln cap="rnd" w="28575">
            <a:solidFill>
              <a:srgbClr val="003EA8"/>
            </a:solidFill>
            <a:prstDash val="solid"/>
            <a:headEnd type="none" len="sm" w="sm"/>
            <a:tailEnd type="triangle" len="med" w="lg"/>
          </a:ln>
        </p:spPr>
      </p:sp>
      <p:sp>
        <p:nvSpPr>
          <p:cNvPr name="AutoShape 19" id="19"/>
          <p:cNvSpPr/>
          <p:nvPr/>
        </p:nvSpPr>
        <p:spPr>
          <a:xfrm flipV="true">
            <a:off x="9144078" y="2511945"/>
            <a:ext cx="0" cy="969848"/>
          </a:xfrm>
          <a:prstGeom prst="line">
            <a:avLst/>
          </a:prstGeom>
          <a:ln cap="rnd" w="28575">
            <a:solidFill>
              <a:srgbClr val="003EA8"/>
            </a:solidFill>
            <a:prstDash val="solid"/>
            <a:headEnd type="none" len="sm" w="sm"/>
            <a:tailEnd type="triangle" len="med" w="lg"/>
          </a:ln>
        </p:spPr>
      </p:sp>
      <p:sp>
        <p:nvSpPr>
          <p:cNvPr name="AutoShape 20" id="20"/>
          <p:cNvSpPr/>
          <p:nvPr/>
        </p:nvSpPr>
        <p:spPr>
          <a:xfrm>
            <a:off x="9144078" y="5081129"/>
            <a:ext cx="0" cy="998423"/>
          </a:xfrm>
          <a:prstGeom prst="line">
            <a:avLst/>
          </a:prstGeom>
          <a:ln cap="rnd" w="28575">
            <a:solidFill>
              <a:srgbClr val="003EA8"/>
            </a:solidFill>
            <a:prstDash val="solid"/>
            <a:headEnd type="none" len="sm" w="sm"/>
            <a:tailEnd type="triangle" len="med" w="lg"/>
          </a:ln>
        </p:spPr>
      </p:sp>
      <p:grpSp>
        <p:nvGrpSpPr>
          <p:cNvPr name="Group 21" id="21"/>
          <p:cNvGrpSpPr/>
          <p:nvPr/>
        </p:nvGrpSpPr>
        <p:grpSpPr>
          <a:xfrm rot="0">
            <a:off x="11431161" y="783469"/>
            <a:ext cx="2243683" cy="947872"/>
            <a:chOff x="0" y="0"/>
            <a:chExt cx="1095833" cy="462949"/>
          </a:xfrm>
        </p:grpSpPr>
        <p:sp>
          <p:nvSpPr>
            <p:cNvPr name="Freeform 22" id="22"/>
            <p:cNvSpPr/>
            <p:nvPr/>
          </p:nvSpPr>
          <p:spPr>
            <a:xfrm flipH="false" flipV="false" rot="0">
              <a:off x="0" y="0"/>
              <a:ext cx="1095833" cy="462949"/>
            </a:xfrm>
            <a:custGeom>
              <a:avLst/>
              <a:gdLst/>
              <a:ahLst/>
              <a:cxnLst/>
              <a:rect r="r" b="b" t="t" l="l"/>
              <a:pathLst>
                <a:path h="462949" w="1095833">
                  <a:moveTo>
                    <a:pt x="0" y="0"/>
                  </a:moveTo>
                  <a:lnTo>
                    <a:pt x="1095833" y="0"/>
                  </a:lnTo>
                  <a:lnTo>
                    <a:pt x="1095833" y="462949"/>
                  </a:lnTo>
                  <a:lnTo>
                    <a:pt x="0" y="462949"/>
                  </a:lnTo>
                  <a:close/>
                </a:path>
              </a:pathLst>
            </a:custGeom>
            <a:solidFill>
              <a:srgbClr val="CCCCCC"/>
            </a:solidFill>
          </p:spPr>
        </p:sp>
        <p:sp>
          <p:nvSpPr>
            <p:cNvPr name="TextBox 23" id="23"/>
            <p:cNvSpPr txBox="true"/>
            <p:nvPr/>
          </p:nvSpPr>
          <p:spPr>
            <a:xfrm>
              <a:off x="0" y="-28575"/>
              <a:ext cx="1095833" cy="491524"/>
            </a:xfrm>
            <a:prstGeom prst="rect">
              <a:avLst/>
            </a:prstGeom>
          </p:spPr>
          <p:txBody>
            <a:bodyPr anchor="ctr" rtlCol="false" tIns="254000" lIns="254000" bIns="254000" rIns="254000"/>
            <a:lstStyle/>
            <a:p>
              <a:pPr algn="ctr">
                <a:lnSpc>
                  <a:spcPts val="2100"/>
                </a:lnSpc>
              </a:pPr>
              <a:r>
                <a:rPr lang="en-US" sz="1500" b="true">
                  <a:solidFill>
                    <a:srgbClr val="000000"/>
                  </a:solidFill>
                  <a:latin typeface="Muli Bold"/>
                  <a:ea typeface="Muli Bold"/>
                  <a:cs typeface="Muli Bold"/>
                  <a:sym typeface="Muli Bold"/>
                </a:rPr>
                <a:t>Thêm ý tưởng phụ</a:t>
              </a:r>
            </a:p>
          </p:txBody>
        </p:sp>
      </p:grpSp>
      <p:grpSp>
        <p:nvGrpSpPr>
          <p:cNvPr name="Group 24" id="24"/>
          <p:cNvGrpSpPr/>
          <p:nvPr/>
        </p:nvGrpSpPr>
        <p:grpSpPr>
          <a:xfrm rot="0">
            <a:off x="11431161" y="2009979"/>
            <a:ext cx="2243683" cy="947872"/>
            <a:chOff x="0" y="0"/>
            <a:chExt cx="1095833" cy="462949"/>
          </a:xfrm>
        </p:grpSpPr>
        <p:sp>
          <p:nvSpPr>
            <p:cNvPr name="Freeform 25" id="25"/>
            <p:cNvSpPr/>
            <p:nvPr/>
          </p:nvSpPr>
          <p:spPr>
            <a:xfrm flipH="false" flipV="false" rot="0">
              <a:off x="0" y="0"/>
              <a:ext cx="1095833" cy="462949"/>
            </a:xfrm>
            <a:custGeom>
              <a:avLst/>
              <a:gdLst/>
              <a:ahLst/>
              <a:cxnLst/>
              <a:rect r="r" b="b" t="t" l="l"/>
              <a:pathLst>
                <a:path h="462949" w="1095833">
                  <a:moveTo>
                    <a:pt x="0" y="0"/>
                  </a:moveTo>
                  <a:lnTo>
                    <a:pt x="1095833" y="0"/>
                  </a:lnTo>
                  <a:lnTo>
                    <a:pt x="1095833" y="462949"/>
                  </a:lnTo>
                  <a:lnTo>
                    <a:pt x="0" y="462949"/>
                  </a:lnTo>
                  <a:close/>
                </a:path>
              </a:pathLst>
            </a:custGeom>
            <a:solidFill>
              <a:srgbClr val="CCCCCC"/>
            </a:solidFill>
          </p:spPr>
        </p:sp>
        <p:sp>
          <p:nvSpPr>
            <p:cNvPr name="TextBox 26" id="26"/>
            <p:cNvSpPr txBox="true"/>
            <p:nvPr/>
          </p:nvSpPr>
          <p:spPr>
            <a:xfrm>
              <a:off x="0" y="-28575"/>
              <a:ext cx="1095833" cy="491524"/>
            </a:xfrm>
            <a:prstGeom prst="rect">
              <a:avLst/>
            </a:prstGeom>
          </p:spPr>
          <p:txBody>
            <a:bodyPr anchor="ctr" rtlCol="false" tIns="254000" lIns="254000" bIns="254000" rIns="254000"/>
            <a:lstStyle/>
            <a:p>
              <a:pPr algn="ctr">
                <a:lnSpc>
                  <a:spcPts val="2100"/>
                </a:lnSpc>
              </a:pPr>
              <a:r>
                <a:rPr lang="en-US" sz="1500" b="true">
                  <a:solidFill>
                    <a:srgbClr val="000000"/>
                  </a:solidFill>
                  <a:latin typeface="Muli Bold"/>
                  <a:ea typeface="Muli Bold"/>
                  <a:cs typeface="Muli Bold"/>
                  <a:sym typeface="Muli Bold"/>
                </a:rPr>
                <a:t>Thêm ý tưởng phụ</a:t>
              </a:r>
            </a:p>
          </p:txBody>
        </p:sp>
      </p:grpSp>
      <p:sp>
        <p:nvSpPr>
          <p:cNvPr name="AutoShape 27" id="27"/>
          <p:cNvSpPr/>
          <p:nvPr/>
        </p:nvSpPr>
        <p:spPr>
          <a:xfrm flipV="true">
            <a:off x="10256052" y="1257405"/>
            <a:ext cx="1175110" cy="646779"/>
          </a:xfrm>
          <a:prstGeom prst="line">
            <a:avLst/>
          </a:prstGeom>
          <a:ln cap="rnd" w="28575">
            <a:solidFill>
              <a:srgbClr val="003EA8"/>
            </a:solidFill>
            <a:prstDash val="solid"/>
            <a:headEnd type="none" len="sm" w="sm"/>
            <a:tailEnd type="triangle" len="med" w="lg"/>
          </a:ln>
        </p:spPr>
      </p:sp>
      <p:sp>
        <p:nvSpPr>
          <p:cNvPr name="AutoShape 28" id="28"/>
          <p:cNvSpPr/>
          <p:nvPr/>
        </p:nvSpPr>
        <p:spPr>
          <a:xfrm>
            <a:off x="10256052" y="1904184"/>
            <a:ext cx="1175110" cy="579731"/>
          </a:xfrm>
          <a:prstGeom prst="line">
            <a:avLst/>
          </a:prstGeom>
          <a:ln cap="rnd" w="28575">
            <a:solidFill>
              <a:srgbClr val="003EA8"/>
            </a:solidFill>
            <a:prstDash val="solid"/>
            <a:headEnd type="none" len="sm" w="sm"/>
            <a:tailEnd type="triangle" len="med" w="lg"/>
          </a:ln>
        </p:spPr>
      </p:sp>
      <p:grpSp>
        <p:nvGrpSpPr>
          <p:cNvPr name="Group 29" id="29"/>
          <p:cNvGrpSpPr/>
          <p:nvPr/>
        </p:nvGrpSpPr>
        <p:grpSpPr>
          <a:xfrm rot="0">
            <a:off x="14717414" y="2064005"/>
            <a:ext cx="2025837" cy="946976"/>
            <a:chOff x="0" y="0"/>
            <a:chExt cx="989435" cy="462511"/>
          </a:xfrm>
        </p:grpSpPr>
        <p:sp>
          <p:nvSpPr>
            <p:cNvPr name="Freeform 30" id="30"/>
            <p:cNvSpPr/>
            <p:nvPr/>
          </p:nvSpPr>
          <p:spPr>
            <a:xfrm flipH="false" flipV="false" rot="0">
              <a:off x="0" y="0"/>
              <a:ext cx="989435" cy="462511"/>
            </a:xfrm>
            <a:custGeom>
              <a:avLst/>
              <a:gdLst/>
              <a:ahLst/>
              <a:cxnLst/>
              <a:rect r="r" b="b" t="t" l="l"/>
              <a:pathLst>
                <a:path h="462511" w="989435">
                  <a:moveTo>
                    <a:pt x="0" y="0"/>
                  </a:moveTo>
                  <a:lnTo>
                    <a:pt x="989435" y="0"/>
                  </a:lnTo>
                  <a:lnTo>
                    <a:pt x="989435" y="462511"/>
                  </a:lnTo>
                  <a:lnTo>
                    <a:pt x="0" y="462511"/>
                  </a:lnTo>
                  <a:close/>
                </a:path>
              </a:pathLst>
            </a:custGeom>
            <a:solidFill>
              <a:srgbClr val="003EA8"/>
            </a:solidFill>
          </p:spPr>
        </p:sp>
        <p:sp>
          <p:nvSpPr>
            <p:cNvPr name="TextBox 31" id="31"/>
            <p:cNvSpPr txBox="true"/>
            <p:nvPr/>
          </p:nvSpPr>
          <p:spPr>
            <a:xfrm>
              <a:off x="0" y="-28575"/>
              <a:ext cx="989435" cy="49108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sz="1500" b="true">
                  <a:solidFill>
                    <a:srgbClr val="FFFFFF"/>
                  </a:solidFill>
                  <a:latin typeface="Muli Bold"/>
                  <a:ea typeface="Muli Bold"/>
                  <a:cs typeface="Muli Bold"/>
                  <a:sym typeface="Muli Bold"/>
                </a:rPr>
                <a:t>phụ hơn nữa</a:t>
              </a:r>
            </a:p>
          </p:txBody>
        </p:sp>
      </p:grpSp>
      <p:grpSp>
        <p:nvGrpSpPr>
          <p:cNvPr name="Group 32" id="32"/>
          <p:cNvGrpSpPr/>
          <p:nvPr/>
        </p:nvGrpSpPr>
        <p:grpSpPr>
          <a:xfrm rot="0">
            <a:off x="14717414" y="819255"/>
            <a:ext cx="2025837" cy="946976"/>
            <a:chOff x="0" y="0"/>
            <a:chExt cx="989435" cy="462511"/>
          </a:xfrm>
        </p:grpSpPr>
        <p:sp>
          <p:nvSpPr>
            <p:cNvPr name="Freeform 33" id="33"/>
            <p:cNvSpPr/>
            <p:nvPr/>
          </p:nvSpPr>
          <p:spPr>
            <a:xfrm flipH="false" flipV="false" rot="0">
              <a:off x="0" y="0"/>
              <a:ext cx="989435" cy="462511"/>
            </a:xfrm>
            <a:custGeom>
              <a:avLst/>
              <a:gdLst/>
              <a:ahLst/>
              <a:cxnLst/>
              <a:rect r="r" b="b" t="t" l="l"/>
              <a:pathLst>
                <a:path h="462511" w="989435">
                  <a:moveTo>
                    <a:pt x="0" y="0"/>
                  </a:moveTo>
                  <a:lnTo>
                    <a:pt x="989435" y="0"/>
                  </a:lnTo>
                  <a:lnTo>
                    <a:pt x="989435" y="462511"/>
                  </a:lnTo>
                  <a:lnTo>
                    <a:pt x="0" y="462511"/>
                  </a:lnTo>
                  <a:close/>
                </a:path>
              </a:pathLst>
            </a:custGeom>
            <a:solidFill>
              <a:srgbClr val="003EA8"/>
            </a:solidFill>
          </p:spPr>
        </p:sp>
        <p:sp>
          <p:nvSpPr>
            <p:cNvPr name="TextBox 34" id="34"/>
            <p:cNvSpPr txBox="true"/>
            <p:nvPr/>
          </p:nvSpPr>
          <p:spPr>
            <a:xfrm>
              <a:off x="0" y="-28575"/>
              <a:ext cx="989435" cy="49108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sz="1500" b="true">
                  <a:solidFill>
                    <a:srgbClr val="FFFFFF"/>
                  </a:solidFill>
                  <a:latin typeface="Muli Bold"/>
                  <a:ea typeface="Muli Bold"/>
                  <a:cs typeface="Muli Bold"/>
                  <a:sym typeface="Muli Bold"/>
                </a:rPr>
                <a:t>phụ hơn nữa</a:t>
              </a:r>
            </a:p>
          </p:txBody>
        </p:sp>
      </p:grpSp>
      <p:grpSp>
        <p:nvGrpSpPr>
          <p:cNvPr name="Group 35" id="35"/>
          <p:cNvGrpSpPr/>
          <p:nvPr/>
        </p:nvGrpSpPr>
        <p:grpSpPr>
          <a:xfrm rot="0">
            <a:off x="1544749" y="6907303"/>
            <a:ext cx="2025837" cy="946976"/>
            <a:chOff x="0" y="0"/>
            <a:chExt cx="989435" cy="462511"/>
          </a:xfrm>
        </p:grpSpPr>
        <p:sp>
          <p:nvSpPr>
            <p:cNvPr name="Freeform 36" id="36"/>
            <p:cNvSpPr/>
            <p:nvPr/>
          </p:nvSpPr>
          <p:spPr>
            <a:xfrm flipH="false" flipV="false" rot="0">
              <a:off x="0" y="0"/>
              <a:ext cx="989435" cy="462511"/>
            </a:xfrm>
            <a:custGeom>
              <a:avLst/>
              <a:gdLst/>
              <a:ahLst/>
              <a:cxnLst/>
              <a:rect r="r" b="b" t="t" l="l"/>
              <a:pathLst>
                <a:path h="462511" w="989435">
                  <a:moveTo>
                    <a:pt x="0" y="0"/>
                  </a:moveTo>
                  <a:lnTo>
                    <a:pt x="989435" y="0"/>
                  </a:lnTo>
                  <a:lnTo>
                    <a:pt x="989435" y="462511"/>
                  </a:lnTo>
                  <a:lnTo>
                    <a:pt x="0" y="462511"/>
                  </a:lnTo>
                  <a:close/>
                </a:path>
              </a:pathLst>
            </a:custGeom>
            <a:solidFill>
              <a:srgbClr val="003EA8"/>
            </a:solidFill>
          </p:spPr>
        </p:sp>
        <p:sp>
          <p:nvSpPr>
            <p:cNvPr name="TextBox 37" id="37"/>
            <p:cNvSpPr txBox="true"/>
            <p:nvPr/>
          </p:nvSpPr>
          <p:spPr>
            <a:xfrm>
              <a:off x="0" y="-28575"/>
              <a:ext cx="989435" cy="49108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sz="1500" b="true">
                  <a:solidFill>
                    <a:srgbClr val="FFFFFF"/>
                  </a:solidFill>
                  <a:latin typeface="Muli Bold"/>
                  <a:ea typeface="Muli Bold"/>
                  <a:cs typeface="Muli Bold"/>
                  <a:sym typeface="Muli Bold"/>
                </a:rPr>
                <a:t>phụ hơn nữa</a:t>
              </a:r>
            </a:p>
          </p:txBody>
        </p:sp>
      </p:grpSp>
      <p:grpSp>
        <p:nvGrpSpPr>
          <p:cNvPr name="Group 38" id="38"/>
          <p:cNvGrpSpPr/>
          <p:nvPr/>
        </p:nvGrpSpPr>
        <p:grpSpPr>
          <a:xfrm rot="0">
            <a:off x="1533581" y="5601019"/>
            <a:ext cx="2025837" cy="946976"/>
            <a:chOff x="0" y="0"/>
            <a:chExt cx="989435" cy="462511"/>
          </a:xfrm>
        </p:grpSpPr>
        <p:sp>
          <p:nvSpPr>
            <p:cNvPr name="Freeform 39" id="39"/>
            <p:cNvSpPr/>
            <p:nvPr/>
          </p:nvSpPr>
          <p:spPr>
            <a:xfrm flipH="false" flipV="false" rot="0">
              <a:off x="0" y="0"/>
              <a:ext cx="989435" cy="462511"/>
            </a:xfrm>
            <a:custGeom>
              <a:avLst/>
              <a:gdLst/>
              <a:ahLst/>
              <a:cxnLst/>
              <a:rect r="r" b="b" t="t" l="l"/>
              <a:pathLst>
                <a:path h="462511" w="989435">
                  <a:moveTo>
                    <a:pt x="0" y="0"/>
                  </a:moveTo>
                  <a:lnTo>
                    <a:pt x="989435" y="0"/>
                  </a:lnTo>
                  <a:lnTo>
                    <a:pt x="989435" y="462511"/>
                  </a:lnTo>
                  <a:lnTo>
                    <a:pt x="0" y="462511"/>
                  </a:lnTo>
                  <a:close/>
                </a:path>
              </a:pathLst>
            </a:custGeom>
            <a:solidFill>
              <a:srgbClr val="003EA8"/>
            </a:solidFill>
          </p:spPr>
        </p:sp>
        <p:sp>
          <p:nvSpPr>
            <p:cNvPr name="TextBox 40" id="40"/>
            <p:cNvSpPr txBox="true"/>
            <p:nvPr/>
          </p:nvSpPr>
          <p:spPr>
            <a:xfrm>
              <a:off x="0" y="-28575"/>
              <a:ext cx="989435" cy="491086"/>
            </a:xfrm>
            <a:prstGeom prst="rect">
              <a:avLst/>
            </a:prstGeom>
          </p:spPr>
          <p:txBody>
            <a:bodyPr anchor="ctr" rtlCol="false" tIns="254000" lIns="254000" bIns="254000" rIns="254000"/>
            <a:lstStyle/>
            <a:p>
              <a:pPr algn="ctr">
                <a:lnSpc>
                  <a:spcPts val="2100"/>
                </a:lnSpc>
              </a:pPr>
              <a:r>
                <a:rPr lang="en-US" sz="1500" b="true">
                  <a:solidFill>
                    <a:srgbClr val="FFFFFF"/>
                  </a:solidFill>
                  <a:latin typeface="Muli Bold"/>
                  <a:ea typeface="Muli Bold"/>
                  <a:cs typeface="Muli Bold"/>
                  <a:sym typeface="Muli Bold"/>
                </a:rPr>
                <a:t>Thêm ý tưởng</a:t>
              </a:r>
            </a:p>
            <a:p>
              <a:pPr algn="ctr">
                <a:lnSpc>
                  <a:spcPts val="2100"/>
                </a:lnSpc>
              </a:pPr>
              <a:r>
                <a:rPr lang="en-US" sz="1500" b="true">
                  <a:solidFill>
                    <a:srgbClr val="FFFFFF"/>
                  </a:solidFill>
                  <a:latin typeface="Muli Bold"/>
                  <a:ea typeface="Muli Bold"/>
                  <a:cs typeface="Muli Bold"/>
                  <a:sym typeface="Muli Bold"/>
                </a:rPr>
                <a:t>phụ hơn nữa</a:t>
              </a:r>
            </a:p>
          </p:txBody>
        </p:sp>
      </p:grpSp>
      <p:sp>
        <p:nvSpPr>
          <p:cNvPr name="AutoShape 41" id="41"/>
          <p:cNvSpPr/>
          <p:nvPr/>
        </p:nvSpPr>
        <p:spPr>
          <a:xfrm>
            <a:off x="13674845" y="2483915"/>
            <a:ext cx="1042570" cy="53578"/>
          </a:xfrm>
          <a:prstGeom prst="line">
            <a:avLst/>
          </a:prstGeom>
          <a:ln cap="rnd" w="28575">
            <a:solidFill>
              <a:srgbClr val="003EA8"/>
            </a:solidFill>
            <a:prstDash val="solid"/>
            <a:headEnd type="none" len="sm" w="sm"/>
            <a:tailEnd type="triangle" len="med" w="lg"/>
          </a:ln>
        </p:spPr>
      </p:sp>
      <p:sp>
        <p:nvSpPr>
          <p:cNvPr name="AutoShape 42" id="42"/>
          <p:cNvSpPr/>
          <p:nvPr/>
        </p:nvSpPr>
        <p:spPr>
          <a:xfrm flipV="true">
            <a:off x="13674845" y="1292743"/>
            <a:ext cx="1042570" cy="1191172"/>
          </a:xfrm>
          <a:prstGeom prst="line">
            <a:avLst/>
          </a:prstGeom>
          <a:ln cap="rnd" w="28575">
            <a:solidFill>
              <a:srgbClr val="003EA8"/>
            </a:solidFill>
            <a:prstDash val="solid"/>
            <a:headEnd type="none" len="sm" w="sm"/>
            <a:tailEnd type="triangle" len="med" w="lg"/>
          </a:ln>
        </p:spPr>
      </p:sp>
      <p:sp>
        <p:nvSpPr>
          <p:cNvPr name="AutoShape 43" id="43"/>
          <p:cNvSpPr/>
          <p:nvPr/>
        </p:nvSpPr>
        <p:spPr>
          <a:xfrm flipH="true">
            <a:off x="3570586" y="6074058"/>
            <a:ext cx="1042729" cy="1306733"/>
          </a:xfrm>
          <a:prstGeom prst="line">
            <a:avLst/>
          </a:prstGeom>
          <a:ln cap="rnd" w="28575">
            <a:solidFill>
              <a:srgbClr val="003EA8"/>
            </a:solidFill>
            <a:prstDash val="solid"/>
            <a:headEnd type="none" len="sm" w="sm"/>
            <a:tailEnd type="triangle" len="med" w="lg"/>
          </a:ln>
        </p:spPr>
      </p:sp>
      <p:sp>
        <p:nvSpPr>
          <p:cNvPr name="AutoShape 44" id="44"/>
          <p:cNvSpPr/>
          <p:nvPr/>
        </p:nvSpPr>
        <p:spPr>
          <a:xfrm flipH="true">
            <a:off x="3559418" y="6074058"/>
            <a:ext cx="1053897" cy="448"/>
          </a:xfrm>
          <a:prstGeom prst="line">
            <a:avLst/>
          </a:prstGeom>
          <a:ln cap="rnd" w="28575">
            <a:solidFill>
              <a:srgbClr val="003EA8"/>
            </a:solidFill>
            <a:prstDash val="solid"/>
            <a:headEnd type="none" len="sm" w="sm"/>
            <a:tailEnd type="triangle" len="med" w="lg"/>
          </a:ln>
        </p:spPr>
      </p:sp>
      <p:sp>
        <p:nvSpPr>
          <p:cNvPr name="AutoShape 45" id="45"/>
          <p:cNvSpPr/>
          <p:nvPr/>
        </p:nvSpPr>
        <p:spPr>
          <a:xfrm flipH="true" flipV="true">
            <a:off x="6856998" y="6074058"/>
            <a:ext cx="1175105" cy="613255"/>
          </a:xfrm>
          <a:prstGeom prst="line">
            <a:avLst/>
          </a:prstGeom>
          <a:ln cap="rnd" w="28575">
            <a:solidFill>
              <a:srgbClr val="003EA8"/>
            </a:solidFill>
            <a:prstDash val="solid"/>
            <a:headEnd type="none" len="sm" w="sm"/>
            <a:tailEnd type="triangle" len="med" w="lg"/>
          </a:ln>
        </p:spPr>
      </p:sp>
      <p:sp>
        <p:nvSpPr>
          <p:cNvPr name="AutoShape 46" id="46"/>
          <p:cNvSpPr/>
          <p:nvPr/>
        </p:nvSpPr>
        <p:spPr>
          <a:xfrm flipH="true">
            <a:off x="6856998" y="6687313"/>
            <a:ext cx="1175105" cy="613255"/>
          </a:xfrm>
          <a:prstGeom prst="line">
            <a:avLst/>
          </a:prstGeom>
          <a:ln cap="rnd" w="28575">
            <a:solidFill>
              <a:srgbClr val="003EA8"/>
            </a:solidFill>
            <a:prstDash val="solid"/>
            <a:headEnd type="none" len="sm" w="sm"/>
            <a:tailEnd type="triangle" len="med" w="lg"/>
          </a:ln>
        </p:spPr>
      </p:sp>
      <p:grpSp>
        <p:nvGrpSpPr>
          <p:cNvPr name="Group 47" id="47"/>
          <p:cNvGrpSpPr/>
          <p:nvPr/>
        </p:nvGrpSpPr>
        <p:grpSpPr>
          <a:xfrm rot="0">
            <a:off x="1286763" y="8536549"/>
            <a:ext cx="15714474" cy="1115197"/>
            <a:chOff x="0" y="0"/>
            <a:chExt cx="11855225" cy="841321"/>
          </a:xfrm>
        </p:grpSpPr>
        <p:sp>
          <p:nvSpPr>
            <p:cNvPr name="Freeform 48" id="48"/>
            <p:cNvSpPr/>
            <p:nvPr/>
          </p:nvSpPr>
          <p:spPr>
            <a:xfrm flipH="false" flipV="false" rot="0">
              <a:off x="0" y="0"/>
              <a:ext cx="11855225" cy="841321"/>
            </a:xfrm>
            <a:custGeom>
              <a:avLst/>
              <a:gdLst/>
              <a:ahLst/>
              <a:cxnLst/>
              <a:rect r="r" b="b" t="t" l="l"/>
              <a:pathLst>
                <a:path h="841321" w="11855225">
                  <a:moveTo>
                    <a:pt x="14780" y="0"/>
                  </a:moveTo>
                  <a:lnTo>
                    <a:pt x="11840445" y="0"/>
                  </a:lnTo>
                  <a:cubicBezTo>
                    <a:pt x="11848608" y="0"/>
                    <a:pt x="11855225" y="6617"/>
                    <a:pt x="11855225" y="14780"/>
                  </a:cubicBezTo>
                  <a:lnTo>
                    <a:pt x="11855225" y="826541"/>
                  </a:lnTo>
                  <a:cubicBezTo>
                    <a:pt x="11855225" y="834704"/>
                    <a:pt x="11848608" y="841321"/>
                    <a:pt x="11840445" y="841321"/>
                  </a:cubicBezTo>
                  <a:lnTo>
                    <a:pt x="14780" y="841321"/>
                  </a:lnTo>
                  <a:cubicBezTo>
                    <a:pt x="6617" y="841321"/>
                    <a:pt x="0" y="834704"/>
                    <a:pt x="0" y="826541"/>
                  </a:cubicBezTo>
                  <a:lnTo>
                    <a:pt x="0" y="14780"/>
                  </a:lnTo>
                  <a:cubicBezTo>
                    <a:pt x="0" y="6617"/>
                    <a:pt x="6617" y="0"/>
                    <a:pt x="14780" y="0"/>
                  </a:cubicBezTo>
                  <a:close/>
                </a:path>
              </a:pathLst>
            </a:custGeom>
            <a:solidFill>
              <a:srgbClr val="CCCCCC"/>
            </a:solidFill>
            <a:ln cap="rnd">
              <a:noFill/>
              <a:prstDash val="sysDot"/>
              <a:round/>
            </a:ln>
          </p:spPr>
        </p:sp>
        <p:sp>
          <p:nvSpPr>
            <p:cNvPr name="TextBox 49" id="49"/>
            <p:cNvSpPr txBox="true"/>
            <p:nvPr/>
          </p:nvSpPr>
          <p:spPr>
            <a:xfrm>
              <a:off x="0" y="-19050"/>
              <a:ext cx="11855225" cy="860371"/>
            </a:xfrm>
            <a:prstGeom prst="rect">
              <a:avLst/>
            </a:prstGeom>
          </p:spPr>
          <p:txBody>
            <a:bodyPr anchor="ctr" rtlCol="false" tIns="254000" lIns="254000" bIns="254000" rIns="254000"/>
            <a:lstStyle/>
            <a:p>
              <a:pPr algn="ctr">
                <a:lnSpc>
                  <a:spcPts val="2380"/>
                </a:lnSpc>
              </a:pPr>
              <a:r>
                <a:rPr lang="en-US" sz="1700" b="true">
                  <a:solidFill>
                    <a:srgbClr val="000000"/>
                  </a:solidFill>
                  <a:latin typeface="Muli Ultra-Bold"/>
                  <a:ea typeface="Muli Ultra-Bold"/>
                  <a:cs typeface="Muli Ultra-Bold"/>
                  <a:sym typeface="Muli Ultra-Bold"/>
                </a:rPr>
                <a:t>Mẹo: </a:t>
              </a:r>
              <a:r>
                <a:rPr lang="en-US" sz="1700" b="true">
                  <a:solidFill>
                    <a:srgbClr val="000000"/>
                  </a:solidFill>
                  <a:latin typeface="Muli Bold"/>
                  <a:ea typeface="Muli Bold"/>
                  <a:cs typeface="Muli Bold"/>
                  <a:sym typeface="Muli Bold"/>
                </a:rPr>
                <a:t>Cộng tác giúp cho quá trình làm việc nhóm trở nên dễ dàng hơn! Hãy nhấp "Chia sẻ" và mời các thành viên trong nhóm của bạn</a:t>
              </a:r>
            </a:p>
            <a:p>
              <a:pPr algn="ctr">
                <a:lnSpc>
                  <a:spcPts val="2380"/>
                </a:lnSpc>
              </a:pPr>
              <a:r>
                <a:rPr lang="en-US" sz="1700" b="true">
                  <a:solidFill>
                    <a:srgbClr val="000000"/>
                  </a:solidFill>
                  <a:latin typeface="Muli Bold"/>
                  <a:ea typeface="Muli Bold"/>
                  <a:cs typeface="Muli Bold"/>
                  <a:sym typeface="Muli Bold"/>
                </a:rPr>
                <a:t>cùng điền vào đây. Sử dụng trang này để thêm các thông báo, động não hoặc các ý tưởng nhóm thú vị khác!</a:t>
              </a:r>
            </a:p>
          </p:txBody>
        </p:sp>
      </p:grpSp>
      <p:grpSp>
        <p:nvGrpSpPr>
          <p:cNvPr name="Group 50" id="50"/>
          <p:cNvGrpSpPr/>
          <p:nvPr/>
        </p:nvGrpSpPr>
        <p:grpSpPr>
          <a:xfrm rot="0">
            <a:off x="1028700" y="1028700"/>
            <a:ext cx="3539104" cy="617207"/>
            <a:chOff x="0" y="0"/>
            <a:chExt cx="4718805" cy="822943"/>
          </a:xfrm>
        </p:grpSpPr>
        <p:grpSp>
          <p:nvGrpSpPr>
            <p:cNvPr name="Group 51" id="51"/>
            <p:cNvGrpSpPr/>
            <p:nvPr/>
          </p:nvGrpSpPr>
          <p:grpSpPr>
            <a:xfrm rot="0">
              <a:off x="0" y="0"/>
              <a:ext cx="4718805" cy="822943"/>
              <a:chOff x="0" y="0"/>
              <a:chExt cx="1291075" cy="225159"/>
            </a:xfrm>
          </p:grpSpPr>
          <p:sp>
            <p:nvSpPr>
              <p:cNvPr name="Freeform 52" id="52"/>
              <p:cNvSpPr/>
              <p:nvPr/>
            </p:nvSpPr>
            <p:spPr>
              <a:xfrm flipH="false" flipV="false" rot="0">
                <a:off x="0" y="0"/>
                <a:ext cx="1291075" cy="225159"/>
              </a:xfrm>
              <a:custGeom>
                <a:avLst/>
                <a:gdLst/>
                <a:ahLst/>
                <a:cxnLst/>
                <a:rect r="r" b="b" t="t" l="l"/>
                <a:pathLst>
                  <a:path h="225159" w="1291075">
                    <a:moveTo>
                      <a:pt x="0" y="0"/>
                    </a:moveTo>
                    <a:lnTo>
                      <a:pt x="1291075" y="0"/>
                    </a:lnTo>
                    <a:lnTo>
                      <a:pt x="1291075" y="225159"/>
                    </a:lnTo>
                    <a:lnTo>
                      <a:pt x="0" y="225159"/>
                    </a:lnTo>
                    <a:close/>
                  </a:path>
                </a:pathLst>
              </a:custGeom>
              <a:solidFill>
                <a:srgbClr val="003EA8"/>
              </a:solidFill>
            </p:spPr>
          </p:sp>
        </p:grpSp>
        <p:sp>
          <p:nvSpPr>
            <p:cNvPr name="TextBox 53" id="53"/>
            <p:cNvSpPr txBox="true"/>
            <p:nvPr/>
          </p:nvSpPr>
          <p:spPr>
            <a:xfrm rot="0">
              <a:off x="307158" y="150275"/>
              <a:ext cx="4104490" cy="408093"/>
            </a:xfrm>
            <a:prstGeom prst="rect">
              <a:avLst/>
            </a:prstGeom>
          </p:spPr>
          <p:txBody>
            <a:bodyPr anchor="t" rtlCol="false" tIns="0" lIns="0" bIns="0" rIns="0">
              <a:spAutoFit/>
            </a:bodyPr>
            <a:lstStyle/>
            <a:p>
              <a:pPr algn="ctr">
                <a:lnSpc>
                  <a:spcPts val="2554"/>
                </a:lnSpc>
              </a:pPr>
              <a:r>
                <a:rPr lang="en-US" sz="1824" u="sng">
                  <a:solidFill>
                    <a:srgbClr val="FFFFFF"/>
                  </a:solidFill>
                  <a:latin typeface="Cabin"/>
                  <a:ea typeface="Cabin"/>
                  <a:cs typeface="Cabin"/>
                  <a:sym typeface="Cabin"/>
                  <a:hlinkClick r:id="rId2" action="ppaction://hlinksldjump"/>
                </a:rPr>
                <a:t>Quay lại Trang Chương trình</a:t>
              </a:r>
            </a:p>
          </p:txBody>
        </p:sp>
      </p:grpSp>
      <p:grpSp>
        <p:nvGrpSpPr>
          <p:cNvPr name="Group 54" id="54"/>
          <p:cNvGrpSpPr/>
          <p:nvPr/>
        </p:nvGrpSpPr>
        <p:grpSpPr>
          <a:xfrm rot="0">
            <a:off x="4613315" y="5600122"/>
            <a:ext cx="2243683" cy="947872"/>
            <a:chOff x="0" y="0"/>
            <a:chExt cx="1095833" cy="462949"/>
          </a:xfrm>
        </p:grpSpPr>
        <p:sp>
          <p:nvSpPr>
            <p:cNvPr name="Freeform 55" id="55"/>
            <p:cNvSpPr/>
            <p:nvPr/>
          </p:nvSpPr>
          <p:spPr>
            <a:xfrm flipH="false" flipV="false" rot="0">
              <a:off x="0" y="0"/>
              <a:ext cx="1095833" cy="462949"/>
            </a:xfrm>
            <a:custGeom>
              <a:avLst/>
              <a:gdLst/>
              <a:ahLst/>
              <a:cxnLst/>
              <a:rect r="r" b="b" t="t" l="l"/>
              <a:pathLst>
                <a:path h="462949" w="1095833">
                  <a:moveTo>
                    <a:pt x="0" y="0"/>
                  </a:moveTo>
                  <a:lnTo>
                    <a:pt x="1095833" y="0"/>
                  </a:lnTo>
                  <a:lnTo>
                    <a:pt x="1095833" y="462949"/>
                  </a:lnTo>
                  <a:lnTo>
                    <a:pt x="0" y="462949"/>
                  </a:lnTo>
                  <a:close/>
                </a:path>
              </a:pathLst>
            </a:custGeom>
            <a:solidFill>
              <a:srgbClr val="CCCCCC"/>
            </a:solidFill>
          </p:spPr>
        </p:sp>
        <p:sp>
          <p:nvSpPr>
            <p:cNvPr name="TextBox 56" id="56"/>
            <p:cNvSpPr txBox="true"/>
            <p:nvPr/>
          </p:nvSpPr>
          <p:spPr>
            <a:xfrm>
              <a:off x="0" y="-28575"/>
              <a:ext cx="1095833" cy="491524"/>
            </a:xfrm>
            <a:prstGeom prst="rect">
              <a:avLst/>
            </a:prstGeom>
          </p:spPr>
          <p:txBody>
            <a:bodyPr anchor="ctr" rtlCol="false" tIns="254000" lIns="254000" bIns="254000" rIns="254000"/>
            <a:lstStyle/>
            <a:p>
              <a:pPr algn="ctr">
                <a:lnSpc>
                  <a:spcPts val="2100"/>
                </a:lnSpc>
              </a:pPr>
              <a:r>
                <a:rPr lang="en-US" sz="1500" b="true">
                  <a:solidFill>
                    <a:srgbClr val="000000"/>
                  </a:solidFill>
                  <a:latin typeface="Muli Bold"/>
                  <a:ea typeface="Muli Bold"/>
                  <a:cs typeface="Muli Bold"/>
                  <a:sym typeface="Muli Bold"/>
                </a:rPr>
                <a:t>Thêm ý tưởng phụ</a:t>
              </a:r>
            </a:p>
          </p:txBody>
        </p:sp>
      </p:grpSp>
      <p:grpSp>
        <p:nvGrpSpPr>
          <p:cNvPr name="Group 57" id="57"/>
          <p:cNvGrpSpPr/>
          <p:nvPr/>
        </p:nvGrpSpPr>
        <p:grpSpPr>
          <a:xfrm rot="0">
            <a:off x="4613315" y="6826632"/>
            <a:ext cx="2243683" cy="947872"/>
            <a:chOff x="0" y="0"/>
            <a:chExt cx="1095833" cy="462949"/>
          </a:xfrm>
        </p:grpSpPr>
        <p:sp>
          <p:nvSpPr>
            <p:cNvPr name="Freeform 58" id="58"/>
            <p:cNvSpPr/>
            <p:nvPr/>
          </p:nvSpPr>
          <p:spPr>
            <a:xfrm flipH="false" flipV="false" rot="0">
              <a:off x="0" y="0"/>
              <a:ext cx="1095833" cy="462949"/>
            </a:xfrm>
            <a:custGeom>
              <a:avLst/>
              <a:gdLst/>
              <a:ahLst/>
              <a:cxnLst/>
              <a:rect r="r" b="b" t="t" l="l"/>
              <a:pathLst>
                <a:path h="462949" w="1095833">
                  <a:moveTo>
                    <a:pt x="0" y="0"/>
                  </a:moveTo>
                  <a:lnTo>
                    <a:pt x="1095833" y="0"/>
                  </a:lnTo>
                  <a:lnTo>
                    <a:pt x="1095833" y="462949"/>
                  </a:lnTo>
                  <a:lnTo>
                    <a:pt x="0" y="462949"/>
                  </a:lnTo>
                  <a:close/>
                </a:path>
              </a:pathLst>
            </a:custGeom>
            <a:solidFill>
              <a:srgbClr val="CCCCCC"/>
            </a:solidFill>
          </p:spPr>
        </p:sp>
        <p:sp>
          <p:nvSpPr>
            <p:cNvPr name="TextBox 59" id="59"/>
            <p:cNvSpPr txBox="true"/>
            <p:nvPr/>
          </p:nvSpPr>
          <p:spPr>
            <a:xfrm>
              <a:off x="0" y="-28575"/>
              <a:ext cx="1095833" cy="491524"/>
            </a:xfrm>
            <a:prstGeom prst="rect">
              <a:avLst/>
            </a:prstGeom>
          </p:spPr>
          <p:txBody>
            <a:bodyPr anchor="ctr" rtlCol="false" tIns="254000" lIns="254000" bIns="254000" rIns="254000"/>
            <a:lstStyle/>
            <a:p>
              <a:pPr algn="ctr">
                <a:lnSpc>
                  <a:spcPts val="2100"/>
                </a:lnSpc>
              </a:pPr>
              <a:r>
                <a:rPr lang="en-US" sz="1500" b="true">
                  <a:solidFill>
                    <a:srgbClr val="000000"/>
                  </a:solidFill>
                  <a:latin typeface="Muli Bold"/>
                  <a:ea typeface="Muli Bold"/>
                  <a:cs typeface="Muli Bold"/>
                  <a:sym typeface="Muli Bold"/>
                </a:rPr>
                <a:t>Thêm ý tưởng phụ</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657204"/>
            <a:ext cx="15795020" cy="1907038"/>
            <a:chOff x="0" y="0"/>
            <a:chExt cx="5762066" cy="695693"/>
          </a:xfrm>
        </p:grpSpPr>
        <p:sp>
          <p:nvSpPr>
            <p:cNvPr name="Freeform 4" id="4"/>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grpSp>
        <p:nvGrpSpPr>
          <p:cNvPr name="Group 5" id="5"/>
          <p:cNvGrpSpPr/>
          <p:nvPr/>
        </p:nvGrpSpPr>
        <p:grpSpPr>
          <a:xfrm rot="0">
            <a:off x="1219294" y="2903804"/>
            <a:ext cx="15795020" cy="1269294"/>
            <a:chOff x="0" y="0"/>
            <a:chExt cx="5762066" cy="463042"/>
          </a:xfrm>
        </p:grpSpPr>
        <p:sp>
          <p:nvSpPr>
            <p:cNvPr name="Freeform 6" id="6"/>
            <p:cNvSpPr/>
            <p:nvPr/>
          </p:nvSpPr>
          <p:spPr>
            <a:xfrm flipH="false" flipV="false" rot="0">
              <a:off x="0" y="0"/>
              <a:ext cx="5762066" cy="463042"/>
            </a:xfrm>
            <a:custGeom>
              <a:avLst/>
              <a:gdLst/>
              <a:ahLst/>
              <a:cxnLst/>
              <a:rect r="r" b="b" t="t" l="l"/>
              <a:pathLst>
                <a:path h="463042" w="5762066">
                  <a:moveTo>
                    <a:pt x="0" y="0"/>
                  </a:moveTo>
                  <a:lnTo>
                    <a:pt x="5762066" y="0"/>
                  </a:lnTo>
                  <a:lnTo>
                    <a:pt x="5762066" y="463042"/>
                  </a:lnTo>
                  <a:lnTo>
                    <a:pt x="0" y="463042"/>
                  </a:lnTo>
                  <a:close/>
                </a:path>
              </a:pathLst>
            </a:custGeom>
            <a:solidFill>
              <a:srgbClr val="FFFFFF"/>
            </a:solidFill>
          </p:spPr>
        </p:sp>
      </p:grpSp>
      <p:grpSp>
        <p:nvGrpSpPr>
          <p:cNvPr name="Group 7" id="7"/>
          <p:cNvGrpSpPr/>
          <p:nvPr/>
        </p:nvGrpSpPr>
        <p:grpSpPr>
          <a:xfrm rot="0">
            <a:off x="1219294" y="4537842"/>
            <a:ext cx="15795020" cy="5141985"/>
            <a:chOff x="0" y="0"/>
            <a:chExt cx="5762066" cy="1875810"/>
          </a:xfrm>
        </p:grpSpPr>
        <p:sp>
          <p:nvSpPr>
            <p:cNvPr name="Freeform 8" id="8"/>
            <p:cNvSpPr/>
            <p:nvPr/>
          </p:nvSpPr>
          <p:spPr>
            <a:xfrm flipH="false" flipV="false" rot="0">
              <a:off x="0" y="0"/>
              <a:ext cx="5762066" cy="1875810"/>
            </a:xfrm>
            <a:custGeom>
              <a:avLst/>
              <a:gdLst/>
              <a:ahLst/>
              <a:cxnLst/>
              <a:rect r="r" b="b" t="t" l="l"/>
              <a:pathLst>
                <a:path h="1875810" w="5762066">
                  <a:moveTo>
                    <a:pt x="0" y="0"/>
                  </a:moveTo>
                  <a:lnTo>
                    <a:pt x="5762066" y="0"/>
                  </a:lnTo>
                  <a:lnTo>
                    <a:pt x="5762066" y="1875810"/>
                  </a:lnTo>
                  <a:lnTo>
                    <a:pt x="0" y="1875810"/>
                  </a:lnTo>
                  <a:close/>
                </a:path>
              </a:pathLst>
            </a:custGeom>
            <a:solidFill>
              <a:srgbClr val="FFFFFF"/>
            </a:solidFill>
          </p:spPr>
        </p:sp>
      </p:grpSp>
      <p:sp>
        <p:nvSpPr>
          <p:cNvPr name="TextBox 9" id="9"/>
          <p:cNvSpPr txBox="true"/>
          <p:nvPr/>
        </p:nvSpPr>
        <p:spPr>
          <a:xfrm rot="0">
            <a:off x="2976432" y="924883"/>
            <a:ext cx="12280743"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Trang tài nguyên</a:t>
            </a:r>
          </a:p>
        </p:txBody>
      </p:sp>
      <p:sp>
        <p:nvSpPr>
          <p:cNvPr name="TextBox 10" id="10"/>
          <p:cNvSpPr txBox="true"/>
          <p:nvPr/>
        </p:nvSpPr>
        <p:spPr>
          <a:xfrm rot="0">
            <a:off x="2833406" y="3171393"/>
            <a:ext cx="12621188" cy="715010"/>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Sử dụng các tài nguyên thiết kế này trong Bản thuyết trình Canva của bạn. Thiết kế vui vẻ!</a:t>
            </a:r>
          </a:p>
          <a:p>
            <a:pPr algn="ctr">
              <a:lnSpc>
                <a:spcPts val="2859"/>
              </a:lnSpc>
            </a:pPr>
            <a:r>
              <a:rPr lang="en-US" sz="2199">
                <a:solidFill>
                  <a:srgbClr val="000000"/>
                </a:solidFill>
                <a:latin typeface="Cabin"/>
                <a:ea typeface="Cabin"/>
                <a:cs typeface="Cabin"/>
                <a:sym typeface="Cabin"/>
              </a:rPr>
              <a:t>Hãy xóa trang này trước khi trình bày.</a:t>
            </a:r>
          </a:p>
        </p:txBody>
      </p:sp>
      <p:sp>
        <p:nvSpPr>
          <p:cNvPr name="Freeform 11" id="11"/>
          <p:cNvSpPr/>
          <p:nvPr/>
        </p:nvSpPr>
        <p:spPr>
          <a:xfrm flipH="false" flipV="false" rot="0">
            <a:off x="2315363" y="7032475"/>
            <a:ext cx="3821356" cy="2390084"/>
          </a:xfrm>
          <a:custGeom>
            <a:avLst/>
            <a:gdLst/>
            <a:ahLst/>
            <a:cxnLst/>
            <a:rect r="r" b="b" t="t" l="l"/>
            <a:pathLst>
              <a:path h="2390084" w="3821356">
                <a:moveTo>
                  <a:pt x="0" y="0"/>
                </a:moveTo>
                <a:lnTo>
                  <a:pt x="3821355" y="0"/>
                </a:lnTo>
                <a:lnTo>
                  <a:pt x="3821355" y="2390084"/>
                </a:lnTo>
                <a:lnTo>
                  <a:pt x="0" y="2390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9332710" y="4826865"/>
            <a:ext cx="1570191" cy="2137636"/>
          </a:xfrm>
          <a:custGeom>
            <a:avLst/>
            <a:gdLst/>
            <a:ahLst/>
            <a:cxnLst/>
            <a:rect r="r" b="b" t="t" l="l"/>
            <a:pathLst>
              <a:path h="2137636" w="1570191">
                <a:moveTo>
                  <a:pt x="0" y="0"/>
                </a:moveTo>
                <a:lnTo>
                  <a:pt x="1570191" y="0"/>
                </a:lnTo>
                <a:lnTo>
                  <a:pt x="1570191" y="2137636"/>
                </a:lnTo>
                <a:lnTo>
                  <a:pt x="0" y="21376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9332710" y="7308668"/>
            <a:ext cx="1889198" cy="2069838"/>
          </a:xfrm>
          <a:custGeom>
            <a:avLst/>
            <a:gdLst/>
            <a:ahLst/>
            <a:cxnLst/>
            <a:rect r="r" b="b" t="t" l="l"/>
            <a:pathLst>
              <a:path h="2069838" w="1889198">
                <a:moveTo>
                  <a:pt x="0" y="0"/>
                </a:moveTo>
                <a:lnTo>
                  <a:pt x="1889197" y="0"/>
                </a:lnTo>
                <a:lnTo>
                  <a:pt x="1889197" y="2069838"/>
                </a:lnTo>
                <a:lnTo>
                  <a:pt x="0" y="20698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4022430" y="7308668"/>
            <a:ext cx="2193470" cy="2069838"/>
          </a:xfrm>
          <a:custGeom>
            <a:avLst/>
            <a:gdLst/>
            <a:ahLst/>
            <a:cxnLst/>
            <a:rect r="r" b="b" t="t" l="l"/>
            <a:pathLst>
              <a:path h="2069838" w="2193470">
                <a:moveTo>
                  <a:pt x="0" y="0"/>
                </a:moveTo>
                <a:lnTo>
                  <a:pt x="2193470" y="0"/>
                </a:lnTo>
                <a:lnTo>
                  <a:pt x="2193470" y="2069838"/>
                </a:lnTo>
                <a:lnTo>
                  <a:pt x="0" y="206983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11563481" y="7076529"/>
            <a:ext cx="2084335" cy="2301977"/>
          </a:xfrm>
          <a:custGeom>
            <a:avLst/>
            <a:gdLst/>
            <a:ahLst/>
            <a:cxnLst/>
            <a:rect r="r" b="b" t="t" l="l"/>
            <a:pathLst>
              <a:path h="2301977" w="2084335">
                <a:moveTo>
                  <a:pt x="0" y="0"/>
                </a:moveTo>
                <a:lnTo>
                  <a:pt x="2084335" y="0"/>
                </a:lnTo>
                <a:lnTo>
                  <a:pt x="2084335" y="2301977"/>
                </a:lnTo>
                <a:lnTo>
                  <a:pt x="0" y="230197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14022430" y="4826865"/>
            <a:ext cx="2193470" cy="2137636"/>
          </a:xfrm>
          <a:custGeom>
            <a:avLst/>
            <a:gdLst/>
            <a:ahLst/>
            <a:cxnLst/>
            <a:rect r="r" b="b" t="t" l="l"/>
            <a:pathLst>
              <a:path h="2137636" w="2193470">
                <a:moveTo>
                  <a:pt x="0" y="0"/>
                </a:moveTo>
                <a:lnTo>
                  <a:pt x="2193470" y="0"/>
                </a:lnTo>
                <a:lnTo>
                  <a:pt x="2193470" y="2137636"/>
                </a:lnTo>
                <a:lnTo>
                  <a:pt x="0" y="21376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11563481" y="4826865"/>
            <a:ext cx="1999180" cy="1904673"/>
          </a:xfrm>
          <a:custGeom>
            <a:avLst/>
            <a:gdLst/>
            <a:ahLst/>
            <a:cxnLst/>
            <a:rect r="r" b="b" t="t" l="l"/>
            <a:pathLst>
              <a:path h="1904673" w="1999180">
                <a:moveTo>
                  <a:pt x="0" y="0"/>
                </a:moveTo>
                <a:lnTo>
                  <a:pt x="1999180" y="0"/>
                </a:lnTo>
                <a:lnTo>
                  <a:pt x="1999180" y="1904673"/>
                </a:lnTo>
                <a:lnTo>
                  <a:pt x="0" y="190467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6962455" y="7308668"/>
            <a:ext cx="1840274" cy="2069838"/>
          </a:xfrm>
          <a:custGeom>
            <a:avLst/>
            <a:gdLst/>
            <a:ahLst/>
            <a:cxnLst/>
            <a:rect r="r" b="b" t="t" l="l"/>
            <a:pathLst>
              <a:path h="2069838" w="1840274">
                <a:moveTo>
                  <a:pt x="0" y="0"/>
                </a:moveTo>
                <a:lnTo>
                  <a:pt x="1840274" y="0"/>
                </a:lnTo>
                <a:lnTo>
                  <a:pt x="1840274" y="2069838"/>
                </a:lnTo>
                <a:lnTo>
                  <a:pt x="0" y="206983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7273356" y="4826865"/>
            <a:ext cx="1251489" cy="2137636"/>
          </a:xfrm>
          <a:custGeom>
            <a:avLst/>
            <a:gdLst/>
            <a:ahLst/>
            <a:cxnLst/>
            <a:rect r="r" b="b" t="t" l="l"/>
            <a:pathLst>
              <a:path h="2137636" w="1251489">
                <a:moveTo>
                  <a:pt x="0" y="0"/>
                </a:moveTo>
                <a:lnTo>
                  <a:pt x="1251489" y="0"/>
                </a:lnTo>
                <a:lnTo>
                  <a:pt x="1251489" y="2137636"/>
                </a:lnTo>
                <a:lnTo>
                  <a:pt x="0" y="213763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0" id="20"/>
          <p:cNvSpPr/>
          <p:nvPr/>
        </p:nvSpPr>
        <p:spPr>
          <a:xfrm flipH="false" flipV="false" rot="0">
            <a:off x="4226040" y="4875456"/>
            <a:ext cx="2306955" cy="2013343"/>
          </a:xfrm>
          <a:custGeom>
            <a:avLst/>
            <a:gdLst/>
            <a:ahLst/>
            <a:cxnLst/>
            <a:rect r="r" b="b" t="t" l="l"/>
            <a:pathLst>
              <a:path h="2013343" w="2306955">
                <a:moveTo>
                  <a:pt x="0" y="0"/>
                </a:moveTo>
                <a:lnTo>
                  <a:pt x="2306956" y="0"/>
                </a:lnTo>
                <a:lnTo>
                  <a:pt x="2306956" y="2013343"/>
                </a:lnTo>
                <a:lnTo>
                  <a:pt x="0" y="2013343"/>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1" id="21"/>
          <p:cNvSpPr/>
          <p:nvPr/>
        </p:nvSpPr>
        <p:spPr>
          <a:xfrm flipH="false" flipV="false" rot="0">
            <a:off x="2072100" y="4875456"/>
            <a:ext cx="1663725" cy="1856082"/>
          </a:xfrm>
          <a:custGeom>
            <a:avLst/>
            <a:gdLst/>
            <a:ahLst/>
            <a:cxnLst/>
            <a:rect r="r" b="b" t="t" l="l"/>
            <a:pathLst>
              <a:path h="1856082" w="1663725">
                <a:moveTo>
                  <a:pt x="0" y="0"/>
                </a:moveTo>
                <a:lnTo>
                  <a:pt x="1663725" y="0"/>
                </a:lnTo>
                <a:lnTo>
                  <a:pt x="1663725" y="1856082"/>
                </a:lnTo>
                <a:lnTo>
                  <a:pt x="0" y="1856082"/>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657204"/>
            <a:ext cx="15795020" cy="1907038"/>
            <a:chOff x="0" y="0"/>
            <a:chExt cx="5762066" cy="695693"/>
          </a:xfrm>
        </p:grpSpPr>
        <p:sp>
          <p:nvSpPr>
            <p:cNvPr name="Freeform 4" id="4"/>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grpSp>
        <p:nvGrpSpPr>
          <p:cNvPr name="Group 5" id="5"/>
          <p:cNvGrpSpPr/>
          <p:nvPr/>
        </p:nvGrpSpPr>
        <p:grpSpPr>
          <a:xfrm rot="0">
            <a:off x="1219294" y="2903804"/>
            <a:ext cx="15795020" cy="1269294"/>
            <a:chOff x="0" y="0"/>
            <a:chExt cx="5762066" cy="463042"/>
          </a:xfrm>
        </p:grpSpPr>
        <p:sp>
          <p:nvSpPr>
            <p:cNvPr name="Freeform 6" id="6"/>
            <p:cNvSpPr/>
            <p:nvPr/>
          </p:nvSpPr>
          <p:spPr>
            <a:xfrm flipH="false" flipV="false" rot="0">
              <a:off x="0" y="0"/>
              <a:ext cx="5762066" cy="463042"/>
            </a:xfrm>
            <a:custGeom>
              <a:avLst/>
              <a:gdLst/>
              <a:ahLst/>
              <a:cxnLst/>
              <a:rect r="r" b="b" t="t" l="l"/>
              <a:pathLst>
                <a:path h="463042" w="5762066">
                  <a:moveTo>
                    <a:pt x="0" y="0"/>
                  </a:moveTo>
                  <a:lnTo>
                    <a:pt x="5762066" y="0"/>
                  </a:lnTo>
                  <a:lnTo>
                    <a:pt x="5762066" y="463042"/>
                  </a:lnTo>
                  <a:lnTo>
                    <a:pt x="0" y="463042"/>
                  </a:lnTo>
                  <a:close/>
                </a:path>
              </a:pathLst>
            </a:custGeom>
            <a:solidFill>
              <a:srgbClr val="FFFFFF"/>
            </a:solidFill>
          </p:spPr>
        </p:sp>
      </p:grpSp>
      <p:grpSp>
        <p:nvGrpSpPr>
          <p:cNvPr name="Group 7" id="7"/>
          <p:cNvGrpSpPr/>
          <p:nvPr/>
        </p:nvGrpSpPr>
        <p:grpSpPr>
          <a:xfrm rot="0">
            <a:off x="1219294" y="4537842"/>
            <a:ext cx="15795020" cy="5141985"/>
            <a:chOff x="0" y="0"/>
            <a:chExt cx="5762066" cy="1875810"/>
          </a:xfrm>
        </p:grpSpPr>
        <p:sp>
          <p:nvSpPr>
            <p:cNvPr name="Freeform 8" id="8"/>
            <p:cNvSpPr/>
            <p:nvPr/>
          </p:nvSpPr>
          <p:spPr>
            <a:xfrm flipH="false" flipV="false" rot="0">
              <a:off x="0" y="0"/>
              <a:ext cx="5762066" cy="1875810"/>
            </a:xfrm>
            <a:custGeom>
              <a:avLst/>
              <a:gdLst/>
              <a:ahLst/>
              <a:cxnLst/>
              <a:rect r="r" b="b" t="t" l="l"/>
              <a:pathLst>
                <a:path h="1875810" w="5762066">
                  <a:moveTo>
                    <a:pt x="0" y="0"/>
                  </a:moveTo>
                  <a:lnTo>
                    <a:pt x="5762066" y="0"/>
                  </a:lnTo>
                  <a:lnTo>
                    <a:pt x="5762066" y="1875810"/>
                  </a:lnTo>
                  <a:lnTo>
                    <a:pt x="0" y="1875810"/>
                  </a:lnTo>
                  <a:close/>
                </a:path>
              </a:pathLst>
            </a:custGeom>
            <a:solidFill>
              <a:srgbClr val="FFFFFF"/>
            </a:solidFill>
          </p:spPr>
        </p:sp>
      </p:grpSp>
      <p:sp>
        <p:nvSpPr>
          <p:cNvPr name="TextBox 9" id="9"/>
          <p:cNvSpPr txBox="true"/>
          <p:nvPr/>
        </p:nvSpPr>
        <p:spPr>
          <a:xfrm rot="0">
            <a:off x="2976432" y="924883"/>
            <a:ext cx="12280743"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Trang tài nguyên</a:t>
            </a:r>
          </a:p>
        </p:txBody>
      </p:sp>
      <p:sp>
        <p:nvSpPr>
          <p:cNvPr name="TextBox 10" id="10"/>
          <p:cNvSpPr txBox="true"/>
          <p:nvPr/>
        </p:nvSpPr>
        <p:spPr>
          <a:xfrm rot="0">
            <a:off x="2833406" y="3171393"/>
            <a:ext cx="12621188" cy="715010"/>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Sử dụng các tài nguyên thiết kế này trong Bản thuyết trình Canva của bạn. Thiết kế vui vẻ!</a:t>
            </a:r>
          </a:p>
          <a:p>
            <a:pPr algn="ctr">
              <a:lnSpc>
                <a:spcPts val="2859"/>
              </a:lnSpc>
            </a:pPr>
            <a:r>
              <a:rPr lang="en-US" sz="2199">
                <a:solidFill>
                  <a:srgbClr val="000000"/>
                </a:solidFill>
                <a:latin typeface="Cabin"/>
                <a:ea typeface="Cabin"/>
                <a:cs typeface="Cabin"/>
                <a:sym typeface="Cabin"/>
              </a:rPr>
              <a:t>Hãy xóa trang này trước khi trình bày.</a:t>
            </a:r>
          </a:p>
        </p:txBody>
      </p:sp>
      <p:grpSp>
        <p:nvGrpSpPr>
          <p:cNvPr name="Group 11" id="11"/>
          <p:cNvGrpSpPr>
            <a:grpSpLocks noChangeAspect="true"/>
          </p:cNvGrpSpPr>
          <p:nvPr/>
        </p:nvGrpSpPr>
        <p:grpSpPr>
          <a:xfrm rot="0">
            <a:off x="9404956" y="8064673"/>
            <a:ext cx="529685" cy="529685"/>
            <a:chOff x="0" y="0"/>
            <a:chExt cx="6355080" cy="6355080"/>
          </a:xfrm>
        </p:grpSpPr>
        <p:sp>
          <p:nvSpPr>
            <p:cNvPr name="Freeform 12" id="12"/>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003EA8"/>
            </a:solidFill>
          </p:spPr>
        </p:sp>
      </p:grpSp>
      <p:grpSp>
        <p:nvGrpSpPr>
          <p:cNvPr name="Group 13" id="13"/>
          <p:cNvGrpSpPr/>
          <p:nvPr/>
        </p:nvGrpSpPr>
        <p:grpSpPr>
          <a:xfrm rot="0">
            <a:off x="7922772" y="8064673"/>
            <a:ext cx="529685" cy="529685"/>
            <a:chOff x="0" y="0"/>
            <a:chExt cx="6350000" cy="6350000"/>
          </a:xfrm>
        </p:grpSpPr>
        <p:sp>
          <p:nvSpPr>
            <p:cNvPr name="Freeform 14" id="1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3EA8"/>
            </a:solidFill>
          </p:spPr>
        </p:sp>
      </p:grpSp>
      <p:sp>
        <p:nvSpPr>
          <p:cNvPr name="Freeform 15" id="15"/>
          <p:cNvSpPr/>
          <p:nvPr/>
        </p:nvSpPr>
        <p:spPr>
          <a:xfrm flipH="false" flipV="false" rot="0">
            <a:off x="12463910" y="7958580"/>
            <a:ext cx="517455" cy="741871"/>
          </a:xfrm>
          <a:custGeom>
            <a:avLst/>
            <a:gdLst/>
            <a:ahLst/>
            <a:cxnLst/>
            <a:rect r="r" b="b" t="t" l="l"/>
            <a:pathLst>
              <a:path h="741871" w="517455">
                <a:moveTo>
                  <a:pt x="0" y="0"/>
                </a:moveTo>
                <a:lnTo>
                  <a:pt x="517454" y="0"/>
                </a:lnTo>
                <a:lnTo>
                  <a:pt x="517454" y="741871"/>
                </a:lnTo>
                <a:lnTo>
                  <a:pt x="0" y="7418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3625403" y="5777265"/>
            <a:ext cx="2367586" cy="839417"/>
          </a:xfrm>
          <a:custGeom>
            <a:avLst/>
            <a:gdLst/>
            <a:ahLst/>
            <a:cxnLst/>
            <a:rect r="r" b="b" t="t" l="l"/>
            <a:pathLst>
              <a:path h="839417" w="2367586">
                <a:moveTo>
                  <a:pt x="0" y="0"/>
                </a:moveTo>
                <a:lnTo>
                  <a:pt x="2367586" y="0"/>
                </a:lnTo>
                <a:lnTo>
                  <a:pt x="2367586" y="839417"/>
                </a:lnTo>
                <a:lnTo>
                  <a:pt x="0" y="8394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7633736" y="5375265"/>
            <a:ext cx="1637441" cy="1643417"/>
          </a:xfrm>
          <a:custGeom>
            <a:avLst/>
            <a:gdLst/>
            <a:ahLst/>
            <a:cxnLst/>
            <a:rect r="r" b="b" t="t" l="l"/>
            <a:pathLst>
              <a:path h="1643417" w="1637441">
                <a:moveTo>
                  <a:pt x="0" y="0"/>
                </a:moveTo>
                <a:lnTo>
                  <a:pt x="1637441" y="0"/>
                </a:lnTo>
                <a:lnTo>
                  <a:pt x="1637441" y="1643417"/>
                </a:lnTo>
                <a:lnTo>
                  <a:pt x="0" y="164341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2031895" y="7212278"/>
            <a:ext cx="4393894" cy="1382079"/>
          </a:xfrm>
          <a:custGeom>
            <a:avLst/>
            <a:gdLst/>
            <a:ahLst/>
            <a:cxnLst/>
            <a:rect r="r" b="b" t="t" l="l"/>
            <a:pathLst>
              <a:path h="1382079" w="4393894">
                <a:moveTo>
                  <a:pt x="0" y="0"/>
                </a:moveTo>
                <a:lnTo>
                  <a:pt x="4393894" y="0"/>
                </a:lnTo>
                <a:lnTo>
                  <a:pt x="4393894" y="1382079"/>
                </a:lnTo>
                <a:lnTo>
                  <a:pt x="0" y="13820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2031895" y="5620070"/>
            <a:ext cx="4393894" cy="1062523"/>
          </a:xfrm>
          <a:custGeom>
            <a:avLst/>
            <a:gdLst/>
            <a:ahLst/>
            <a:cxnLst/>
            <a:rect r="r" b="b" t="t" l="l"/>
            <a:pathLst>
              <a:path h="1062523" w="4393894">
                <a:moveTo>
                  <a:pt x="0" y="0"/>
                </a:moveTo>
                <a:lnTo>
                  <a:pt x="4393894" y="0"/>
                </a:lnTo>
                <a:lnTo>
                  <a:pt x="4393894" y="1062524"/>
                </a:lnTo>
                <a:lnTo>
                  <a:pt x="0" y="106252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10791337" y="5395948"/>
            <a:ext cx="1446459" cy="1816330"/>
          </a:xfrm>
          <a:custGeom>
            <a:avLst/>
            <a:gdLst/>
            <a:ahLst/>
            <a:cxnLst/>
            <a:rect r="r" b="b" t="t" l="l"/>
            <a:pathLst>
              <a:path h="1816330" w="1446459">
                <a:moveTo>
                  <a:pt x="0" y="0"/>
                </a:moveTo>
                <a:lnTo>
                  <a:pt x="1446459" y="0"/>
                </a:lnTo>
                <a:lnTo>
                  <a:pt x="1446459" y="1816330"/>
                </a:lnTo>
                <a:lnTo>
                  <a:pt x="0" y="181633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10791337" y="7821878"/>
            <a:ext cx="815322" cy="904503"/>
          </a:xfrm>
          <a:custGeom>
            <a:avLst/>
            <a:gdLst/>
            <a:ahLst/>
            <a:cxnLst/>
            <a:rect r="r" b="b" t="t" l="l"/>
            <a:pathLst>
              <a:path h="904503" w="815322">
                <a:moveTo>
                  <a:pt x="0" y="0"/>
                </a:moveTo>
                <a:lnTo>
                  <a:pt x="815323" y="0"/>
                </a:lnTo>
                <a:lnTo>
                  <a:pt x="815323" y="904503"/>
                </a:lnTo>
                <a:lnTo>
                  <a:pt x="0" y="904503"/>
                </a:lnTo>
                <a:lnTo>
                  <a:pt x="0" y="0"/>
                </a:lnTo>
                <a:close/>
              </a:path>
            </a:pathLst>
          </a:custGeom>
          <a:blipFill>
            <a:blip r:embed="rId15">
              <a:extLst>
                <a:ext uri="{96DAC541-7B7A-43D3-8B79-37D633B846F1}">
                  <asvg:svgBlip xmlns:asvg="http://schemas.microsoft.com/office/drawing/2016/SVG/main" r:embed="rId16"/>
                </a:ext>
              </a:extLst>
            </a:blip>
            <a:stretch>
              <a:fillRect l="0" t="0" r="-135582" b="0"/>
            </a:stretch>
          </a:blipFill>
        </p:spPr>
      </p:sp>
      <p:sp>
        <p:nvSpPr>
          <p:cNvPr name="Freeform 22" id="22"/>
          <p:cNvSpPr/>
          <p:nvPr/>
        </p:nvSpPr>
        <p:spPr>
          <a:xfrm flipH="false" flipV="false" rot="0">
            <a:off x="13625403" y="7903318"/>
            <a:ext cx="2455232" cy="611576"/>
          </a:xfrm>
          <a:custGeom>
            <a:avLst/>
            <a:gdLst/>
            <a:ahLst/>
            <a:cxnLst/>
            <a:rect r="r" b="b" t="t" l="l"/>
            <a:pathLst>
              <a:path h="611576" w="2455232">
                <a:moveTo>
                  <a:pt x="0" y="0"/>
                </a:moveTo>
                <a:lnTo>
                  <a:pt x="2455232" y="0"/>
                </a:lnTo>
                <a:lnTo>
                  <a:pt x="2455232" y="611576"/>
                </a:lnTo>
                <a:lnTo>
                  <a:pt x="0" y="611576"/>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657204"/>
            <a:ext cx="15795020" cy="1907038"/>
            <a:chOff x="0" y="0"/>
            <a:chExt cx="5762066" cy="695693"/>
          </a:xfrm>
        </p:grpSpPr>
        <p:sp>
          <p:nvSpPr>
            <p:cNvPr name="Freeform 4" id="4"/>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grpSp>
        <p:nvGrpSpPr>
          <p:cNvPr name="Group 5" id="5"/>
          <p:cNvGrpSpPr/>
          <p:nvPr/>
        </p:nvGrpSpPr>
        <p:grpSpPr>
          <a:xfrm rot="0">
            <a:off x="1219294" y="2903804"/>
            <a:ext cx="15795020" cy="1269294"/>
            <a:chOff x="0" y="0"/>
            <a:chExt cx="5762066" cy="463042"/>
          </a:xfrm>
        </p:grpSpPr>
        <p:sp>
          <p:nvSpPr>
            <p:cNvPr name="Freeform 6" id="6"/>
            <p:cNvSpPr/>
            <p:nvPr/>
          </p:nvSpPr>
          <p:spPr>
            <a:xfrm flipH="false" flipV="false" rot="0">
              <a:off x="0" y="0"/>
              <a:ext cx="5762066" cy="463042"/>
            </a:xfrm>
            <a:custGeom>
              <a:avLst/>
              <a:gdLst/>
              <a:ahLst/>
              <a:cxnLst/>
              <a:rect r="r" b="b" t="t" l="l"/>
              <a:pathLst>
                <a:path h="463042" w="5762066">
                  <a:moveTo>
                    <a:pt x="0" y="0"/>
                  </a:moveTo>
                  <a:lnTo>
                    <a:pt x="5762066" y="0"/>
                  </a:lnTo>
                  <a:lnTo>
                    <a:pt x="5762066" y="463042"/>
                  </a:lnTo>
                  <a:lnTo>
                    <a:pt x="0" y="463042"/>
                  </a:lnTo>
                  <a:close/>
                </a:path>
              </a:pathLst>
            </a:custGeom>
            <a:solidFill>
              <a:srgbClr val="FFFFFF"/>
            </a:solidFill>
          </p:spPr>
        </p:sp>
      </p:grpSp>
      <p:grpSp>
        <p:nvGrpSpPr>
          <p:cNvPr name="Group 7" id="7"/>
          <p:cNvGrpSpPr/>
          <p:nvPr/>
        </p:nvGrpSpPr>
        <p:grpSpPr>
          <a:xfrm rot="0">
            <a:off x="1219294" y="4537842"/>
            <a:ext cx="15795020" cy="5141985"/>
            <a:chOff x="0" y="0"/>
            <a:chExt cx="5762066" cy="1875810"/>
          </a:xfrm>
        </p:grpSpPr>
        <p:sp>
          <p:nvSpPr>
            <p:cNvPr name="Freeform 8" id="8"/>
            <p:cNvSpPr/>
            <p:nvPr/>
          </p:nvSpPr>
          <p:spPr>
            <a:xfrm flipH="false" flipV="false" rot="0">
              <a:off x="0" y="0"/>
              <a:ext cx="5762066" cy="1875810"/>
            </a:xfrm>
            <a:custGeom>
              <a:avLst/>
              <a:gdLst/>
              <a:ahLst/>
              <a:cxnLst/>
              <a:rect r="r" b="b" t="t" l="l"/>
              <a:pathLst>
                <a:path h="1875810" w="5762066">
                  <a:moveTo>
                    <a:pt x="0" y="0"/>
                  </a:moveTo>
                  <a:lnTo>
                    <a:pt x="5762066" y="0"/>
                  </a:lnTo>
                  <a:lnTo>
                    <a:pt x="5762066" y="1875810"/>
                  </a:lnTo>
                  <a:lnTo>
                    <a:pt x="0" y="1875810"/>
                  </a:lnTo>
                  <a:close/>
                </a:path>
              </a:pathLst>
            </a:custGeom>
            <a:solidFill>
              <a:srgbClr val="FFFFFF"/>
            </a:solidFill>
          </p:spPr>
        </p:sp>
      </p:grpSp>
      <p:sp>
        <p:nvSpPr>
          <p:cNvPr name="TextBox 9" id="9"/>
          <p:cNvSpPr txBox="true"/>
          <p:nvPr/>
        </p:nvSpPr>
        <p:spPr>
          <a:xfrm rot="0">
            <a:off x="2976432" y="924883"/>
            <a:ext cx="12280743"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Trang tài nguyên</a:t>
            </a:r>
          </a:p>
        </p:txBody>
      </p:sp>
      <p:sp>
        <p:nvSpPr>
          <p:cNvPr name="TextBox 10" id="10"/>
          <p:cNvSpPr txBox="true"/>
          <p:nvPr/>
        </p:nvSpPr>
        <p:spPr>
          <a:xfrm rot="0">
            <a:off x="2833406" y="3171393"/>
            <a:ext cx="12621188" cy="715010"/>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Sử dụng các tài nguyên thiết kế này trong Bản thuyết trình Canva của bạn. Thiết kế vui vẻ!</a:t>
            </a:r>
          </a:p>
          <a:p>
            <a:pPr algn="ctr">
              <a:lnSpc>
                <a:spcPts val="2859"/>
              </a:lnSpc>
            </a:pPr>
            <a:r>
              <a:rPr lang="en-US" sz="2199">
                <a:solidFill>
                  <a:srgbClr val="000000"/>
                </a:solidFill>
                <a:latin typeface="Cabin"/>
                <a:ea typeface="Cabin"/>
                <a:cs typeface="Cabin"/>
                <a:sym typeface="Cabin"/>
              </a:rPr>
              <a:t>Hãy xóa trang này trước khi trình bày.</a:t>
            </a:r>
          </a:p>
        </p:txBody>
      </p:sp>
      <p:sp>
        <p:nvSpPr>
          <p:cNvPr name="Freeform 11" id="11"/>
          <p:cNvSpPr/>
          <p:nvPr/>
        </p:nvSpPr>
        <p:spPr>
          <a:xfrm flipH="false" flipV="false" rot="0">
            <a:off x="10260550" y="5062322"/>
            <a:ext cx="879662" cy="879662"/>
          </a:xfrm>
          <a:custGeom>
            <a:avLst/>
            <a:gdLst/>
            <a:ahLst/>
            <a:cxnLst/>
            <a:rect r="r" b="b" t="t" l="l"/>
            <a:pathLst>
              <a:path h="879662" w="879662">
                <a:moveTo>
                  <a:pt x="0" y="0"/>
                </a:moveTo>
                <a:lnTo>
                  <a:pt x="879662" y="0"/>
                </a:lnTo>
                <a:lnTo>
                  <a:pt x="879662" y="879662"/>
                </a:lnTo>
                <a:lnTo>
                  <a:pt x="0" y="8796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10641331" y="6463044"/>
            <a:ext cx="541969" cy="1173556"/>
          </a:xfrm>
          <a:custGeom>
            <a:avLst/>
            <a:gdLst/>
            <a:ahLst/>
            <a:cxnLst/>
            <a:rect r="r" b="b" t="t" l="l"/>
            <a:pathLst>
              <a:path h="1173556" w="541969">
                <a:moveTo>
                  <a:pt x="0" y="0"/>
                </a:moveTo>
                <a:lnTo>
                  <a:pt x="541970" y="0"/>
                </a:lnTo>
                <a:lnTo>
                  <a:pt x="541970" y="1173556"/>
                </a:lnTo>
                <a:lnTo>
                  <a:pt x="0" y="11735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5578652" y="8141539"/>
            <a:ext cx="1173556" cy="1147951"/>
          </a:xfrm>
          <a:custGeom>
            <a:avLst/>
            <a:gdLst/>
            <a:ahLst/>
            <a:cxnLst/>
            <a:rect r="r" b="b" t="t" l="l"/>
            <a:pathLst>
              <a:path h="1147951" w="1173556">
                <a:moveTo>
                  <a:pt x="0" y="0"/>
                </a:moveTo>
                <a:lnTo>
                  <a:pt x="1173556" y="0"/>
                </a:lnTo>
                <a:lnTo>
                  <a:pt x="1173556" y="1147951"/>
                </a:lnTo>
                <a:lnTo>
                  <a:pt x="0" y="114795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3770306" y="8128737"/>
            <a:ext cx="1173556" cy="1173556"/>
          </a:xfrm>
          <a:custGeom>
            <a:avLst/>
            <a:gdLst/>
            <a:ahLst/>
            <a:cxnLst/>
            <a:rect r="r" b="b" t="t" l="l"/>
            <a:pathLst>
              <a:path h="1173556" w="1173556">
                <a:moveTo>
                  <a:pt x="0" y="0"/>
                </a:moveTo>
                <a:lnTo>
                  <a:pt x="1173555" y="0"/>
                </a:lnTo>
                <a:lnTo>
                  <a:pt x="1173555" y="1173556"/>
                </a:lnTo>
                <a:lnTo>
                  <a:pt x="0" y="117355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8945203" y="6615957"/>
            <a:ext cx="1000528" cy="867731"/>
          </a:xfrm>
          <a:custGeom>
            <a:avLst/>
            <a:gdLst/>
            <a:ahLst/>
            <a:cxnLst/>
            <a:rect r="r" b="b" t="t" l="l"/>
            <a:pathLst>
              <a:path h="867731" w="1000528">
                <a:moveTo>
                  <a:pt x="0" y="0"/>
                </a:moveTo>
                <a:lnTo>
                  <a:pt x="1000529" y="0"/>
                </a:lnTo>
                <a:lnTo>
                  <a:pt x="1000529" y="867731"/>
                </a:lnTo>
                <a:lnTo>
                  <a:pt x="0" y="86773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7249075" y="6564111"/>
            <a:ext cx="1000528" cy="971422"/>
          </a:xfrm>
          <a:custGeom>
            <a:avLst/>
            <a:gdLst/>
            <a:ahLst/>
            <a:cxnLst/>
            <a:rect r="r" b="b" t="t" l="l"/>
            <a:pathLst>
              <a:path h="971422" w="1000528">
                <a:moveTo>
                  <a:pt x="0" y="0"/>
                </a:moveTo>
                <a:lnTo>
                  <a:pt x="1000529" y="0"/>
                </a:lnTo>
                <a:lnTo>
                  <a:pt x="1000529" y="971422"/>
                </a:lnTo>
                <a:lnTo>
                  <a:pt x="0" y="97142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5552948" y="6616866"/>
            <a:ext cx="1000528" cy="865912"/>
          </a:xfrm>
          <a:custGeom>
            <a:avLst/>
            <a:gdLst/>
            <a:ahLst/>
            <a:cxnLst/>
            <a:rect r="r" b="b" t="t" l="l"/>
            <a:pathLst>
              <a:path h="865912" w="1000528">
                <a:moveTo>
                  <a:pt x="0" y="0"/>
                </a:moveTo>
                <a:lnTo>
                  <a:pt x="1000528" y="0"/>
                </a:lnTo>
                <a:lnTo>
                  <a:pt x="1000528" y="865912"/>
                </a:lnTo>
                <a:lnTo>
                  <a:pt x="0" y="8659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8" id="18"/>
          <p:cNvSpPr/>
          <p:nvPr/>
        </p:nvSpPr>
        <p:spPr>
          <a:xfrm flipH="false" flipV="false" rot="0">
            <a:off x="3856820" y="6705095"/>
            <a:ext cx="1000528" cy="689455"/>
          </a:xfrm>
          <a:custGeom>
            <a:avLst/>
            <a:gdLst/>
            <a:ahLst/>
            <a:cxnLst/>
            <a:rect r="r" b="b" t="t" l="l"/>
            <a:pathLst>
              <a:path h="689455" w="1000528">
                <a:moveTo>
                  <a:pt x="0" y="0"/>
                </a:moveTo>
                <a:lnTo>
                  <a:pt x="1000528" y="0"/>
                </a:lnTo>
                <a:lnTo>
                  <a:pt x="1000528" y="689455"/>
                </a:lnTo>
                <a:lnTo>
                  <a:pt x="0" y="6894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9" id="19"/>
          <p:cNvSpPr/>
          <p:nvPr/>
        </p:nvSpPr>
        <p:spPr>
          <a:xfrm flipH="false" flipV="false" rot="0">
            <a:off x="3901306" y="4929829"/>
            <a:ext cx="911556" cy="1144648"/>
          </a:xfrm>
          <a:custGeom>
            <a:avLst/>
            <a:gdLst/>
            <a:ahLst/>
            <a:cxnLst/>
            <a:rect r="r" b="b" t="t" l="l"/>
            <a:pathLst>
              <a:path h="1144648" w="911556">
                <a:moveTo>
                  <a:pt x="0" y="0"/>
                </a:moveTo>
                <a:lnTo>
                  <a:pt x="911556" y="0"/>
                </a:lnTo>
                <a:lnTo>
                  <a:pt x="911556" y="1144648"/>
                </a:lnTo>
                <a:lnTo>
                  <a:pt x="0" y="114464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0" id="20"/>
          <p:cNvSpPr/>
          <p:nvPr/>
        </p:nvSpPr>
        <p:spPr>
          <a:xfrm flipH="false" flipV="false" rot="0">
            <a:off x="7166510" y="5131958"/>
            <a:ext cx="1000528" cy="740391"/>
          </a:xfrm>
          <a:custGeom>
            <a:avLst/>
            <a:gdLst/>
            <a:ahLst/>
            <a:cxnLst/>
            <a:rect r="r" b="b" t="t" l="l"/>
            <a:pathLst>
              <a:path h="740391" w="1000528">
                <a:moveTo>
                  <a:pt x="0" y="0"/>
                </a:moveTo>
                <a:lnTo>
                  <a:pt x="1000528" y="0"/>
                </a:lnTo>
                <a:lnTo>
                  <a:pt x="1000528" y="740391"/>
                </a:lnTo>
                <a:lnTo>
                  <a:pt x="0" y="74039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1" id="21"/>
          <p:cNvSpPr/>
          <p:nvPr/>
        </p:nvSpPr>
        <p:spPr>
          <a:xfrm flipH="false" flipV="false" rot="0">
            <a:off x="5489422" y="5003708"/>
            <a:ext cx="1000528" cy="996890"/>
          </a:xfrm>
          <a:custGeom>
            <a:avLst/>
            <a:gdLst/>
            <a:ahLst/>
            <a:cxnLst/>
            <a:rect r="r" b="b" t="t" l="l"/>
            <a:pathLst>
              <a:path h="996890" w="1000528">
                <a:moveTo>
                  <a:pt x="0" y="0"/>
                </a:moveTo>
                <a:lnTo>
                  <a:pt x="1000528" y="0"/>
                </a:lnTo>
                <a:lnTo>
                  <a:pt x="1000528" y="996890"/>
                </a:lnTo>
                <a:lnTo>
                  <a:pt x="0" y="99689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2" id="22"/>
          <p:cNvSpPr/>
          <p:nvPr/>
        </p:nvSpPr>
        <p:spPr>
          <a:xfrm flipH="false" flipV="false" rot="0">
            <a:off x="8843599" y="5001889"/>
            <a:ext cx="740391" cy="1000528"/>
          </a:xfrm>
          <a:custGeom>
            <a:avLst/>
            <a:gdLst/>
            <a:ahLst/>
            <a:cxnLst/>
            <a:rect r="r" b="b" t="t" l="l"/>
            <a:pathLst>
              <a:path h="1000528" w="740391">
                <a:moveTo>
                  <a:pt x="0" y="0"/>
                </a:moveTo>
                <a:lnTo>
                  <a:pt x="740390" y="0"/>
                </a:lnTo>
                <a:lnTo>
                  <a:pt x="740390" y="1000528"/>
                </a:lnTo>
                <a:lnTo>
                  <a:pt x="0" y="1000528"/>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3" id="23"/>
          <p:cNvSpPr/>
          <p:nvPr/>
        </p:nvSpPr>
        <p:spPr>
          <a:xfrm flipH="false" flipV="false" rot="0">
            <a:off x="7386999" y="8215251"/>
            <a:ext cx="674902" cy="1000528"/>
          </a:xfrm>
          <a:custGeom>
            <a:avLst/>
            <a:gdLst/>
            <a:ahLst/>
            <a:cxnLst/>
            <a:rect r="r" b="b" t="t" l="l"/>
            <a:pathLst>
              <a:path h="1000528" w="674902">
                <a:moveTo>
                  <a:pt x="0" y="0"/>
                </a:moveTo>
                <a:lnTo>
                  <a:pt x="674901" y="0"/>
                </a:lnTo>
                <a:lnTo>
                  <a:pt x="674901" y="1000528"/>
                </a:lnTo>
                <a:lnTo>
                  <a:pt x="0" y="100052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24" id="24"/>
          <p:cNvSpPr/>
          <p:nvPr/>
        </p:nvSpPr>
        <p:spPr>
          <a:xfrm flipH="false" flipV="false" rot="0">
            <a:off x="8696691" y="8215251"/>
            <a:ext cx="940496" cy="1000528"/>
          </a:xfrm>
          <a:custGeom>
            <a:avLst/>
            <a:gdLst/>
            <a:ahLst/>
            <a:cxnLst/>
            <a:rect r="r" b="b" t="t" l="l"/>
            <a:pathLst>
              <a:path h="1000528" w="940496">
                <a:moveTo>
                  <a:pt x="0" y="0"/>
                </a:moveTo>
                <a:lnTo>
                  <a:pt x="940497" y="0"/>
                </a:lnTo>
                <a:lnTo>
                  <a:pt x="940497" y="1000528"/>
                </a:lnTo>
                <a:lnTo>
                  <a:pt x="0" y="100052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Freeform 25" id="25"/>
          <p:cNvSpPr/>
          <p:nvPr/>
        </p:nvSpPr>
        <p:spPr>
          <a:xfrm flipH="false" flipV="false" rot="0">
            <a:off x="10271979" y="8188070"/>
            <a:ext cx="1054890" cy="1054890"/>
          </a:xfrm>
          <a:custGeom>
            <a:avLst/>
            <a:gdLst/>
            <a:ahLst/>
            <a:cxnLst/>
            <a:rect r="r" b="b" t="t" l="l"/>
            <a:pathLst>
              <a:path h="1054890" w="1054890">
                <a:moveTo>
                  <a:pt x="0" y="0"/>
                </a:moveTo>
                <a:lnTo>
                  <a:pt x="1054889" y="0"/>
                </a:lnTo>
                <a:lnTo>
                  <a:pt x="1054889" y="1054890"/>
                </a:lnTo>
                <a:lnTo>
                  <a:pt x="0" y="1054890"/>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Freeform 26" id="26"/>
          <p:cNvSpPr/>
          <p:nvPr/>
        </p:nvSpPr>
        <p:spPr>
          <a:xfrm flipH="false" flipV="false" rot="0">
            <a:off x="11816773" y="5075325"/>
            <a:ext cx="1173556" cy="853656"/>
          </a:xfrm>
          <a:custGeom>
            <a:avLst/>
            <a:gdLst/>
            <a:ahLst/>
            <a:cxnLst/>
            <a:rect r="r" b="b" t="t" l="l"/>
            <a:pathLst>
              <a:path h="853656" w="1173556">
                <a:moveTo>
                  <a:pt x="0" y="0"/>
                </a:moveTo>
                <a:lnTo>
                  <a:pt x="1173555" y="0"/>
                </a:lnTo>
                <a:lnTo>
                  <a:pt x="1173555" y="853656"/>
                </a:lnTo>
                <a:lnTo>
                  <a:pt x="0" y="853656"/>
                </a:lnTo>
                <a:lnTo>
                  <a:pt x="0" y="0"/>
                </a:lnTo>
                <a:close/>
              </a:path>
            </a:pathLst>
          </a:custGeom>
          <a:blipFill>
            <a:blip r:embed="rId33">
              <a:extLst>
                <a:ext uri="{96DAC541-7B7A-43D3-8B79-37D633B846F1}">
                  <asvg:svgBlip xmlns:asvg="http://schemas.microsoft.com/office/drawing/2016/SVG/main" r:embed="rId34"/>
                </a:ext>
              </a:extLst>
            </a:blip>
            <a:stretch>
              <a:fillRect l="0" t="0" r="0" b="0"/>
            </a:stretch>
          </a:blipFill>
        </p:spPr>
      </p:sp>
      <p:sp>
        <p:nvSpPr>
          <p:cNvPr name="Freeform 27" id="27"/>
          <p:cNvSpPr/>
          <p:nvPr/>
        </p:nvSpPr>
        <p:spPr>
          <a:xfrm flipH="false" flipV="false" rot="0">
            <a:off x="13666888" y="4915375"/>
            <a:ext cx="721203" cy="1173556"/>
          </a:xfrm>
          <a:custGeom>
            <a:avLst/>
            <a:gdLst/>
            <a:ahLst/>
            <a:cxnLst/>
            <a:rect r="r" b="b" t="t" l="l"/>
            <a:pathLst>
              <a:path h="1173556" w="721203">
                <a:moveTo>
                  <a:pt x="0" y="0"/>
                </a:moveTo>
                <a:lnTo>
                  <a:pt x="721204" y="0"/>
                </a:lnTo>
                <a:lnTo>
                  <a:pt x="721204" y="1173556"/>
                </a:lnTo>
                <a:lnTo>
                  <a:pt x="0" y="1173556"/>
                </a:lnTo>
                <a:lnTo>
                  <a:pt x="0" y="0"/>
                </a:lnTo>
                <a:close/>
              </a:path>
            </a:pathLst>
          </a:custGeom>
          <a:blipFill>
            <a:blip r:embed="rId35">
              <a:extLst>
                <a:ext uri="{96DAC541-7B7A-43D3-8B79-37D633B846F1}">
                  <asvg:svgBlip xmlns:asvg="http://schemas.microsoft.com/office/drawing/2016/SVG/main" r:embed="rId36"/>
                </a:ext>
              </a:extLst>
            </a:blip>
            <a:stretch>
              <a:fillRect l="0" t="0" r="0" b="0"/>
            </a:stretch>
          </a:blipFill>
        </p:spPr>
      </p:sp>
      <p:sp>
        <p:nvSpPr>
          <p:cNvPr name="Freeform 28" id="28"/>
          <p:cNvSpPr/>
          <p:nvPr/>
        </p:nvSpPr>
        <p:spPr>
          <a:xfrm flipH="false" flipV="false" rot="0">
            <a:off x="11878901" y="6698456"/>
            <a:ext cx="787175" cy="702733"/>
          </a:xfrm>
          <a:custGeom>
            <a:avLst/>
            <a:gdLst/>
            <a:ahLst/>
            <a:cxnLst/>
            <a:rect r="r" b="b" t="t" l="l"/>
            <a:pathLst>
              <a:path h="702733" w="787175">
                <a:moveTo>
                  <a:pt x="0" y="0"/>
                </a:moveTo>
                <a:lnTo>
                  <a:pt x="787175" y="0"/>
                </a:lnTo>
                <a:lnTo>
                  <a:pt x="787175" y="702732"/>
                </a:lnTo>
                <a:lnTo>
                  <a:pt x="0" y="702732"/>
                </a:lnTo>
                <a:lnTo>
                  <a:pt x="0" y="0"/>
                </a:lnTo>
                <a:close/>
              </a:path>
            </a:pathLst>
          </a:custGeom>
          <a:blipFill>
            <a:blip r:embed="rId37">
              <a:extLst>
                <a:ext uri="{96DAC541-7B7A-43D3-8B79-37D633B846F1}">
                  <asvg:svgBlip xmlns:asvg="http://schemas.microsoft.com/office/drawing/2016/SVG/main" r:embed="rId38"/>
                </a:ext>
              </a:extLst>
            </a:blip>
            <a:stretch>
              <a:fillRect l="0" t="0" r="0" b="0"/>
            </a:stretch>
          </a:blipFill>
        </p:spPr>
      </p:sp>
      <p:sp>
        <p:nvSpPr>
          <p:cNvPr name="Freeform 29" id="29"/>
          <p:cNvSpPr/>
          <p:nvPr/>
        </p:nvSpPr>
        <p:spPr>
          <a:xfrm flipH="false" flipV="false" rot="0">
            <a:off x="13361675" y="6573122"/>
            <a:ext cx="1101617" cy="953399"/>
          </a:xfrm>
          <a:custGeom>
            <a:avLst/>
            <a:gdLst/>
            <a:ahLst/>
            <a:cxnLst/>
            <a:rect r="r" b="b" t="t" l="l"/>
            <a:pathLst>
              <a:path h="953399" w="1101617">
                <a:moveTo>
                  <a:pt x="0" y="0"/>
                </a:moveTo>
                <a:lnTo>
                  <a:pt x="1101617" y="0"/>
                </a:lnTo>
                <a:lnTo>
                  <a:pt x="1101617" y="953400"/>
                </a:lnTo>
                <a:lnTo>
                  <a:pt x="0" y="953400"/>
                </a:lnTo>
                <a:lnTo>
                  <a:pt x="0" y="0"/>
                </a:lnTo>
                <a:close/>
              </a:path>
            </a:pathLst>
          </a:custGeom>
          <a:blipFill>
            <a:blip r:embed="rId39">
              <a:extLst>
                <a:ext uri="{96DAC541-7B7A-43D3-8B79-37D633B846F1}">
                  <asvg:svgBlip xmlns:asvg="http://schemas.microsoft.com/office/drawing/2016/SVG/main" r:embed="rId40"/>
                </a:ext>
              </a:extLst>
            </a:blip>
            <a:stretch>
              <a:fillRect l="0" t="0" r="0" b="0"/>
            </a:stretch>
          </a:blipFill>
        </p:spPr>
      </p:sp>
      <p:sp>
        <p:nvSpPr>
          <p:cNvPr name="Freeform 30" id="30"/>
          <p:cNvSpPr/>
          <p:nvPr/>
        </p:nvSpPr>
        <p:spPr>
          <a:xfrm flipH="false" flipV="false" rot="0">
            <a:off x="11961659" y="8577384"/>
            <a:ext cx="980283" cy="276262"/>
          </a:xfrm>
          <a:custGeom>
            <a:avLst/>
            <a:gdLst/>
            <a:ahLst/>
            <a:cxnLst/>
            <a:rect r="r" b="b" t="t" l="l"/>
            <a:pathLst>
              <a:path h="276262" w="980283">
                <a:moveTo>
                  <a:pt x="0" y="0"/>
                </a:moveTo>
                <a:lnTo>
                  <a:pt x="980283" y="0"/>
                </a:lnTo>
                <a:lnTo>
                  <a:pt x="980283" y="276262"/>
                </a:lnTo>
                <a:lnTo>
                  <a:pt x="0" y="276262"/>
                </a:lnTo>
                <a:lnTo>
                  <a:pt x="0" y="0"/>
                </a:lnTo>
                <a:close/>
              </a:path>
            </a:pathLst>
          </a:custGeom>
          <a:blipFill>
            <a:blip r:embed="rId41">
              <a:extLst>
                <a:ext uri="{96DAC541-7B7A-43D3-8B79-37D633B846F1}">
                  <asvg:svgBlip xmlns:asvg="http://schemas.microsoft.com/office/drawing/2016/SVG/main" r:embed="rId42"/>
                </a:ext>
              </a:extLst>
            </a:blip>
            <a:stretch>
              <a:fillRect l="0" t="0" r="0" b="0"/>
            </a:stretch>
          </a:blipFill>
        </p:spPr>
      </p:sp>
      <p:sp>
        <p:nvSpPr>
          <p:cNvPr name="Freeform 31" id="31"/>
          <p:cNvSpPr/>
          <p:nvPr/>
        </p:nvSpPr>
        <p:spPr>
          <a:xfrm flipH="false" flipV="false" rot="0">
            <a:off x="13576733" y="8158880"/>
            <a:ext cx="886568" cy="1113270"/>
          </a:xfrm>
          <a:custGeom>
            <a:avLst/>
            <a:gdLst/>
            <a:ahLst/>
            <a:cxnLst/>
            <a:rect r="r" b="b" t="t" l="l"/>
            <a:pathLst>
              <a:path h="1113270" w="886568">
                <a:moveTo>
                  <a:pt x="0" y="0"/>
                </a:moveTo>
                <a:lnTo>
                  <a:pt x="886568" y="0"/>
                </a:lnTo>
                <a:lnTo>
                  <a:pt x="886568" y="1113270"/>
                </a:lnTo>
                <a:lnTo>
                  <a:pt x="0" y="1113270"/>
                </a:lnTo>
                <a:lnTo>
                  <a:pt x="0" y="0"/>
                </a:lnTo>
                <a:close/>
              </a:path>
            </a:pathLst>
          </a:custGeom>
          <a:blipFill>
            <a:blip r:embed="rId43">
              <a:extLst>
                <a:ext uri="{96DAC541-7B7A-43D3-8B79-37D633B846F1}">
                  <asvg:svgBlip xmlns:asvg="http://schemas.microsoft.com/office/drawing/2016/SVG/main" r:embed="rId44"/>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219294" y="657204"/>
            <a:ext cx="15795020" cy="1907038"/>
            <a:chOff x="0" y="0"/>
            <a:chExt cx="5762066" cy="695693"/>
          </a:xfrm>
        </p:grpSpPr>
        <p:sp>
          <p:nvSpPr>
            <p:cNvPr name="Freeform 4" id="4"/>
            <p:cNvSpPr/>
            <p:nvPr/>
          </p:nvSpPr>
          <p:spPr>
            <a:xfrm flipH="false" flipV="false" rot="0">
              <a:off x="0" y="0"/>
              <a:ext cx="5762066" cy="695693"/>
            </a:xfrm>
            <a:custGeom>
              <a:avLst/>
              <a:gdLst/>
              <a:ahLst/>
              <a:cxnLst/>
              <a:rect r="r" b="b" t="t" l="l"/>
              <a:pathLst>
                <a:path h="695693" w="5762066">
                  <a:moveTo>
                    <a:pt x="0" y="0"/>
                  </a:moveTo>
                  <a:lnTo>
                    <a:pt x="5762066" y="0"/>
                  </a:lnTo>
                  <a:lnTo>
                    <a:pt x="5762066" y="695693"/>
                  </a:lnTo>
                  <a:lnTo>
                    <a:pt x="0" y="695693"/>
                  </a:lnTo>
                  <a:close/>
                </a:path>
              </a:pathLst>
            </a:custGeom>
            <a:solidFill>
              <a:srgbClr val="FFFFFF"/>
            </a:solidFill>
          </p:spPr>
        </p:sp>
      </p:grpSp>
      <p:grpSp>
        <p:nvGrpSpPr>
          <p:cNvPr name="Group 5" id="5"/>
          <p:cNvGrpSpPr/>
          <p:nvPr/>
        </p:nvGrpSpPr>
        <p:grpSpPr>
          <a:xfrm rot="0">
            <a:off x="1219294" y="2903804"/>
            <a:ext cx="15795020" cy="1597682"/>
            <a:chOff x="0" y="0"/>
            <a:chExt cx="5762066" cy="582839"/>
          </a:xfrm>
        </p:grpSpPr>
        <p:sp>
          <p:nvSpPr>
            <p:cNvPr name="Freeform 6" id="6"/>
            <p:cNvSpPr/>
            <p:nvPr/>
          </p:nvSpPr>
          <p:spPr>
            <a:xfrm flipH="false" flipV="false" rot="0">
              <a:off x="0" y="0"/>
              <a:ext cx="5762066" cy="582839"/>
            </a:xfrm>
            <a:custGeom>
              <a:avLst/>
              <a:gdLst/>
              <a:ahLst/>
              <a:cxnLst/>
              <a:rect r="r" b="b" t="t" l="l"/>
              <a:pathLst>
                <a:path h="582839" w="5762066">
                  <a:moveTo>
                    <a:pt x="0" y="0"/>
                  </a:moveTo>
                  <a:lnTo>
                    <a:pt x="5762066" y="0"/>
                  </a:lnTo>
                  <a:lnTo>
                    <a:pt x="5762066" y="582839"/>
                  </a:lnTo>
                  <a:lnTo>
                    <a:pt x="0" y="582839"/>
                  </a:lnTo>
                  <a:close/>
                </a:path>
              </a:pathLst>
            </a:custGeom>
            <a:solidFill>
              <a:srgbClr val="FFFFFF"/>
            </a:solidFill>
          </p:spPr>
        </p:sp>
      </p:grpSp>
      <p:grpSp>
        <p:nvGrpSpPr>
          <p:cNvPr name="Group 7" id="7"/>
          <p:cNvGrpSpPr/>
          <p:nvPr/>
        </p:nvGrpSpPr>
        <p:grpSpPr>
          <a:xfrm rot="0">
            <a:off x="1219294" y="4853275"/>
            <a:ext cx="15795020" cy="4823891"/>
            <a:chOff x="0" y="0"/>
            <a:chExt cx="5762066" cy="1759768"/>
          </a:xfrm>
        </p:grpSpPr>
        <p:sp>
          <p:nvSpPr>
            <p:cNvPr name="Freeform 8" id="8"/>
            <p:cNvSpPr/>
            <p:nvPr/>
          </p:nvSpPr>
          <p:spPr>
            <a:xfrm flipH="false" flipV="false" rot="0">
              <a:off x="0" y="0"/>
              <a:ext cx="5762066" cy="1759768"/>
            </a:xfrm>
            <a:custGeom>
              <a:avLst/>
              <a:gdLst/>
              <a:ahLst/>
              <a:cxnLst/>
              <a:rect r="r" b="b" t="t" l="l"/>
              <a:pathLst>
                <a:path h="1759768" w="5762066">
                  <a:moveTo>
                    <a:pt x="0" y="0"/>
                  </a:moveTo>
                  <a:lnTo>
                    <a:pt x="5762066" y="0"/>
                  </a:lnTo>
                  <a:lnTo>
                    <a:pt x="5762066" y="1759768"/>
                  </a:lnTo>
                  <a:lnTo>
                    <a:pt x="0" y="1759768"/>
                  </a:lnTo>
                  <a:close/>
                </a:path>
              </a:pathLst>
            </a:custGeom>
            <a:solidFill>
              <a:srgbClr val="FFFFFF"/>
            </a:solidFill>
          </p:spPr>
        </p:sp>
      </p:grpSp>
      <p:sp>
        <p:nvSpPr>
          <p:cNvPr name="TextBox 9" id="9"/>
          <p:cNvSpPr txBox="true"/>
          <p:nvPr/>
        </p:nvSpPr>
        <p:spPr>
          <a:xfrm rot="0">
            <a:off x="2976432" y="924883"/>
            <a:ext cx="12280743" cy="1371600"/>
          </a:xfrm>
          <a:prstGeom prst="rect">
            <a:avLst/>
          </a:prstGeom>
        </p:spPr>
        <p:txBody>
          <a:bodyPr anchor="t" rtlCol="false" tIns="0" lIns="0" bIns="0" rIns="0">
            <a:spAutoFit/>
          </a:bodyPr>
          <a:lstStyle/>
          <a:p>
            <a:pPr algn="ctr" marL="0" indent="0" lvl="0">
              <a:lnSpc>
                <a:spcPts val="10800"/>
              </a:lnSpc>
              <a:spcBef>
                <a:spcPct val="0"/>
              </a:spcBef>
            </a:pPr>
            <a:r>
              <a:rPr lang="en-US" b="true" sz="9000">
                <a:solidFill>
                  <a:srgbClr val="003EA8"/>
                </a:solidFill>
                <a:latin typeface="Muli Bold"/>
                <a:ea typeface="Muli Bold"/>
                <a:cs typeface="Muli Bold"/>
                <a:sym typeface="Muli Bold"/>
              </a:rPr>
              <a:t>Trang tài nguyên</a:t>
            </a:r>
          </a:p>
        </p:txBody>
      </p:sp>
      <p:sp>
        <p:nvSpPr>
          <p:cNvPr name="TextBox 10" id="10"/>
          <p:cNvSpPr txBox="true"/>
          <p:nvPr/>
        </p:nvSpPr>
        <p:spPr>
          <a:xfrm rot="0">
            <a:off x="2833406" y="3335615"/>
            <a:ext cx="12621188" cy="715010"/>
          </a:xfrm>
          <a:prstGeom prst="rect">
            <a:avLst/>
          </a:prstGeom>
        </p:spPr>
        <p:txBody>
          <a:bodyPr anchor="t" rtlCol="false" tIns="0" lIns="0" bIns="0" rIns="0">
            <a:spAutoFit/>
          </a:bodyPr>
          <a:lstStyle/>
          <a:p>
            <a:pPr algn="ctr">
              <a:lnSpc>
                <a:spcPts val="2859"/>
              </a:lnSpc>
            </a:pPr>
            <a:r>
              <a:rPr lang="en-US" sz="2199">
                <a:solidFill>
                  <a:srgbClr val="000000"/>
                </a:solidFill>
                <a:latin typeface="Cabin"/>
                <a:ea typeface="Cabin"/>
                <a:cs typeface="Cabin"/>
                <a:sym typeface="Cabin"/>
              </a:rPr>
              <a:t>Tìm điều kỳ diệu và thú vị khi trình bày với Bản Thuyết Trình Canva.</a:t>
            </a:r>
          </a:p>
          <a:p>
            <a:pPr algn="ctr">
              <a:lnSpc>
                <a:spcPts val="2859"/>
              </a:lnSpc>
            </a:pPr>
            <a:r>
              <a:rPr lang="en-US" sz="2199">
                <a:solidFill>
                  <a:srgbClr val="000000"/>
                </a:solidFill>
                <a:latin typeface="Cabin"/>
                <a:ea typeface="Cabin"/>
                <a:cs typeface="Cabin"/>
                <a:sym typeface="Cabin"/>
              </a:rPr>
              <a:t>Nhấn các phím sau khi ở chế độ Trình bày! Hãy xóa trang này trước khi trình bày.</a:t>
            </a:r>
          </a:p>
        </p:txBody>
      </p:sp>
      <p:sp>
        <p:nvSpPr>
          <p:cNvPr name="TextBox 11" id="11"/>
          <p:cNvSpPr txBox="true"/>
          <p:nvPr/>
        </p:nvSpPr>
        <p:spPr>
          <a:xfrm rot="0">
            <a:off x="7286464" y="6062749"/>
            <a:ext cx="3678059"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C</a:t>
            </a:r>
            <a:r>
              <a:rPr lang="en-US" b="true" sz="2899">
                <a:solidFill>
                  <a:srgbClr val="000000"/>
                </a:solidFill>
                <a:latin typeface="Muli Bold"/>
                <a:ea typeface="Muli Bold"/>
                <a:cs typeface="Muli Bold"/>
                <a:sym typeface="Muli Bold"/>
              </a:rPr>
              <a:t> để tạo hoa giấy</a:t>
            </a:r>
          </a:p>
        </p:txBody>
      </p:sp>
      <p:sp>
        <p:nvSpPr>
          <p:cNvPr name="TextBox 12" id="12"/>
          <p:cNvSpPr txBox="true"/>
          <p:nvPr/>
        </p:nvSpPr>
        <p:spPr>
          <a:xfrm rot="0">
            <a:off x="7284245" y="7024972"/>
            <a:ext cx="3678059"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O</a:t>
            </a:r>
            <a:r>
              <a:rPr lang="en-US" b="true" sz="2899">
                <a:solidFill>
                  <a:srgbClr val="000000"/>
                </a:solidFill>
                <a:latin typeface="Muli Bold"/>
                <a:ea typeface="Muli Bold"/>
                <a:cs typeface="Muli Bold"/>
                <a:sym typeface="Muli Bold"/>
              </a:rPr>
              <a:t> để tạo bong bóng</a:t>
            </a:r>
          </a:p>
        </p:txBody>
      </p:sp>
      <p:sp>
        <p:nvSpPr>
          <p:cNvPr name="TextBox 13" id="13"/>
          <p:cNvSpPr txBox="true"/>
          <p:nvPr/>
        </p:nvSpPr>
        <p:spPr>
          <a:xfrm rot="0">
            <a:off x="7286464" y="7990172"/>
            <a:ext cx="8380459" cy="458470"/>
          </a:xfrm>
          <a:prstGeom prst="rect">
            <a:avLst/>
          </a:prstGeom>
        </p:spPr>
        <p:txBody>
          <a:bodyPr anchor="t" rtlCol="false" tIns="0" lIns="0" bIns="0" rIns="0">
            <a:spAutoFit/>
          </a:bodyPr>
          <a:lstStyle/>
          <a:p>
            <a:pPr algn="l">
              <a:lnSpc>
                <a:spcPts val="3769"/>
              </a:lnSpc>
            </a:pPr>
            <a:r>
              <a:rPr lang="en-US" b="true" sz="2899">
                <a:solidFill>
                  <a:srgbClr val="000000"/>
                </a:solidFill>
                <a:latin typeface="Muli Bold"/>
                <a:ea typeface="Muli Bold"/>
                <a:cs typeface="Muli Bold"/>
                <a:sym typeface="Muli Bold"/>
              </a:rPr>
              <a:t>Bất kỳ số nào từ </a:t>
            </a:r>
            <a:r>
              <a:rPr lang="en-US" b="true" sz="2899">
                <a:solidFill>
                  <a:srgbClr val="003EA8"/>
                </a:solidFill>
                <a:latin typeface="Muli Bold"/>
                <a:ea typeface="Muli Bold"/>
                <a:cs typeface="Muli Bold"/>
                <a:sym typeface="Muli Bold"/>
              </a:rPr>
              <a:t>0-9</a:t>
            </a:r>
            <a:r>
              <a:rPr lang="en-US" b="true" sz="2899">
                <a:solidFill>
                  <a:srgbClr val="000000"/>
                </a:solidFill>
                <a:latin typeface="Muli Bold"/>
                <a:ea typeface="Muli Bold"/>
                <a:cs typeface="Muli Bold"/>
                <a:sym typeface="Muli Bold"/>
              </a:rPr>
              <a:t> để hẹn giờ</a:t>
            </a:r>
          </a:p>
        </p:txBody>
      </p:sp>
      <p:sp>
        <p:nvSpPr>
          <p:cNvPr name="TextBox 14" id="14"/>
          <p:cNvSpPr txBox="true"/>
          <p:nvPr/>
        </p:nvSpPr>
        <p:spPr>
          <a:xfrm rot="0">
            <a:off x="12183724" y="6062749"/>
            <a:ext cx="4001360"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D</a:t>
            </a:r>
            <a:r>
              <a:rPr lang="en-US" b="true" sz="2899">
                <a:solidFill>
                  <a:srgbClr val="000000"/>
                </a:solidFill>
                <a:latin typeface="Muli Bold"/>
                <a:ea typeface="Muli Bold"/>
                <a:cs typeface="Muli Bold"/>
                <a:sym typeface="Muli Bold"/>
              </a:rPr>
              <a:t> để tạo tiếng trống</a:t>
            </a:r>
          </a:p>
        </p:txBody>
      </p:sp>
      <p:sp>
        <p:nvSpPr>
          <p:cNvPr name="TextBox 15" id="15"/>
          <p:cNvSpPr txBox="true"/>
          <p:nvPr/>
        </p:nvSpPr>
        <p:spPr>
          <a:xfrm rot="0">
            <a:off x="12183724" y="7024972"/>
            <a:ext cx="3483200"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Q</a:t>
            </a:r>
            <a:r>
              <a:rPr lang="en-US" b="true" sz="2899">
                <a:solidFill>
                  <a:srgbClr val="000000"/>
                </a:solidFill>
                <a:latin typeface="Muli Bold"/>
                <a:ea typeface="Muli Bold"/>
                <a:cs typeface="Muli Bold"/>
                <a:sym typeface="Muli Bold"/>
              </a:rPr>
              <a:t> để tắt tiếng</a:t>
            </a:r>
          </a:p>
        </p:txBody>
      </p:sp>
      <p:sp>
        <p:nvSpPr>
          <p:cNvPr name="TextBox 16" id="16"/>
          <p:cNvSpPr txBox="true"/>
          <p:nvPr/>
        </p:nvSpPr>
        <p:spPr>
          <a:xfrm rot="0">
            <a:off x="2621077" y="6062749"/>
            <a:ext cx="4066588"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B</a:t>
            </a:r>
            <a:r>
              <a:rPr lang="en-US" b="true" sz="2899">
                <a:solidFill>
                  <a:srgbClr val="000000"/>
                </a:solidFill>
                <a:latin typeface="Muli Bold"/>
                <a:ea typeface="Muli Bold"/>
                <a:cs typeface="Muli Bold"/>
                <a:sym typeface="Muli Bold"/>
              </a:rPr>
              <a:t> để tạo hiệu ứng mờ</a:t>
            </a:r>
          </a:p>
        </p:txBody>
      </p:sp>
      <p:sp>
        <p:nvSpPr>
          <p:cNvPr name="TextBox 17" id="17"/>
          <p:cNvSpPr txBox="true"/>
          <p:nvPr/>
        </p:nvSpPr>
        <p:spPr>
          <a:xfrm rot="0">
            <a:off x="2621077" y="7987194"/>
            <a:ext cx="3441748"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U </a:t>
            </a:r>
            <a:r>
              <a:rPr lang="en-US" b="true" sz="2899">
                <a:solidFill>
                  <a:srgbClr val="000000"/>
                </a:solidFill>
                <a:latin typeface="Muli Bold"/>
                <a:ea typeface="Muli Bold"/>
                <a:cs typeface="Muli Bold"/>
                <a:sym typeface="Muli Bold"/>
              </a:rPr>
              <a:t>để hạ màn</a:t>
            </a:r>
          </a:p>
        </p:txBody>
      </p:sp>
      <p:sp>
        <p:nvSpPr>
          <p:cNvPr name="TextBox 18" id="18"/>
          <p:cNvSpPr txBox="true"/>
          <p:nvPr/>
        </p:nvSpPr>
        <p:spPr>
          <a:xfrm rot="0">
            <a:off x="2621077" y="7024972"/>
            <a:ext cx="3441748" cy="458470"/>
          </a:xfrm>
          <a:prstGeom prst="rect">
            <a:avLst/>
          </a:prstGeom>
        </p:spPr>
        <p:txBody>
          <a:bodyPr anchor="t" rtlCol="false" tIns="0" lIns="0" bIns="0" rIns="0">
            <a:spAutoFit/>
          </a:bodyPr>
          <a:lstStyle/>
          <a:p>
            <a:pPr algn="l">
              <a:lnSpc>
                <a:spcPts val="3769"/>
              </a:lnSpc>
            </a:pPr>
            <a:r>
              <a:rPr lang="en-US" b="true" sz="2899">
                <a:solidFill>
                  <a:srgbClr val="003EA8"/>
                </a:solidFill>
                <a:latin typeface="Muli Bold"/>
                <a:ea typeface="Muli Bold"/>
                <a:cs typeface="Muli Bold"/>
                <a:sym typeface="Muli Bold"/>
              </a:rPr>
              <a:t>M</a:t>
            </a:r>
            <a:r>
              <a:rPr lang="en-US" b="true" sz="2899">
                <a:solidFill>
                  <a:srgbClr val="000000"/>
                </a:solidFill>
                <a:latin typeface="Muli Bold"/>
                <a:ea typeface="Muli Bold"/>
                <a:cs typeface="Muli Bold"/>
                <a:sym typeface="Muli Bold"/>
              </a:rPr>
              <a:t> để thả mic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DAG2OF2Rg4k</dc:identifier>
  <dcterms:modified xsi:type="dcterms:W3CDTF">2011-08-01T06:04:30Z</dcterms:modified>
  <cp:revision>1</cp:revision>
  <dc:title>Xanh hải quân Trắng Đen Vẽ nguệch ngoạc Kế hoạch Kinh doanh Bản thuyết trình Kinh doanh</dc:title>
</cp:coreProperties>
</file>