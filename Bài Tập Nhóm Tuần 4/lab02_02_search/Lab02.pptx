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x="18288000" cy="10287000"/>
  <p:notesSz cx="6858000" cy="9144000"/>
  <p:embeddedFontLst>
    <p:embeddedFont>
      <p:font typeface="Helios Bold" charset="1" panose="020B0704020202020204"/>
      <p:regular r:id="rId61"/>
    </p:embeddedFont>
    <p:embeddedFont>
      <p:font typeface="Helios" charset="1" panose="020B0504020202020204"/>
      <p:regular r:id="rId62"/>
    </p:embeddedFont>
    <p:embeddedFont>
      <p:font typeface="Canva Sans Bold" charset="1" panose="020B0803030501040103"/>
      <p:regular r:id="rId63"/>
    </p:embeddedFont>
    <p:embeddedFont>
      <p:font typeface="Helvetica World Bold" charset="1" panose="020B0800040000020004"/>
      <p:regular r:id="rId6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png" Type="http://schemas.openxmlformats.org/officeDocument/2006/relationships/image"/><Relationship Id="rId4"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embeddings/oleObject1.bin" Type="http://schemas.openxmlformats.org/officeDocument/2006/relationships/oleObjec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19.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20.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21.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22.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23.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24.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25.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26.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27.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28.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29.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30.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31.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32.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33.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34.pn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jpe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jpe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jpe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41.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43.png" Type="http://schemas.openxmlformats.org/officeDocument/2006/relationships/image"/><Relationship Id="rId4" Target="../media/image44.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png" Type="http://schemas.openxmlformats.org/officeDocument/2006/relationships/image"/><Relationship Id="rId4" Target="../media/image47.png" Type="http://schemas.openxmlformats.org/officeDocument/2006/relationships/image"/><Relationship Id="rId5" Target="../media/image48.png" Type="http://schemas.openxmlformats.org/officeDocument/2006/relationships/image"/><Relationship Id="rId6" Target="../media/image49.png" Type="http://schemas.openxmlformats.org/officeDocument/2006/relationships/image"/><Relationship Id="rId7" Target="../media/image50.png" Type="http://schemas.openxmlformats.org/officeDocument/2006/relationships/image"/><Relationship Id="rId8" Target="../media/image51.png" Type="http://schemas.openxmlformats.org/officeDocument/2006/relationships/image"/><Relationship Id="rId9" Target="../media/image52.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5.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6708426" y="1007040"/>
            <a:ext cx="11641929" cy="11641929"/>
          </a:xfrm>
          <a:custGeom>
            <a:avLst/>
            <a:gdLst/>
            <a:ahLst/>
            <a:cxnLst/>
            <a:rect r="r" b="b" t="t" l="l"/>
            <a:pathLst>
              <a:path h="11641929" w="11641929">
                <a:moveTo>
                  <a:pt x="0" y="0"/>
                </a:moveTo>
                <a:lnTo>
                  <a:pt x="11641929" y="0"/>
                </a:lnTo>
                <a:lnTo>
                  <a:pt x="11641929" y="11641929"/>
                </a:lnTo>
                <a:lnTo>
                  <a:pt x="0" y="11641929"/>
                </a:lnTo>
                <a:lnTo>
                  <a:pt x="0" y="0"/>
                </a:lnTo>
                <a:close/>
              </a:path>
            </a:pathLst>
          </a:custGeom>
          <a:blipFill>
            <a:blip r:embed="rId2">
              <a:alphaModFix amt="6999"/>
            </a:blip>
            <a:stretch>
              <a:fillRect l="0" t="0" r="0" b="0"/>
            </a:stretch>
          </a:blipFill>
        </p:spPr>
      </p:sp>
      <p:grpSp>
        <p:nvGrpSpPr>
          <p:cNvPr name="Group 3" id="3"/>
          <p:cNvGrpSpPr/>
          <p:nvPr/>
        </p:nvGrpSpPr>
        <p:grpSpPr>
          <a:xfrm rot="-2700000">
            <a:off x="-6377009" y="1338457"/>
            <a:ext cx="10863149" cy="10863149"/>
            <a:chOff x="0" y="0"/>
            <a:chExt cx="2041549" cy="2041549"/>
          </a:xfrm>
        </p:grpSpPr>
        <p:sp>
          <p:nvSpPr>
            <p:cNvPr name="Freeform 4" id="4"/>
            <p:cNvSpPr/>
            <p:nvPr/>
          </p:nvSpPr>
          <p:spPr>
            <a:xfrm flipH="false" flipV="false" rot="0">
              <a:off x="0" y="0"/>
              <a:ext cx="2041549" cy="2041549"/>
            </a:xfrm>
            <a:custGeom>
              <a:avLst/>
              <a:gdLst/>
              <a:ahLst/>
              <a:cxnLst/>
              <a:rect r="r" b="b" t="t" l="l"/>
              <a:pathLst>
                <a:path h="2041549" w="2041549">
                  <a:moveTo>
                    <a:pt x="71268" y="0"/>
                  </a:moveTo>
                  <a:lnTo>
                    <a:pt x="1970282" y="0"/>
                  </a:lnTo>
                  <a:cubicBezTo>
                    <a:pt x="1989183" y="0"/>
                    <a:pt x="2007310" y="7509"/>
                    <a:pt x="2020675" y="20874"/>
                  </a:cubicBezTo>
                  <a:cubicBezTo>
                    <a:pt x="2034041" y="34239"/>
                    <a:pt x="2041549" y="52366"/>
                    <a:pt x="2041549" y="71268"/>
                  </a:cubicBezTo>
                  <a:lnTo>
                    <a:pt x="2041549" y="1970282"/>
                  </a:lnTo>
                  <a:cubicBezTo>
                    <a:pt x="2041549" y="2009642"/>
                    <a:pt x="2009642" y="2041549"/>
                    <a:pt x="1970282" y="2041549"/>
                  </a:cubicBezTo>
                  <a:lnTo>
                    <a:pt x="71268" y="2041549"/>
                  </a:lnTo>
                  <a:cubicBezTo>
                    <a:pt x="31908" y="2041549"/>
                    <a:pt x="0" y="2009642"/>
                    <a:pt x="0" y="1970282"/>
                  </a:cubicBezTo>
                  <a:lnTo>
                    <a:pt x="0" y="71268"/>
                  </a:lnTo>
                  <a:cubicBezTo>
                    <a:pt x="0" y="31908"/>
                    <a:pt x="31908" y="0"/>
                    <a:pt x="71268" y="0"/>
                  </a:cubicBezTo>
                  <a:close/>
                </a:path>
              </a:pathLst>
            </a:custGeom>
            <a:solidFill>
              <a:srgbClr val="FFFFFF"/>
            </a:solidFill>
          </p:spPr>
        </p:sp>
        <p:sp>
          <p:nvSpPr>
            <p:cNvPr name="TextBox 5" id="5"/>
            <p:cNvSpPr txBox="true"/>
            <p:nvPr/>
          </p:nvSpPr>
          <p:spPr>
            <a:xfrm>
              <a:off x="0" y="-47625"/>
              <a:ext cx="2041549" cy="208917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8100000">
            <a:off x="5777215" y="8325796"/>
            <a:ext cx="5636927" cy="605970"/>
          </a:xfrm>
          <a:custGeom>
            <a:avLst/>
            <a:gdLst/>
            <a:ahLst/>
            <a:cxnLst/>
            <a:rect r="r" b="b" t="t" l="l"/>
            <a:pathLst>
              <a:path h="605970" w="5636927">
                <a:moveTo>
                  <a:pt x="0" y="0"/>
                </a:moveTo>
                <a:lnTo>
                  <a:pt x="5636927" y="0"/>
                </a:lnTo>
                <a:lnTo>
                  <a:pt x="5636927" y="605969"/>
                </a:lnTo>
                <a:lnTo>
                  <a:pt x="0" y="605969"/>
                </a:lnTo>
                <a:lnTo>
                  <a:pt x="0" y="0"/>
                </a:lnTo>
                <a:close/>
              </a:path>
            </a:pathLst>
          </a:custGeom>
          <a:blipFill>
            <a:blip r:embed="rId3"/>
            <a:stretch>
              <a:fillRect l="0" t="0" r="0" b="0"/>
            </a:stretch>
          </a:blipFill>
        </p:spPr>
      </p:sp>
      <p:grpSp>
        <p:nvGrpSpPr>
          <p:cNvPr name="Group 7" id="7"/>
          <p:cNvGrpSpPr/>
          <p:nvPr/>
        </p:nvGrpSpPr>
        <p:grpSpPr>
          <a:xfrm rot="-2700000">
            <a:off x="7495978" y="7887028"/>
            <a:ext cx="5776308" cy="3366163"/>
            <a:chOff x="0" y="0"/>
            <a:chExt cx="1721191" cy="1003030"/>
          </a:xfrm>
        </p:grpSpPr>
        <p:sp>
          <p:nvSpPr>
            <p:cNvPr name="Freeform 8" id="8"/>
            <p:cNvSpPr/>
            <p:nvPr/>
          </p:nvSpPr>
          <p:spPr>
            <a:xfrm flipH="false" flipV="false" rot="0">
              <a:off x="0" y="0"/>
              <a:ext cx="1721191" cy="1003030"/>
            </a:xfrm>
            <a:custGeom>
              <a:avLst/>
              <a:gdLst/>
              <a:ahLst/>
              <a:cxnLst/>
              <a:rect r="r" b="b" t="t" l="l"/>
              <a:pathLst>
                <a:path h="1003030" w="1721191">
                  <a:moveTo>
                    <a:pt x="0" y="0"/>
                  </a:moveTo>
                  <a:lnTo>
                    <a:pt x="1721191" y="0"/>
                  </a:lnTo>
                  <a:lnTo>
                    <a:pt x="1721191" y="1003030"/>
                  </a:lnTo>
                  <a:lnTo>
                    <a:pt x="0" y="1003030"/>
                  </a:lnTo>
                  <a:close/>
                </a:path>
              </a:pathLst>
            </a:custGeom>
            <a:solidFill>
              <a:srgbClr val="0F4984"/>
            </a:solidFill>
          </p:spPr>
        </p:sp>
        <p:sp>
          <p:nvSpPr>
            <p:cNvPr name="TextBox 9" id="9"/>
            <p:cNvSpPr txBox="true"/>
            <p:nvPr/>
          </p:nvSpPr>
          <p:spPr>
            <a:xfrm>
              <a:off x="0" y="-47625"/>
              <a:ext cx="1721191" cy="1050655"/>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2700000">
            <a:off x="3826817" y="519180"/>
            <a:ext cx="5636927" cy="605970"/>
          </a:xfrm>
          <a:custGeom>
            <a:avLst/>
            <a:gdLst/>
            <a:ahLst/>
            <a:cxnLst/>
            <a:rect r="r" b="b" t="t" l="l"/>
            <a:pathLst>
              <a:path h="605970" w="5636927">
                <a:moveTo>
                  <a:pt x="0" y="0"/>
                </a:moveTo>
                <a:lnTo>
                  <a:pt x="5636927" y="0"/>
                </a:lnTo>
                <a:lnTo>
                  <a:pt x="5636927" y="605969"/>
                </a:lnTo>
                <a:lnTo>
                  <a:pt x="0" y="605969"/>
                </a:lnTo>
                <a:lnTo>
                  <a:pt x="0" y="0"/>
                </a:lnTo>
                <a:close/>
              </a:path>
            </a:pathLst>
          </a:custGeom>
          <a:blipFill>
            <a:blip r:embed="rId3"/>
            <a:stretch>
              <a:fillRect l="0" t="0" r="0" b="0"/>
            </a:stretch>
          </a:blipFill>
        </p:spPr>
      </p:sp>
      <p:grpSp>
        <p:nvGrpSpPr>
          <p:cNvPr name="Group 11" id="11"/>
          <p:cNvGrpSpPr/>
          <p:nvPr/>
        </p:nvGrpSpPr>
        <p:grpSpPr>
          <a:xfrm rot="-8100000">
            <a:off x="6265606" y="-778255"/>
            <a:ext cx="4275519" cy="2511321"/>
            <a:chOff x="0" y="0"/>
            <a:chExt cx="1273995" cy="748309"/>
          </a:xfrm>
        </p:grpSpPr>
        <p:sp>
          <p:nvSpPr>
            <p:cNvPr name="Freeform 12" id="12"/>
            <p:cNvSpPr/>
            <p:nvPr/>
          </p:nvSpPr>
          <p:spPr>
            <a:xfrm flipH="false" flipV="false" rot="0">
              <a:off x="0" y="0"/>
              <a:ext cx="1273995" cy="748309"/>
            </a:xfrm>
            <a:custGeom>
              <a:avLst/>
              <a:gdLst/>
              <a:ahLst/>
              <a:cxnLst/>
              <a:rect r="r" b="b" t="t" l="l"/>
              <a:pathLst>
                <a:path h="748309" w="1273995">
                  <a:moveTo>
                    <a:pt x="0" y="0"/>
                  </a:moveTo>
                  <a:lnTo>
                    <a:pt x="1273995" y="0"/>
                  </a:lnTo>
                  <a:lnTo>
                    <a:pt x="1273995" y="748309"/>
                  </a:lnTo>
                  <a:lnTo>
                    <a:pt x="0" y="748309"/>
                  </a:lnTo>
                  <a:close/>
                </a:path>
              </a:pathLst>
            </a:custGeom>
            <a:solidFill>
              <a:srgbClr val="16599D"/>
            </a:solidFill>
          </p:spPr>
        </p:sp>
        <p:sp>
          <p:nvSpPr>
            <p:cNvPr name="TextBox 13" id="13"/>
            <p:cNvSpPr txBox="true"/>
            <p:nvPr/>
          </p:nvSpPr>
          <p:spPr>
            <a:xfrm>
              <a:off x="0" y="-47625"/>
              <a:ext cx="1273995" cy="795934"/>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2700000">
            <a:off x="9562903" y="-1975037"/>
            <a:ext cx="11641929" cy="11641929"/>
          </a:xfrm>
          <a:custGeom>
            <a:avLst/>
            <a:gdLst/>
            <a:ahLst/>
            <a:cxnLst/>
            <a:rect r="r" b="b" t="t" l="l"/>
            <a:pathLst>
              <a:path h="11641929" w="11641929">
                <a:moveTo>
                  <a:pt x="0" y="0"/>
                </a:moveTo>
                <a:lnTo>
                  <a:pt x="11641929" y="0"/>
                </a:lnTo>
                <a:lnTo>
                  <a:pt x="11641929" y="11641930"/>
                </a:lnTo>
                <a:lnTo>
                  <a:pt x="0" y="11641930"/>
                </a:lnTo>
                <a:lnTo>
                  <a:pt x="0" y="0"/>
                </a:lnTo>
                <a:close/>
              </a:path>
            </a:pathLst>
          </a:custGeom>
          <a:blipFill>
            <a:blip r:embed="rId2">
              <a:alphaModFix amt="58000"/>
            </a:blip>
            <a:stretch>
              <a:fillRect l="0" t="0" r="0" b="0"/>
            </a:stretch>
          </a:blipFill>
        </p:spPr>
      </p:sp>
      <p:grpSp>
        <p:nvGrpSpPr>
          <p:cNvPr name="Group 15" id="15"/>
          <p:cNvGrpSpPr/>
          <p:nvPr/>
        </p:nvGrpSpPr>
        <p:grpSpPr>
          <a:xfrm rot="-2700000">
            <a:off x="9894321" y="-1643619"/>
            <a:ext cx="10863149" cy="10863149"/>
            <a:chOff x="0" y="0"/>
            <a:chExt cx="2041549" cy="2041549"/>
          </a:xfrm>
        </p:grpSpPr>
        <p:sp>
          <p:nvSpPr>
            <p:cNvPr name="Freeform 16" id="16"/>
            <p:cNvSpPr/>
            <p:nvPr/>
          </p:nvSpPr>
          <p:spPr>
            <a:xfrm flipH="false" flipV="false" rot="0">
              <a:off x="0" y="0"/>
              <a:ext cx="2041549" cy="2041549"/>
            </a:xfrm>
            <a:custGeom>
              <a:avLst/>
              <a:gdLst/>
              <a:ahLst/>
              <a:cxnLst/>
              <a:rect r="r" b="b" t="t" l="l"/>
              <a:pathLst>
                <a:path h="2041549" w="2041549">
                  <a:moveTo>
                    <a:pt x="71268" y="0"/>
                  </a:moveTo>
                  <a:lnTo>
                    <a:pt x="1970282" y="0"/>
                  </a:lnTo>
                  <a:cubicBezTo>
                    <a:pt x="1989183" y="0"/>
                    <a:pt x="2007310" y="7509"/>
                    <a:pt x="2020675" y="20874"/>
                  </a:cubicBezTo>
                  <a:cubicBezTo>
                    <a:pt x="2034041" y="34239"/>
                    <a:pt x="2041549" y="52366"/>
                    <a:pt x="2041549" y="71268"/>
                  </a:cubicBezTo>
                  <a:lnTo>
                    <a:pt x="2041549" y="1970282"/>
                  </a:lnTo>
                  <a:cubicBezTo>
                    <a:pt x="2041549" y="2009642"/>
                    <a:pt x="2009642" y="2041549"/>
                    <a:pt x="1970282" y="2041549"/>
                  </a:cubicBezTo>
                  <a:lnTo>
                    <a:pt x="71268" y="2041549"/>
                  </a:lnTo>
                  <a:cubicBezTo>
                    <a:pt x="31908" y="2041549"/>
                    <a:pt x="0" y="2009642"/>
                    <a:pt x="0" y="1970282"/>
                  </a:cubicBezTo>
                  <a:lnTo>
                    <a:pt x="0" y="71268"/>
                  </a:lnTo>
                  <a:cubicBezTo>
                    <a:pt x="0" y="31908"/>
                    <a:pt x="31908" y="0"/>
                    <a:pt x="71268" y="0"/>
                  </a:cubicBezTo>
                  <a:close/>
                </a:path>
              </a:pathLst>
            </a:custGeom>
            <a:solidFill>
              <a:srgbClr val="FFFFFF"/>
            </a:solidFill>
          </p:spPr>
        </p:sp>
        <p:sp>
          <p:nvSpPr>
            <p:cNvPr name="TextBox 17" id="17"/>
            <p:cNvSpPr txBox="true"/>
            <p:nvPr/>
          </p:nvSpPr>
          <p:spPr>
            <a:xfrm>
              <a:off x="0" y="-47625"/>
              <a:ext cx="2041549" cy="2089174"/>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8624254" y="-2913686"/>
            <a:ext cx="13403282" cy="13403282"/>
            <a:chOff x="0" y="0"/>
            <a:chExt cx="812800" cy="812800"/>
          </a:xfrm>
        </p:grpSpPr>
        <p:sp>
          <p:nvSpPr>
            <p:cNvPr name="Freeform 19" id="19"/>
            <p:cNvSpPr/>
            <p:nvPr/>
          </p:nvSpPr>
          <p:spPr>
            <a:xfrm flipH="false" flipV="false" rot="0">
              <a:off x="14834" y="14834"/>
              <a:ext cx="783132" cy="783132"/>
            </a:xfrm>
            <a:custGeom>
              <a:avLst/>
              <a:gdLst/>
              <a:ahLst/>
              <a:cxnLst/>
              <a:rect r="r" b="b" t="t" l="l"/>
              <a:pathLst>
                <a:path h="783132" w="783132">
                  <a:moveTo>
                    <a:pt x="416889" y="10489"/>
                  </a:moveTo>
                  <a:lnTo>
                    <a:pt x="772643" y="366243"/>
                  </a:lnTo>
                  <a:cubicBezTo>
                    <a:pt x="779359" y="372959"/>
                    <a:pt x="783132" y="382068"/>
                    <a:pt x="783132" y="391566"/>
                  </a:cubicBezTo>
                  <a:cubicBezTo>
                    <a:pt x="783132" y="401064"/>
                    <a:pt x="779359" y="410173"/>
                    <a:pt x="772643" y="416889"/>
                  </a:cubicBezTo>
                  <a:lnTo>
                    <a:pt x="416889" y="772643"/>
                  </a:lnTo>
                  <a:cubicBezTo>
                    <a:pt x="410173" y="779359"/>
                    <a:pt x="401064" y="783132"/>
                    <a:pt x="391566" y="783132"/>
                  </a:cubicBezTo>
                  <a:cubicBezTo>
                    <a:pt x="382068" y="783132"/>
                    <a:pt x="372959" y="779359"/>
                    <a:pt x="366243" y="772643"/>
                  </a:cubicBezTo>
                  <a:lnTo>
                    <a:pt x="10489" y="416889"/>
                  </a:lnTo>
                  <a:cubicBezTo>
                    <a:pt x="3773" y="410173"/>
                    <a:pt x="0" y="401064"/>
                    <a:pt x="0" y="391566"/>
                  </a:cubicBezTo>
                  <a:cubicBezTo>
                    <a:pt x="0" y="382068"/>
                    <a:pt x="3773" y="372959"/>
                    <a:pt x="10489" y="366243"/>
                  </a:cubicBezTo>
                  <a:lnTo>
                    <a:pt x="366243" y="10489"/>
                  </a:lnTo>
                  <a:cubicBezTo>
                    <a:pt x="372959" y="3773"/>
                    <a:pt x="382068" y="0"/>
                    <a:pt x="391566" y="0"/>
                  </a:cubicBezTo>
                  <a:cubicBezTo>
                    <a:pt x="401064" y="0"/>
                    <a:pt x="410173" y="3773"/>
                    <a:pt x="416889" y="10489"/>
                  </a:cubicBezTo>
                  <a:close/>
                </a:path>
              </a:pathLst>
            </a:custGeom>
            <a:blipFill>
              <a:blip r:embed="rId4"/>
              <a:stretch>
                <a:fillRect l="-51554" t="-19731" r="-30998" b="-1894"/>
              </a:stretch>
            </a:blipFill>
          </p:spPr>
        </p:sp>
      </p:grpSp>
      <p:sp>
        <p:nvSpPr>
          <p:cNvPr name="Freeform 20" id="20"/>
          <p:cNvSpPr/>
          <p:nvPr/>
        </p:nvSpPr>
        <p:spPr>
          <a:xfrm flipH="false" flipV="false" rot="8100000">
            <a:off x="7965362" y="10637768"/>
            <a:ext cx="5636927" cy="605970"/>
          </a:xfrm>
          <a:custGeom>
            <a:avLst/>
            <a:gdLst/>
            <a:ahLst/>
            <a:cxnLst/>
            <a:rect r="r" b="b" t="t" l="l"/>
            <a:pathLst>
              <a:path h="605970" w="5636927">
                <a:moveTo>
                  <a:pt x="0" y="0"/>
                </a:moveTo>
                <a:lnTo>
                  <a:pt x="5636927" y="0"/>
                </a:lnTo>
                <a:lnTo>
                  <a:pt x="5636927" y="605969"/>
                </a:lnTo>
                <a:lnTo>
                  <a:pt x="0" y="605969"/>
                </a:lnTo>
                <a:lnTo>
                  <a:pt x="0" y="0"/>
                </a:lnTo>
                <a:close/>
              </a:path>
            </a:pathLst>
          </a:custGeom>
          <a:blipFill>
            <a:blip r:embed="rId3"/>
            <a:stretch>
              <a:fillRect l="0" t="0" r="0" b="0"/>
            </a:stretch>
          </a:blipFill>
        </p:spPr>
      </p:sp>
      <p:grpSp>
        <p:nvGrpSpPr>
          <p:cNvPr name="Group 21" id="21"/>
          <p:cNvGrpSpPr/>
          <p:nvPr/>
        </p:nvGrpSpPr>
        <p:grpSpPr>
          <a:xfrm rot="-2700000">
            <a:off x="10719628" y="6615897"/>
            <a:ext cx="10211745" cy="2440924"/>
            <a:chOff x="0" y="0"/>
            <a:chExt cx="3042837" cy="727333"/>
          </a:xfrm>
        </p:grpSpPr>
        <p:sp>
          <p:nvSpPr>
            <p:cNvPr name="Freeform 22" id="22"/>
            <p:cNvSpPr/>
            <p:nvPr/>
          </p:nvSpPr>
          <p:spPr>
            <a:xfrm flipH="false" flipV="false" rot="0">
              <a:off x="0" y="0"/>
              <a:ext cx="3042837" cy="727333"/>
            </a:xfrm>
            <a:custGeom>
              <a:avLst/>
              <a:gdLst/>
              <a:ahLst/>
              <a:cxnLst/>
              <a:rect r="r" b="b" t="t" l="l"/>
              <a:pathLst>
                <a:path h="727333" w="3042837">
                  <a:moveTo>
                    <a:pt x="0" y="0"/>
                  </a:moveTo>
                  <a:lnTo>
                    <a:pt x="3042837" y="0"/>
                  </a:lnTo>
                  <a:lnTo>
                    <a:pt x="3042837" y="727333"/>
                  </a:lnTo>
                  <a:lnTo>
                    <a:pt x="0" y="727333"/>
                  </a:lnTo>
                  <a:close/>
                </a:path>
              </a:pathLst>
            </a:custGeom>
            <a:solidFill>
              <a:srgbClr val="16599D"/>
            </a:solidFill>
          </p:spPr>
        </p:sp>
        <p:sp>
          <p:nvSpPr>
            <p:cNvPr name="TextBox 23" id="23"/>
            <p:cNvSpPr txBox="true"/>
            <p:nvPr/>
          </p:nvSpPr>
          <p:spPr>
            <a:xfrm>
              <a:off x="0" y="-47625"/>
              <a:ext cx="3042837" cy="774958"/>
            </a:xfrm>
            <a:prstGeom prst="rect">
              <a:avLst/>
            </a:prstGeom>
          </p:spPr>
          <p:txBody>
            <a:bodyPr anchor="ctr" rtlCol="false" tIns="50800" lIns="50800" bIns="50800" rIns="50800"/>
            <a:lstStyle/>
            <a:p>
              <a:pPr algn="ctr">
                <a:lnSpc>
                  <a:spcPts val="2659"/>
                </a:lnSpc>
                <a:spcBef>
                  <a:spcPct val="0"/>
                </a:spcBef>
              </a:pPr>
            </a:p>
          </p:txBody>
        </p:sp>
      </p:grpSp>
      <p:sp>
        <p:nvSpPr>
          <p:cNvPr name="Freeform 24" id="24"/>
          <p:cNvSpPr/>
          <p:nvPr/>
        </p:nvSpPr>
        <p:spPr>
          <a:xfrm flipH="false" flipV="false" rot="8100000">
            <a:off x="13721104" y="8138017"/>
            <a:ext cx="5636927" cy="605970"/>
          </a:xfrm>
          <a:custGeom>
            <a:avLst/>
            <a:gdLst/>
            <a:ahLst/>
            <a:cxnLst/>
            <a:rect r="r" b="b" t="t" l="l"/>
            <a:pathLst>
              <a:path h="605970" w="5636927">
                <a:moveTo>
                  <a:pt x="0" y="0"/>
                </a:moveTo>
                <a:lnTo>
                  <a:pt x="5636926" y="0"/>
                </a:lnTo>
                <a:lnTo>
                  <a:pt x="5636926" y="605970"/>
                </a:lnTo>
                <a:lnTo>
                  <a:pt x="0" y="605970"/>
                </a:lnTo>
                <a:lnTo>
                  <a:pt x="0" y="0"/>
                </a:lnTo>
                <a:close/>
              </a:path>
            </a:pathLst>
          </a:custGeom>
          <a:blipFill>
            <a:blip r:embed="rId3"/>
            <a:stretch>
              <a:fillRect l="0" t="0" r="0" b="0"/>
            </a:stretch>
          </a:blipFill>
        </p:spPr>
      </p:sp>
      <p:grpSp>
        <p:nvGrpSpPr>
          <p:cNvPr name="Group 25" id="25"/>
          <p:cNvGrpSpPr/>
          <p:nvPr/>
        </p:nvGrpSpPr>
        <p:grpSpPr>
          <a:xfrm rot="-2700000">
            <a:off x="14773604" y="8138004"/>
            <a:ext cx="5641848" cy="2550578"/>
            <a:chOff x="0" y="0"/>
            <a:chExt cx="1681125" cy="760006"/>
          </a:xfrm>
        </p:grpSpPr>
        <p:sp>
          <p:nvSpPr>
            <p:cNvPr name="Freeform 26" id="26"/>
            <p:cNvSpPr/>
            <p:nvPr/>
          </p:nvSpPr>
          <p:spPr>
            <a:xfrm flipH="false" flipV="false" rot="0">
              <a:off x="0" y="0"/>
              <a:ext cx="1681125" cy="760006"/>
            </a:xfrm>
            <a:custGeom>
              <a:avLst/>
              <a:gdLst/>
              <a:ahLst/>
              <a:cxnLst/>
              <a:rect r="r" b="b" t="t" l="l"/>
              <a:pathLst>
                <a:path h="760006" w="1681125">
                  <a:moveTo>
                    <a:pt x="0" y="0"/>
                  </a:moveTo>
                  <a:lnTo>
                    <a:pt x="1681125" y="0"/>
                  </a:lnTo>
                  <a:lnTo>
                    <a:pt x="1681125" y="760006"/>
                  </a:lnTo>
                  <a:lnTo>
                    <a:pt x="0" y="760006"/>
                  </a:lnTo>
                  <a:close/>
                </a:path>
              </a:pathLst>
            </a:custGeom>
            <a:solidFill>
              <a:srgbClr val="2978C8"/>
            </a:solidFill>
          </p:spPr>
        </p:sp>
        <p:sp>
          <p:nvSpPr>
            <p:cNvPr name="TextBox 27" id="27"/>
            <p:cNvSpPr txBox="true"/>
            <p:nvPr/>
          </p:nvSpPr>
          <p:spPr>
            <a:xfrm>
              <a:off x="0" y="-47625"/>
              <a:ext cx="1681125" cy="807631"/>
            </a:xfrm>
            <a:prstGeom prst="rect">
              <a:avLst/>
            </a:prstGeom>
          </p:spPr>
          <p:txBody>
            <a:bodyPr anchor="ctr" rtlCol="false" tIns="50800" lIns="50800" bIns="50800" rIns="50800"/>
            <a:lstStyle/>
            <a:p>
              <a:pPr algn="ctr">
                <a:lnSpc>
                  <a:spcPts val="2659"/>
                </a:lnSpc>
                <a:spcBef>
                  <a:spcPct val="0"/>
                </a:spcBef>
              </a:pPr>
            </a:p>
          </p:txBody>
        </p:sp>
      </p:grpSp>
      <p:grpSp>
        <p:nvGrpSpPr>
          <p:cNvPr name="Group 28" id="28"/>
          <p:cNvGrpSpPr/>
          <p:nvPr/>
        </p:nvGrpSpPr>
        <p:grpSpPr>
          <a:xfrm rot="-10800000">
            <a:off x="1028700" y="6634124"/>
            <a:ext cx="934250" cy="106173"/>
            <a:chOff x="0" y="0"/>
            <a:chExt cx="278383" cy="31637"/>
          </a:xfrm>
        </p:grpSpPr>
        <p:sp>
          <p:nvSpPr>
            <p:cNvPr name="Freeform 29" id="29"/>
            <p:cNvSpPr/>
            <p:nvPr/>
          </p:nvSpPr>
          <p:spPr>
            <a:xfrm flipH="false" flipV="false" rot="0">
              <a:off x="0" y="0"/>
              <a:ext cx="278383" cy="31637"/>
            </a:xfrm>
            <a:custGeom>
              <a:avLst/>
              <a:gdLst/>
              <a:ahLst/>
              <a:cxnLst/>
              <a:rect r="r" b="b" t="t" l="l"/>
              <a:pathLst>
                <a:path h="31637" w="278383">
                  <a:moveTo>
                    <a:pt x="15818" y="0"/>
                  </a:moveTo>
                  <a:lnTo>
                    <a:pt x="262564" y="0"/>
                  </a:lnTo>
                  <a:cubicBezTo>
                    <a:pt x="266759" y="0"/>
                    <a:pt x="270783" y="1667"/>
                    <a:pt x="273749" y="4633"/>
                  </a:cubicBezTo>
                  <a:cubicBezTo>
                    <a:pt x="276716" y="7600"/>
                    <a:pt x="278383" y="11623"/>
                    <a:pt x="278383" y="15818"/>
                  </a:cubicBezTo>
                  <a:lnTo>
                    <a:pt x="278383" y="15818"/>
                  </a:lnTo>
                  <a:cubicBezTo>
                    <a:pt x="278383" y="24555"/>
                    <a:pt x="271300" y="31637"/>
                    <a:pt x="262564" y="31637"/>
                  </a:cubicBezTo>
                  <a:lnTo>
                    <a:pt x="15818" y="31637"/>
                  </a:lnTo>
                  <a:cubicBezTo>
                    <a:pt x="11623" y="31637"/>
                    <a:pt x="7600" y="29970"/>
                    <a:pt x="4633" y="27004"/>
                  </a:cubicBezTo>
                  <a:cubicBezTo>
                    <a:pt x="1667" y="24037"/>
                    <a:pt x="0" y="20014"/>
                    <a:pt x="0" y="15818"/>
                  </a:cubicBezTo>
                  <a:lnTo>
                    <a:pt x="0" y="15818"/>
                  </a:lnTo>
                  <a:cubicBezTo>
                    <a:pt x="0" y="11623"/>
                    <a:pt x="1667" y="7600"/>
                    <a:pt x="4633" y="4633"/>
                  </a:cubicBezTo>
                  <a:cubicBezTo>
                    <a:pt x="7600" y="1667"/>
                    <a:pt x="11623" y="0"/>
                    <a:pt x="15818" y="0"/>
                  </a:cubicBezTo>
                  <a:close/>
                </a:path>
              </a:pathLst>
            </a:custGeom>
            <a:solidFill>
              <a:srgbClr val="2978C8"/>
            </a:solidFill>
          </p:spPr>
        </p:sp>
        <p:sp>
          <p:nvSpPr>
            <p:cNvPr name="TextBox 30" id="30"/>
            <p:cNvSpPr txBox="true"/>
            <p:nvPr/>
          </p:nvSpPr>
          <p:spPr>
            <a:xfrm>
              <a:off x="0" y="-47625"/>
              <a:ext cx="278383" cy="79262"/>
            </a:xfrm>
            <a:prstGeom prst="rect">
              <a:avLst/>
            </a:prstGeom>
          </p:spPr>
          <p:txBody>
            <a:bodyPr anchor="ctr" rtlCol="false" tIns="50800" lIns="50800" bIns="50800" rIns="50800"/>
            <a:lstStyle/>
            <a:p>
              <a:pPr algn="ctr">
                <a:lnSpc>
                  <a:spcPts val="2659"/>
                </a:lnSpc>
                <a:spcBef>
                  <a:spcPct val="0"/>
                </a:spcBef>
              </a:pPr>
            </a:p>
          </p:txBody>
        </p:sp>
      </p:grpSp>
      <p:sp>
        <p:nvSpPr>
          <p:cNvPr name="Freeform 31" id="31"/>
          <p:cNvSpPr/>
          <p:nvPr/>
        </p:nvSpPr>
        <p:spPr>
          <a:xfrm flipH="false" flipV="false" rot="0">
            <a:off x="1028700" y="1044230"/>
            <a:ext cx="825645" cy="690102"/>
          </a:xfrm>
          <a:custGeom>
            <a:avLst/>
            <a:gdLst/>
            <a:ahLst/>
            <a:cxnLst/>
            <a:rect r="r" b="b" t="t" l="l"/>
            <a:pathLst>
              <a:path h="690102" w="825645">
                <a:moveTo>
                  <a:pt x="0" y="0"/>
                </a:moveTo>
                <a:lnTo>
                  <a:pt x="825645" y="0"/>
                </a:lnTo>
                <a:lnTo>
                  <a:pt x="825645" y="690102"/>
                </a:lnTo>
                <a:lnTo>
                  <a:pt x="0" y="6901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32" id="32"/>
          <p:cNvGrpSpPr/>
          <p:nvPr/>
        </p:nvGrpSpPr>
        <p:grpSpPr>
          <a:xfrm rot="-10800000">
            <a:off x="2058200" y="6634124"/>
            <a:ext cx="312889" cy="106173"/>
            <a:chOff x="0" y="0"/>
            <a:chExt cx="93233" cy="31637"/>
          </a:xfrm>
        </p:grpSpPr>
        <p:sp>
          <p:nvSpPr>
            <p:cNvPr name="Freeform 33" id="33"/>
            <p:cNvSpPr/>
            <p:nvPr/>
          </p:nvSpPr>
          <p:spPr>
            <a:xfrm flipH="false" flipV="false" rot="0">
              <a:off x="0" y="0"/>
              <a:ext cx="93233" cy="31637"/>
            </a:xfrm>
            <a:custGeom>
              <a:avLst/>
              <a:gdLst/>
              <a:ahLst/>
              <a:cxnLst/>
              <a:rect r="r" b="b" t="t" l="l"/>
              <a:pathLst>
                <a:path h="31637" w="93233">
                  <a:moveTo>
                    <a:pt x="15818" y="0"/>
                  </a:moveTo>
                  <a:lnTo>
                    <a:pt x="77415" y="0"/>
                  </a:lnTo>
                  <a:cubicBezTo>
                    <a:pt x="86151" y="0"/>
                    <a:pt x="93233" y="7082"/>
                    <a:pt x="93233" y="15818"/>
                  </a:cubicBezTo>
                  <a:lnTo>
                    <a:pt x="93233" y="15818"/>
                  </a:lnTo>
                  <a:cubicBezTo>
                    <a:pt x="93233" y="20014"/>
                    <a:pt x="91566" y="24037"/>
                    <a:pt x="88600" y="27004"/>
                  </a:cubicBezTo>
                  <a:cubicBezTo>
                    <a:pt x="85633" y="29970"/>
                    <a:pt x="81610" y="31637"/>
                    <a:pt x="77415" y="31637"/>
                  </a:cubicBezTo>
                  <a:lnTo>
                    <a:pt x="15818" y="31637"/>
                  </a:lnTo>
                  <a:cubicBezTo>
                    <a:pt x="11623" y="31637"/>
                    <a:pt x="7600" y="29970"/>
                    <a:pt x="4633" y="27004"/>
                  </a:cubicBezTo>
                  <a:cubicBezTo>
                    <a:pt x="1667" y="24037"/>
                    <a:pt x="0" y="20014"/>
                    <a:pt x="0" y="15818"/>
                  </a:cubicBezTo>
                  <a:lnTo>
                    <a:pt x="0" y="15818"/>
                  </a:lnTo>
                  <a:cubicBezTo>
                    <a:pt x="0" y="11623"/>
                    <a:pt x="1667" y="7600"/>
                    <a:pt x="4633" y="4633"/>
                  </a:cubicBezTo>
                  <a:cubicBezTo>
                    <a:pt x="7600" y="1667"/>
                    <a:pt x="11623" y="0"/>
                    <a:pt x="15818" y="0"/>
                  </a:cubicBezTo>
                  <a:close/>
                </a:path>
              </a:pathLst>
            </a:custGeom>
            <a:solidFill>
              <a:srgbClr val="292A2B"/>
            </a:solidFill>
          </p:spPr>
        </p:sp>
        <p:sp>
          <p:nvSpPr>
            <p:cNvPr name="TextBox 34" id="34"/>
            <p:cNvSpPr txBox="true"/>
            <p:nvPr/>
          </p:nvSpPr>
          <p:spPr>
            <a:xfrm>
              <a:off x="0" y="-47625"/>
              <a:ext cx="93233" cy="79262"/>
            </a:xfrm>
            <a:prstGeom prst="rect">
              <a:avLst/>
            </a:prstGeom>
          </p:spPr>
          <p:txBody>
            <a:bodyPr anchor="ctr" rtlCol="false" tIns="50800" lIns="50800" bIns="50800" rIns="50800"/>
            <a:lstStyle/>
            <a:p>
              <a:pPr algn="ctr">
                <a:lnSpc>
                  <a:spcPts val="2659"/>
                </a:lnSpc>
                <a:spcBef>
                  <a:spcPct val="0"/>
                </a:spcBef>
              </a:pPr>
            </a:p>
          </p:txBody>
        </p:sp>
      </p:grpSp>
      <p:sp>
        <p:nvSpPr>
          <p:cNvPr name="TextBox 35" id="35"/>
          <p:cNvSpPr txBox="true"/>
          <p:nvPr/>
        </p:nvSpPr>
        <p:spPr>
          <a:xfrm rot="0">
            <a:off x="2220323" y="1082452"/>
            <a:ext cx="3200711" cy="497877"/>
          </a:xfrm>
          <a:prstGeom prst="rect">
            <a:avLst/>
          </a:prstGeom>
        </p:spPr>
        <p:txBody>
          <a:bodyPr anchor="t" rtlCol="false" tIns="0" lIns="0" bIns="0" rIns="0">
            <a:spAutoFit/>
          </a:bodyPr>
          <a:lstStyle/>
          <a:p>
            <a:pPr algn="l">
              <a:lnSpc>
                <a:spcPts val="4059"/>
              </a:lnSpc>
              <a:spcBef>
                <a:spcPct val="0"/>
              </a:spcBef>
            </a:pPr>
            <a:r>
              <a:rPr lang="en-US" b="true" sz="2899">
                <a:solidFill>
                  <a:srgbClr val="000000"/>
                </a:solidFill>
                <a:latin typeface="Helios Bold"/>
                <a:ea typeface="Helios Bold"/>
                <a:cs typeface="Helios Bold"/>
                <a:sym typeface="Helios Bold"/>
              </a:rPr>
              <a:t>NHÓM 8</a:t>
            </a:r>
          </a:p>
        </p:txBody>
      </p:sp>
      <p:sp>
        <p:nvSpPr>
          <p:cNvPr name="TextBox 36" id="36"/>
          <p:cNvSpPr txBox="true"/>
          <p:nvPr/>
        </p:nvSpPr>
        <p:spPr>
          <a:xfrm rot="0">
            <a:off x="455447" y="2513780"/>
            <a:ext cx="7547929" cy="2138437"/>
          </a:xfrm>
          <a:prstGeom prst="rect">
            <a:avLst/>
          </a:prstGeom>
        </p:spPr>
        <p:txBody>
          <a:bodyPr anchor="t" rtlCol="false" tIns="0" lIns="0" bIns="0" rIns="0">
            <a:spAutoFit/>
          </a:bodyPr>
          <a:lstStyle/>
          <a:p>
            <a:pPr algn="just">
              <a:lnSpc>
                <a:spcPts val="8249"/>
              </a:lnSpc>
            </a:pPr>
            <a:r>
              <a:rPr lang="en-US" b="true" sz="7499">
                <a:solidFill>
                  <a:srgbClr val="16599D"/>
                </a:solidFill>
                <a:latin typeface="Helios Bold"/>
                <a:ea typeface="Helios Bold"/>
                <a:cs typeface="Helios Bold"/>
                <a:sym typeface="Helios Bold"/>
              </a:rPr>
              <a:t>TRÍ TUỆ NHÂN TẠO NÂNG CAO</a:t>
            </a:r>
          </a:p>
        </p:txBody>
      </p:sp>
      <p:sp>
        <p:nvSpPr>
          <p:cNvPr name="TextBox 37" id="37"/>
          <p:cNvSpPr txBox="true"/>
          <p:nvPr/>
        </p:nvSpPr>
        <p:spPr>
          <a:xfrm rot="0">
            <a:off x="2684761" y="5048250"/>
            <a:ext cx="2271835" cy="816379"/>
          </a:xfrm>
          <a:prstGeom prst="rect">
            <a:avLst/>
          </a:prstGeom>
        </p:spPr>
        <p:txBody>
          <a:bodyPr anchor="t" rtlCol="false" tIns="0" lIns="0" bIns="0" rIns="0">
            <a:spAutoFit/>
          </a:bodyPr>
          <a:lstStyle/>
          <a:p>
            <a:pPr algn="ctr">
              <a:lnSpc>
                <a:spcPts val="6579"/>
              </a:lnSpc>
              <a:spcBef>
                <a:spcPct val="0"/>
              </a:spcBef>
            </a:pPr>
            <a:r>
              <a:rPr lang="en-US" b="true" sz="4699">
                <a:solidFill>
                  <a:srgbClr val="16599D"/>
                </a:solidFill>
                <a:latin typeface="Helios Bold"/>
                <a:ea typeface="Helios Bold"/>
                <a:cs typeface="Helios Bold"/>
                <a:sym typeface="Helios Bold"/>
              </a:rPr>
              <a:t>LAB02</a:t>
            </a:r>
          </a:p>
        </p:txBody>
      </p:sp>
      <p:sp>
        <p:nvSpPr>
          <p:cNvPr name="TextBox 38" id="38"/>
          <p:cNvSpPr txBox="true"/>
          <p:nvPr/>
        </p:nvSpPr>
        <p:spPr>
          <a:xfrm rot="0">
            <a:off x="1001605" y="7102248"/>
            <a:ext cx="6642883" cy="2035303"/>
          </a:xfrm>
          <a:prstGeom prst="rect">
            <a:avLst/>
          </a:prstGeom>
        </p:spPr>
        <p:txBody>
          <a:bodyPr anchor="t" rtlCol="false" tIns="0" lIns="0" bIns="0" rIns="0">
            <a:spAutoFit/>
          </a:bodyPr>
          <a:lstStyle/>
          <a:p>
            <a:pPr algn="l">
              <a:lnSpc>
                <a:spcPts val="4103"/>
              </a:lnSpc>
            </a:pPr>
            <a:r>
              <a:rPr lang="en-US" sz="2399">
                <a:solidFill>
                  <a:srgbClr val="000000"/>
                </a:solidFill>
                <a:latin typeface="Helios"/>
                <a:ea typeface="Helios"/>
                <a:cs typeface="Helios"/>
                <a:sym typeface="Helios"/>
              </a:rPr>
              <a:t>3122410398 - Nguyễn Tiến Thọ</a:t>
            </a:r>
          </a:p>
          <a:p>
            <a:pPr algn="l">
              <a:lnSpc>
                <a:spcPts val="4103"/>
              </a:lnSpc>
            </a:pPr>
            <a:r>
              <a:rPr lang="en-US" sz="2399">
                <a:solidFill>
                  <a:srgbClr val="000000"/>
                </a:solidFill>
                <a:latin typeface="Helios"/>
                <a:ea typeface="Helios"/>
                <a:cs typeface="Helios"/>
                <a:sym typeface="Helios"/>
              </a:rPr>
              <a:t>3122410403 - Nguyễn Thiên Thuận</a:t>
            </a:r>
          </a:p>
          <a:p>
            <a:pPr algn="l">
              <a:lnSpc>
                <a:spcPts val="4103"/>
              </a:lnSpc>
            </a:pPr>
            <a:r>
              <a:rPr lang="en-US" sz="2399">
                <a:solidFill>
                  <a:srgbClr val="000000"/>
                </a:solidFill>
                <a:latin typeface="Helios"/>
                <a:ea typeface="Helios"/>
                <a:cs typeface="Helios"/>
                <a:sym typeface="Helios"/>
              </a:rPr>
              <a:t>3122410475 - Nguyễn Thế Vinh</a:t>
            </a:r>
          </a:p>
          <a:p>
            <a:pPr algn="l">
              <a:lnSpc>
                <a:spcPts val="4103"/>
              </a:lnSpc>
            </a:pPr>
            <a:r>
              <a:rPr lang="en-US" sz="2399">
                <a:solidFill>
                  <a:srgbClr val="000000"/>
                </a:solidFill>
                <a:latin typeface="Helios"/>
                <a:ea typeface="Helios"/>
                <a:cs typeface="Helios"/>
                <a:sym typeface="Helios"/>
              </a:rPr>
              <a:t>3122410071 - Ng</a:t>
            </a:r>
            <a:r>
              <a:rPr lang="en-US" sz="2399">
                <a:solidFill>
                  <a:srgbClr val="000000"/>
                </a:solidFill>
                <a:latin typeface="Helios"/>
                <a:ea typeface="Helios"/>
                <a:cs typeface="Helios"/>
                <a:sym typeface="Helios"/>
              </a:rPr>
              <a:t>uyễn Quang Đạt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7001768" y="1126950"/>
            <a:ext cx="5636927" cy="605970"/>
          </a:xfrm>
          <a:custGeom>
            <a:avLst/>
            <a:gdLst/>
            <a:ahLst/>
            <a:cxnLst/>
            <a:rect r="r" b="b" t="t" l="l"/>
            <a:pathLst>
              <a:path h="605970" w="5636927">
                <a:moveTo>
                  <a:pt x="0" y="0"/>
                </a:moveTo>
                <a:lnTo>
                  <a:pt x="5636927" y="0"/>
                </a:lnTo>
                <a:lnTo>
                  <a:pt x="5636927" y="605970"/>
                </a:lnTo>
                <a:lnTo>
                  <a:pt x="0" y="605970"/>
                </a:lnTo>
                <a:lnTo>
                  <a:pt x="0" y="0"/>
                </a:lnTo>
                <a:close/>
              </a:path>
            </a:pathLst>
          </a:custGeom>
          <a:blipFill>
            <a:blip r:embed="rId2"/>
            <a:stretch>
              <a:fillRect l="0" t="0" r="0" b="0"/>
            </a:stretch>
          </a:blipFill>
        </p:spPr>
      </p:sp>
      <p:grpSp>
        <p:nvGrpSpPr>
          <p:cNvPr name="Group 3" id="3"/>
          <p:cNvGrpSpPr/>
          <p:nvPr/>
        </p:nvGrpSpPr>
        <p:grpSpPr>
          <a:xfrm rot="-8100000">
            <a:off x="8515005" y="-553860"/>
            <a:ext cx="5359870" cy="2511321"/>
            <a:chOff x="0" y="0"/>
            <a:chExt cx="1597103" cy="748309"/>
          </a:xfrm>
        </p:grpSpPr>
        <p:sp>
          <p:nvSpPr>
            <p:cNvPr name="Freeform 4" id="4"/>
            <p:cNvSpPr/>
            <p:nvPr/>
          </p:nvSpPr>
          <p:spPr>
            <a:xfrm flipH="false" flipV="false" rot="0">
              <a:off x="0" y="0"/>
              <a:ext cx="1597103" cy="748309"/>
            </a:xfrm>
            <a:custGeom>
              <a:avLst/>
              <a:gdLst/>
              <a:ahLst/>
              <a:cxnLst/>
              <a:rect r="r" b="b" t="t" l="l"/>
              <a:pathLst>
                <a:path h="748309" w="1597103">
                  <a:moveTo>
                    <a:pt x="0" y="0"/>
                  </a:moveTo>
                  <a:lnTo>
                    <a:pt x="1597103" y="0"/>
                  </a:lnTo>
                  <a:lnTo>
                    <a:pt x="1597103" y="748309"/>
                  </a:lnTo>
                  <a:lnTo>
                    <a:pt x="0" y="748309"/>
                  </a:lnTo>
                  <a:close/>
                </a:path>
              </a:pathLst>
            </a:custGeom>
            <a:solidFill>
              <a:srgbClr val="0F4984"/>
            </a:solidFill>
          </p:spPr>
        </p:sp>
        <p:sp>
          <p:nvSpPr>
            <p:cNvPr name="TextBox 5" id="5"/>
            <p:cNvSpPr txBox="true"/>
            <p:nvPr/>
          </p:nvSpPr>
          <p:spPr>
            <a:xfrm>
              <a:off x="0" y="-47625"/>
              <a:ext cx="1597103" cy="79593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2700000">
            <a:off x="9928259" y="810181"/>
            <a:ext cx="5636927" cy="605970"/>
          </a:xfrm>
          <a:custGeom>
            <a:avLst/>
            <a:gdLst/>
            <a:ahLst/>
            <a:cxnLst/>
            <a:rect r="r" b="b" t="t" l="l"/>
            <a:pathLst>
              <a:path h="605970" w="5636927">
                <a:moveTo>
                  <a:pt x="0" y="0"/>
                </a:moveTo>
                <a:lnTo>
                  <a:pt x="5636926" y="0"/>
                </a:lnTo>
                <a:lnTo>
                  <a:pt x="5636926" y="605969"/>
                </a:lnTo>
                <a:lnTo>
                  <a:pt x="0" y="605969"/>
                </a:lnTo>
                <a:lnTo>
                  <a:pt x="0" y="0"/>
                </a:lnTo>
                <a:close/>
              </a:path>
            </a:pathLst>
          </a:custGeom>
          <a:blipFill>
            <a:blip r:embed="rId2"/>
            <a:stretch>
              <a:fillRect l="0" t="0" r="0" b="0"/>
            </a:stretch>
          </a:blipFill>
        </p:spPr>
      </p:sp>
      <p:sp>
        <p:nvSpPr>
          <p:cNvPr name="Freeform 7" id="7"/>
          <p:cNvSpPr/>
          <p:nvPr/>
        </p:nvSpPr>
        <p:spPr>
          <a:xfrm flipH="false" flipV="false" rot="-2700000">
            <a:off x="-4317047" y="-3837181"/>
            <a:ext cx="11641929" cy="11641929"/>
          </a:xfrm>
          <a:custGeom>
            <a:avLst/>
            <a:gdLst/>
            <a:ahLst/>
            <a:cxnLst/>
            <a:rect r="r" b="b" t="t" l="l"/>
            <a:pathLst>
              <a:path h="11641929" w="11641929">
                <a:moveTo>
                  <a:pt x="0" y="0"/>
                </a:moveTo>
                <a:lnTo>
                  <a:pt x="11641929" y="0"/>
                </a:lnTo>
                <a:lnTo>
                  <a:pt x="11641929" y="11641929"/>
                </a:lnTo>
                <a:lnTo>
                  <a:pt x="0" y="11641929"/>
                </a:lnTo>
                <a:lnTo>
                  <a:pt x="0" y="0"/>
                </a:lnTo>
                <a:close/>
              </a:path>
            </a:pathLst>
          </a:custGeom>
          <a:blipFill>
            <a:blip r:embed="rId3">
              <a:alphaModFix amt="6999"/>
            </a:blip>
            <a:stretch>
              <a:fillRect l="0" t="0" r="0" b="0"/>
            </a:stretch>
          </a:blipFill>
        </p:spPr>
      </p:sp>
      <p:grpSp>
        <p:nvGrpSpPr>
          <p:cNvPr name="Group 8" id="8"/>
          <p:cNvGrpSpPr/>
          <p:nvPr/>
        </p:nvGrpSpPr>
        <p:grpSpPr>
          <a:xfrm rot="-2700000">
            <a:off x="-3968980" y="-3539362"/>
            <a:ext cx="10863149" cy="10863149"/>
            <a:chOff x="0" y="0"/>
            <a:chExt cx="2041549" cy="2041549"/>
          </a:xfrm>
        </p:grpSpPr>
        <p:sp>
          <p:nvSpPr>
            <p:cNvPr name="Freeform 9" id="9"/>
            <p:cNvSpPr/>
            <p:nvPr/>
          </p:nvSpPr>
          <p:spPr>
            <a:xfrm flipH="false" flipV="false" rot="0">
              <a:off x="0" y="0"/>
              <a:ext cx="2041549" cy="2041549"/>
            </a:xfrm>
            <a:custGeom>
              <a:avLst/>
              <a:gdLst/>
              <a:ahLst/>
              <a:cxnLst/>
              <a:rect r="r" b="b" t="t" l="l"/>
              <a:pathLst>
                <a:path h="2041549" w="2041549">
                  <a:moveTo>
                    <a:pt x="71268" y="0"/>
                  </a:moveTo>
                  <a:lnTo>
                    <a:pt x="1970282" y="0"/>
                  </a:lnTo>
                  <a:cubicBezTo>
                    <a:pt x="1989183" y="0"/>
                    <a:pt x="2007310" y="7509"/>
                    <a:pt x="2020675" y="20874"/>
                  </a:cubicBezTo>
                  <a:cubicBezTo>
                    <a:pt x="2034041" y="34239"/>
                    <a:pt x="2041549" y="52366"/>
                    <a:pt x="2041549" y="71268"/>
                  </a:cubicBezTo>
                  <a:lnTo>
                    <a:pt x="2041549" y="1970282"/>
                  </a:lnTo>
                  <a:cubicBezTo>
                    <a:pt x="2041549" y="2009642"/>
                    <a:pt x="2009642" y="2041549"/>
                    <a:pt x="1970282" y="2041549"/>
                  </a:cubicBezTo>
                  <a:lnTo>
                    <a:pt x="71268" y="2041549"/>
                  </a:lnTo>
                  <a:cubicBezTo>
                    <a:pt x="31908" y="2041549"/>
                    <a:pt x="0" y="2009642"/>
                    <a:pt x="0" y="1970282"/>
                  </a:cubicBezTo>
                  <a:lnTo>
                    <a:pt x="0" y="71268"/>
                  </a:lnTo>
                  <a:cubicBezTo>
                    <a:pt x="0" y="31908"/>
                    <a:pt x="31908" y="0"/>
                    <a:pt x="71268" y="0"/>
                  </a:cubicBezTo>
                  <a:close/>
                </a:path>
              </a:pathLst>
            </a:custGeom>
            <a:solidFill>
              <a:srgbClr val="FFFFFF"/>
            </a:solidFill>
          </p:spPr>
        </p:sp>
        <p:sp>
          <p:nvSpPr>
            <p:cNvPr name="TextBox 10" id="10"/>
            <p:cNvSpPr txBox="true"/>
            <p:nvPr/>
          </p:nvSpPr>
          <p:spPr>
            <a:xfrm>
              <a:off x="0" y="-47625"/>
              <a:ext cx="2041549" cy="208917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484305" y="2466843"/>
            <a:ext cx="7918224" cy="3086100"/>
            <a:chOff x="0" y="0"/>
            <a:chExt cx="2085458" cy="812800"/>
          </a:xfrm>
        </p:grpSpPr>
        <p:sp>
          <p:nvSpPr>
            <p:cNvPr name="Freeform 12" id="12"/>
            <p:cNvSpPr/>
            <p:nvPr/>
          </p:nvSpPr>
          <p:spPr>
            <a:xfrm flipH="false" flipV="false" rot="0">
              <a:off x="0" y="0"/>
              <a:ext cx="2085458" cy="812800"/>
            </a:xfrm>
            <a:custGeom>
              <a:avLst/>
              <a:gdLst/>
              <a:ahLst/>
              <a:cxnLst/>
              <a:rect r="r" b="b" t="t" l="l"/>
              <a:pathLst>
                <a:path h="812800" w="2085458">
                  <a:moveTo>
                    <a:pt x="48887" y="0"/>
                  </a:moveTo>
                  <a:lnTo>
                    <a:pt x="2036571" y="0"/>
                  </a:lnTo>
                  <a:cubicBezTo>
                    <a:pt x="2063571" y="0"/>
                    <a:pt x="2085458" y="21887"/>
                    <a:pt x="2085458" y="48887"/>
                  </a:cubicBezTo>
                  <a:lnTo>
                    <a:pt x="2085458" y="763913"/>
                  </a:lnTo>
                  <a:cubicBezTo>
                    <a:pt x="2085458" y="790913"/>
                    <a:pt x="2063571" y="812800"/>
                    <a:pt x="2036571" y="812800"/>
                  </a:cubicBezTo>
                  <a:lnTo>
                    <a:pt x="48887" y="812800"/>
                  </a:lnTo>
                  <a:cubicBezTo>
                    <a:pt x="21887" y="812800"/>
                    <a:pt x="0" y="790913"/>
                    <a:pt x="0" y="763913"/>
                  </a:cubicBezTo>
                  <a:lnTo>
                    <a:pt x="0" y="48887"/>
                  </a:lnTo>
                  <a:cubicBezTo>
                    <a:pt x="0" y="21887"/>
                    <a:pt x="21887" y="0"/>
                    <a:pt x="48887" y="0"/>
                  </a:cubicBezTo>
                  <a:close/>
                </a:path>
              </a:pathLst>
            </a:custGeom>
            <a:solidFill>
              <a:srgbClr val="000000">
                <a:alpha val="0"/>
              </a:srgbClr>
            </a:solidFill>
            <a:ln w="19050" cap="rnd">
              <a:solidFill>
                <a:srgbClr val="292A2B"/>
              </a:solidFill>
              <a:prstDash val="solid"/>
              <a:round/>
            </a:ln>
          </p:spPr>
        </p:sp>
        <p:sp>
          <p:nvSpPr>
            <p:cNvPr name="TextBox 13" id="13"/>
            <p:cNvSpPr txBox="true"/>
            <p:nvPr/>
          </p:nvSpPr>
          <p:spPr>
            <a:xfrm>
              <a:off x="0" y="-38100"/>
              <a:ext cx="2085458" cy="850900"/>
            </a:xfrm>
            <a:prstGeom prst="rect">
              <a:avLst/>
            </a:prstGeom>
          </p:spPr>
          <p:txBody>
            <a:bodyPr anchor="ctr" rtlCol="false" tIns="0" lIns="0" bIns="0" rIns="0"/>
            <a:lstStyle/>
            <a:p>
              <a:pPr algn="ctr">
                <a:lnSpc>
                  <a:spcPts val="2799"/>
                </a:lnSpc>
              </a:pPr>
              <a:r>
                <a:rPr lang="en-US" sz="1999" b="true">
                  <a:solidFill>
                    <a:srgbClr val="000000"/>
                  </a:solidFill>
                  <a:latin typeface="Canva Sans Bold"/>
                  <a:ea typeface="Canva Sans Bold"/>
                  <a:cs typeface="Canva Sans Bold"/>
                  <a:sym typeface="Canva Sans Bold"/>
                </a:rPr>
                <a:t>LAB02_01_Agents</a:t>
              </a:r>
            </a:p>
            <a:p>
              <a:pPr algn="ctr" marL="431799" indent="-215899" lvl="1">
                <a:lnSpc>
                  <a:spcPts val="4379"/>
                </a:lnSpc>
                <a:buAutoNum type="arabicPeriod" startAt="1"/>
              </a:pPr>
              <a:r>
                <a:rPr lang="en-US" b="true" sz="1999">
                  <a:solidFill>
                    <a:srgbClr val="000000"/>
                  </a:solidFill>
                  <a:latin typeface="Canva Sans Bold"/>
                  <a:ea typeface="Canva Sans Bold"/>
                  <a:cs typeface="Canva Sans Bold"/>
                  <a:sym typeface="Canva Sans Bold"/>
                </a:rPr>
                <a:t>Robot Vacuum</a:t>
              </a:r>
            </a:p>
            <a:p>
              <a:pPr algn="ctr" marL="431799" indent="-215899" lvl="1">
                <a:lnSpc>
                  <a:spcPts val="4379"/>
                </a:lnSpc>
                <a:buAutoNum type="arabicPeriod" startAt="1"/>
              </a:pPr>
              <a:r>
                <a:rPr lang="en-US" b="true" sz="1999">
                  <a:solidFill>
                    <a:srgbClr val="000000"/>
                  </a:solidFill>
                  <a:latin typeface="Canva Sans Bold"/>
                  <a:ea typeface="Canva Sans Bold"/>
                  <a:cs typeface="Canva Sans Bold"/>
                  <a:sym typeface="Canva Sans Bold"/>
                </a:rPr>
                <a:t>Lunar Lander</a:t>
              </a:r>
            </a:p>
          </p:txBody>
        </p:sp>
      </p:grpSp>
      <p:grpSp>
        <p:nvGrpSpPr>
          <p:cNvPr name="Group 14" id="14"/>
          <p:cNvGrpSpPr/>
          <p:nvPr/>
        </p:nvGrpSpPr>
        <p:grpSpPr>
          <a:xfrm rot="0">
            <a:off x="5962650" y="6421392"/>
            <a:ext cx="2138429" cy="2713734"/>
            <a:chOff x="0" y="0"/>
            <a:chExt cx="563208" cy="714728"/>
          </a:xfrm>
        </p:grpSpPr>
        <p:sp>
          <p:nvSpPr>
            <p:cNvPr name="Freeform 15" id="15"/>
            <p:cNvSpPr/>
            <p:nvPr/>
          </p:nvSpPr>
          <p:spPr>
            <a:xfrm flipH="false" flipV="false" rot="0">
              <a:off x="0" y="0"/>
              <a:ext cx="563208" cy="714728"/>
            </a:xfrm>
            <a:custGeom>
              <a:avLst/>
              <a:gdLst/>
              <a:ahLst/>
              <a:cxnLst/>
              <a:rect r="r" b="b" t="t" l="l"/>
              <a:pathLst>
                <a:path h="714728" w="563208">
                  <a:moveTo>
                    <a:pt x="0" y="0"/>
                  </a:moveTo>
                  <a:lnTo>
                    <a:pt x="563208" y="0"/>
                  </a:lnTo>
                  <a:lnTo>
                    <a:pt x="563208" y="714728"/>
                  </a:lnTo>
                  <a:lnTo>
                    <a:pt x="0" y="714728"/>
                  </a:lnTo>
                  <a:close/>
                </a:path>
              </a:pathLst>
            </a:custGeom>
            <a:solidFill>
              <a:srgbClr val="F7FBFF"/>
            </a:solidFill>
          </p:spPr>
        </p:sp>
        <p:sp>
          <p:nvSpPr>
            <p:cNvPr name="TextBox 16" id="16"/>
            <p:cNvSpPr txBox="true"/>
            <p:nvPr/>
          </p:nvSpPr>
          <p:spPr>
            <a:xfrm>
              <a:off x="0" y="-47625"/>
              <a:ext cx="563208" cy="762353"/>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2700000">
            <a:off x="9790314" y="2257197"/>
            <a:ext cx="10898709" cy="10898709"/>
          </a:xfrm>
          <a:custGeom>
            <a:avLst/>
            <a:gdLst/>
            <a:ahLst/>
            <a:cxnLst/>
            <a:rect r="r" b="b" t="t" l="l"/>
            <a:pathLst>
              <a:path h="10898709" w="10898709">
                <a:moveTo>
                  <a:pt x="0" y="0"/>
                </a:moveTo>
                <a:lnTo>
                  <a:pt x="10898710" y="0"/>
                </a:lnTo>
                <a:lnTo>
                  <a:pt x="10898710" y="10898709"/>
                </a:lnTo>
                <a:lnTo>
                  <a:pt x="0" y="10898709"/>
                </a:lnTo>
                <a:lnTo>
                  <a:pt x="0" y="0"/>
                </a:lnTo>
                <a:close/>
              </a:path>
            </a:pathLst>
          </a:custGeom>
          <a:blipFill>
            <a:blip r:embed="rId3">
              <a:alphaModFix amt="58000"/>
            </a:blip>
            <a:stretch>
              <a:fillRect l="0" t="0" r="0" b="0"/>
            </a:stretch>
          </a:blipFill>
        </p:spPr>
      </p:sp>
      <p:grpSp>
        <p:nvGrpSpPr>
          <p:cNvPr name="Group 18" id="18"/>
          <p:cNvGrpSpPr/>
          <p:nvPr/>
        </p:nvGrpSpPr>
        <p:grpSpPr>
          <a:xfrm rot="-2700000">
            <a:off x="10100574" y="2567456"/>
            <a:ext cx="10169646" cy="10169646"/>
            <a:chOff x="0" y="0"/>
            <a:chExt cx="2041549" cy="2041549"/>
          </a:xfrm>
        </p:grpSpPr>
        <p:sp>
          <p:nvSpPr>
            <p:cNvPr name="Freeform 19" id="19"/>
            <p:cNvSpPr/>
            <p:nvPr/>
          </p:nvSpPr>
          <p:spPr>
            <a:xfrm flipH="false" flipV="false" rot="0">
              <a:off x="0" y="0"/>
              <a:ext cx="2041549" cy="2041549"/>
            </a:xfrm>
            <a:custGeom>
              <a:avLst/>
              <a:gdLst/>
              <a:ahLst/>
              <a:cxnLst/>
              <a:rect r="r" b="b" t="t" l="l"/>
              <a:pathLst>
                <a:path h="2041549" w="2041549">
                  <a:moveTo>
                    <a:pt x="76128" y="0"/>
                  </a:moveTo>
                  <a:lnTo>
                    <a:pt x="1965422" y="0"/>
                  </a:lnTo>
                  <a:cubicBezTo>
                    <a:pt x="1985612" y="0"/>
                    <a:pt x="2004975" y="8021"/>
                    <a:pt x="2019252" y="22297"/>
                  </a:cubicBezTo>
                  <a:cubicBezTo>
                    <a:pt x="2033529" y="36574"/>
                    <a:pt x="2041549" y="55937"/>
                    <a:pt x="2041549" y="76128"/>
                  </a:cubicBezTo>
                  <a:lnTo>
                    <a:pt x="2041549" y="1965422"/>
                  </a:lnTo>
                  <a:cubicBezTo>
                    <a:pt x="2041549" y="1985612"/>
                    <a:pt x="2033529" y="2004975"/>
                    <a:pt x="2019252" y="2019252"/>
                  </a:cubicBezTo>
                  <a:cubicBezTo>
                    <a:pt x="2004975" y="2033529"/>
                    <a:pt x="1985612" y="2041549"/>
                    <a:pt x="1965422" y="2041549"/>
                  </a:cubicBezTo>
                  <a:lnTo>
                    <a:pt x="76128" y="2041549"/>
                  </a:lnTo>
                  <a:cubicBezTo>
                    <a:pt x="55937" y="2041549"/>
                    <a:pt x="36574" y="2033529"/>
                    <a:pt x="22297" y="2019252"/>
                  </a:cubicBezTo>
                  <a:cubicBezTo>
                    <a:pt x="8021" y="2004975"/>
                    <a:pt x="0" y="1985612"/>
                    <a:pt x="0" y="1965422"/>
                  </a:cubicBezTo>
                  <a:lnTo>
                    <a:pt x="0" y="76128"/>
                  </a:lnTo>
                  <a:cubicBezTo>
                    <a:pt x="0" y="55937"/>
                    <a:pt x="8021" y="36574"/>
                    <a:pt x="22297" y="22297"/>
                  </a:cubicBezTo>
                  <a:cubicBezTo>
                    <a:pt x="36574" y="8021"/>
                    <a:pt x="55937" y="0"/>
                    <a:pt x="76128" y="0"/>
                  </a:cubicBezTo>
                  <a:close/>
                </a:path>
              </a:pathLst>
            </a:custGeom>
            <a:solidFill>
              <a:srgbClr val="FFFFFF"/>
            </a:solidFill>
          </p:spPr>
        </p:sp>
        <p:sp>
          <p:nvSpPr>
            <p:cNvPr name="TextBox 20" id="20"/>
            <p:cNvSpPr txBox="true"/>
            <p:nvPr/>
          </p:nvSpPr>
          <p:spPr>
            <a:xfrm>
              <a:off x="0" y="-47625"/>
              <a:ext cx="2041549" cy="2089174"/>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0">
            <a:off x="8911588" y="1378470"/>
            <a:ext cx="12547618" cy="12547618"/>
            <a:chOff x="0" y="0"/>
            <a:chExt cx="812800" cy="812800"/>
          </a:xfrm>
        </p:grpSpPr>
        <p:sp>
          <p:nvSpPr>
            <p:cNvPr name="Freeform 22" id="22"/>
            <p:cNvSpPr/>
            <p:nvPr/>
          </p:nvSpPr>
          <p:spPr>
            <a:xfrm flipH="false" flipV="false" rot="0">
              <a:off x="12111" y="12111"/>
              <a:ext cx="788579" cy="788579"/>
            </a:xfrm>
            <a:custGeom>
              <a:avLst/>
              <a:gdLst/>
              <a:ahLst/>
              <a:cxnLst/>
              <a:rect r="r" b="b" t="t" l="l"/>
              <a:pathLst>
                <a:path h="788579" w="788579">
                  <a:moveTo>
                    <a:pt x="421339" y="14939"/>
                  </a:moveTo>
                  <a:lnTo>
                    <a:pt x="773639" y="367239"/>
                  </a:lnTo>
                  <a:cubicBezTo>
                    <a:pt x="788578" y="382178"/>
                    <a:pt x="788578" y="406400"/>
                    <a:pt x="773639" y="421339"/>
                  </a:cubicBezTo>
                  <a:lnTo>
                    <a:pt x="421339" y="773639"/>
                  </a:lnTo>
                  <a:cubicBezTo>
                    <a:pt x="406400" y="788578"/>
                    <a:pt x="382178" y="788578"/>
                    <a:pt x="367239" y="773639"/>
                  </a:cubicBezTo>
                  <a:lnTo>
                    <a:pt x="14939" y="421339"/>
                  </a:lnTo>
                  <a:cubicBezTo>
                    <a:pt x="0" y="406400"/>
                    <a:pt x="0" y="382178"/>
                    <a:pt x="14939" y="367239"/>
                  </a:cubicBezTo>
                  <a:lnTo>
                    <a:pt x="367239" y="14939"/>
                  </a:lnTo>
                  <a:cubicBezTo>
                    <a:pt x="382178" y="0"/>
                    <a:pt x="406400" y="0"/>
                    <a:pt x="421339" y="14939"/>
                  </a:cubicBezTo>
                  <a:close/>
                </a:path>
              </a:pathLst>
            </a:custGeom>
            <a:blipFill>
              <a:blip r:embed="rId4"/>
              <a:stretch>
                <a:fillRect l="-24906" t="0" r="-24906" b="0"/>
              </a:stretch>
            </a:blipFill>
          </p:spPr>
        </p:sp>
      </p:grpSp>
      <p:grpSp>
        <p:nvGrpSpPr>
          <p:cNvPr name="Group 23" id="23"/>
          <p:cNvGrpSpPr/>
          <p:nvPr/>
        </p:nvGrpSpPr>
        <p:grpSpPr>
          <a:xfrm rot="-8100000">
            <a:off x="10669360" y="993471"/>
            <a:ext cx="10132302" cy="2304198"/>
            <a:chOff x="0" y="0"/>
            <a:chExt cx="3019165" cy="686592"/>
          </a:xfrm>
        </p:grpSpPr>
        <p:sp>
          <p:nvSpPr>
            <p:cNvPr name="Freeform 24" id="24"/>
            <p:cNvSpPr/>
            <p:nvPr/>
          </p:nvSpPr>
          <p:spPr>
            <a:xfrm flipH="false" flipV="false" rot="0">
              <a:off x="0" y="0"/>
              <a:ext cx="3019165" cy="686592"/>
            </a:xfrm>
            <a:custGeom>
              <a:avLst/>
              <a:gdLst/>
              <a:ahLst/>
              <a:cxnLst/>
              <a:rect r="r" b="b" t="t" l="l"/>
              <a:pathLst>
                <a:path h="686592" w="3019165">
                  <a:moveTo>
                    <a:pt x="0" y="0"/>
                  </a:moveTo>
                  <a:lnTo>
                    <a:pt x="3019165" y="0"/>
                  </a:lnTo>
                  <a:lnTo>
                    <a:pt x="3019165" y="686592"/>
                  </a:lnTo>
                  <a:lnTo>
                    <a:pt x="0" y="686592"/>
                  </a:lnTo>
                  <a:close/>
                </a:path>
              </a:pathLst>
            </a:custGeom>
            <a:solidFill>
              <a:srgbClr val="16599D"/>
            </a:solidFill>
          </p:spPr>
        </p:sp>
        <p:sp>
          <p:nvSpPr>
            <p:cNvPr name="TextBox 25" id="25"/>
            <p:cNvSpPr txBox="true"/>
            <p:nvPr/>
          </p:nvSpPr>
          <p:spPr>
            <a:xfrm>
              <a:off x="0" y="-47625"/>
              <a:ext cx="3019165" cy="734217"/>
            </a:xfrm>
            <a:prstGeom prst="rect">
              <a:avLst/>
            </a:prstGeom>
          </p:spPr>
          <p:txBody>
            <a:bodyPr anchor="ctr" rtlCol="false" tIns="50800" lIns="50800" bIns="50800" rIns="50800"/>
            <a:lstStyle/>
            <a:p>
              <a:pPr algn="ctr">
                <a:lnSpc>
                  <a:spcPts val="2659"/>
                </a:lnSpc>
                <a:spcBef>
                  <a:spcPct val="0"/>
                </a:spcBef>
              </a:pPr>
            </a:p>
          </p:txBody>
        </p:sp>
      </p:grpSp>
      <p:sp>
        <p:nvSpPr>
          <p:cNvPr name="Freeform 26" id="26"/>
          <p:cNvSpPr/>
          <p:nvPr/>
        </p:nvSpPr>
        <p:spPr>
          <a:xfrm flipH="false" flipV="false" rot="2700000">
            <a:off x="13557061" y="1280279"/>
            <a:ext cx="5636927" cy="605970"/>
          </a:xfrm>
          <a:custGeom>
            <a:avLst/>
            <a:gdLst/>
            <a:ahLst/>
            <a:cxnLst/>
            <a:rect r="r" b="b" t="t" l="l"/>
            <a:pathLst>
              <a:path h="605970" w="5636927">
                <a:moveTo>
                  <a:pt x="0" y="0"/>
                </a:moveTo>
                <a:lnTo>
                  <a:pt x="5636926" y="0"/>
                </a:lnTo>
                <a:lnTo>
                  <a:pt x="5636926" y="605970"/>
                </a:lnTo>
                <a:lnTo>
                  <a:pt x="0" y="605970"/>
                </a:lnTo>
                <a:lnTo>
                  <a:pt x="0" y="0"/>
                </a:lnTo>
                <a:close/>
              </a:path>
            </a:pathLst>
          </a:custGeom>
          <a:blipFill>
            <a:blip r:embed="rId2"/>
            <a:stretch>
              <a:fillRect l="0" t="0" r="0" b="0"/>
            </a:stretch>
          </a:blipFill>
        </p:spPr>
      </p:sp>
      <p:grpSp>
        <p:nvGrpSpPr>
          <p:cNvPr name="Group 27" id="27"/>
          <p:cNvGrpSpPr/>
          <p:nvPr/>
        </p:nvGrpSpPr>
        <p:grpSpPr>
          <a:xfrm rot="-8100000">
            <a:off x="15049711" y="-350832"/>
            <a:ext cx="5000402" cy="2304198"/>
            <a:chOff x="0" y="0"/>
            <a:chExt cx="1489991" cy="686592"/>
          </a:xfrm>
        </p:grpSpPr>
        <p:sp>
          <p:nvSpPr>
            <p:cNvPr name="Freeform 28" id="28"/>
            <p:cNvSpPr/>
            <p:nvPr/>
          </p:nvSpPr>
          <p:spPr>
            <a:xfrm flipH="false" flipV="false" rot="0">
              <a:off x="0" y="0"/>
              <a:ext cx="1489991" cy="686592"/>
            </a:xfrm>
            <a:custGeom>
              <a:avLst/>
              <a:gdLst/>
              <a:ahLst/>
              <a:cxnLst/>
              <a:rect r="r" b="b" t="t" l="l"/>
              <a:pathLst>
                <a:path h="686592" w="1489991">
                  <a:moveTo>
                    <a:pt x="0" y="0"/>
                  </a:moveTo>
                  <a:lnTo>
                    <a:pt x="1489991" y="0"/>
                  </a:lnTo>
                  <a:lnTo>
                    <a:pt x="1489991" y="686592"/>
                  </a:lnTo>
                  <a:lnTo>
                    <a:pt x="0" y="686592"/>
                  </a:lnTo>
                  <a:close/>
                </a:path>
              </a:pathLst>
            </a:custGeom>
            <a:solidFill>
              <a:srgbClr val="2978C8"/>
            </a:solidFill>
          </p:spPr>
        </p:sp>
        <p:sp>
          <p:nvSpPr>
            <p:cNvPr name="TextBox 29" id="29"/>
            <p:cNvSpPr txBox="true"/>
            <p:nvPr/>
          </p:nvSpPr>
          <p:spPr>
            <a:xfrm>
              <a:off x="0" y="-47625"/>
              <a:ext cx="1489991" cy="734217"/>
            </a:xfrm>
            <a:prstGeom prst="rect">
              <a:avLst/>
            </a:prstGeom>
          </p:spPr>
          <p:txBody>
            <a:bodyPr anchor="ctr" rtlCol="false" tIns="50800" lIns="50800" bIns="50800" rIns="50800"/>
            <a:lstStyle/>
            <a:p>
              <a:pPr algn="ctr">
                <a:lnSpc>
                  <a:spcPts val="2659"/>
                </a:lnSpc>
                <a:spcBef>
                  <a:spcPct val="0"/>
                </a:spcBef>
              </a:pPr>
            </a:p>
          </p:txBody>
        </p:sp>
      </p:grpSp>
      <p:sp>
        <p:nvSpPr>
          <p:cNvPr name="TextBox 30" id="30"/>
          <p:cNvSpPr txBox="true"/>
          <p:nvPr/>
        </p:nvSpPr>
        <p:spPr>
          <a:xfrm rot="0">
            <a:off x="1028700" y="1209024"/>
            <a:ext cx="6615789" cy="858044"/>
          </a:xfrm>
          <a:prstGeom prst="rect">
            <a:avLst/>
          </a:prstGeom>
        </p:spPr>
        <p:txBody>
          <a:bodyPr anchor="t" rtlCol="false" tIns="0" lIns="0" bIns="0" rIns="0">
            <a:spAutoFit/>
          </a:bodyPr>
          <a:lstStyle/>
          <a:p>
            <a:pPr algn="l">
              <a:lnSpc>
                <a:spcPts val="6049"/>
              </a:lnSpc>
            </a:pPr>
            <a:r>
              <a:rPr lang="en-US" b="true" sz="5499">
                <a:solidFill>
                  <a:srgbClr val="16599D"/>
                </a:solidFill>
                <a:latin typeface="Helvetica World Bold"/>
                <a:ea typeface="Helvetica World Bold"/>
                <a:cs typeface="Helvetica World Bold"/>
                <a:sym typeface="Helvetica World Bold"/>
              </a:rPr>
              <a:t>GIỚI THIỆU</a:t>
            </a:r>
          </a:p>
        </p:txBody>
      </p:sp>
      <p:grpSp>
        <p:nvGrpSpPr>
          <p:cNvPr name="Group 31" id="31"/>
          <p:cNvGrpSpPr/>
          <p:nvPr/>
        </p:nvGrpSpPr>
        <p:grpSpPr>
          <a:xfrm rot="0">
            <a:off x="484305" y="5952717"/>
            <a:ext cx="8093707" cy="3207214"/>
            <a:chOff x="0" y="0"/>
            <a:chExt cx="2131676" cy="844698"/>
          </a:xfrm>
        </p:grpSpPr>
        <p:sp>
          <p:nvSpPr>
            <p:cNvPr name="Freeform 32" id="32"/>
            <p:cNvSpPr/>
            <p:nvPr/>
          </p:nvSpPr>
          <p:spPr>
            <a:xfrm flipH="false" flipV="false" rot="0">
              <a:off x="0" y="0"/>
              <a:ext cx="2131676" cy="844698"/>
            </a:xfrm>
            <a:custGeom>
              <a:avLst/>
              <a:gdLst/>
              <a:ahLst/>
              <a:cxnLst/>
              <a:rect r="r" b="b" t="t" l="l"/>
              <a:pathLst>
                <a:path h="844698" w="2131676">
                  <a:moveTo>
                    <a:pt x="47827" y="0"/>
                  </a:moveTo>
                  <a:lnTo>
                    <a:pt x="2083849" y="0"/>
                  </a:lnTo>
                  <a:cubicBezTo>
                    <a:pt x="2110263" y="0"/>
                    <a:pt x="2131676" y="21413"/>
                    <a:pt x="2131676" y="47827"/>
                  </a:cubicBezTo>
                  <a:lnTo>
                    <a:pt x="2131676" y="796871"/>
                  </a:lnTo>
                  <a:cubicBezTo>
                    <a:pt x="2131676" y="823286"/>
                    <a:pt x="2110263" y="844698"/>
                    <a:pt x="2083849" y="844698"/>
                  </a:cubicBezTo>
                  <a:lnTo>
                    <a:pt x="47827" y="844698"/>
                  </a:lnTo>
                  <a:cubicBezTo>
                    <a:pt x="35142" y="844698"/>
                    <a:pt x="22977" y="839659"/>
                    <a:pt x="14008" y="830690"/>
                  </a:cubicBezTo>
                  <a:cubicBezTo>
                    <a:pt x="5039" y="821721"/>
                    <a:pt x="0" y="809556"/>
                    <a:pt x="0" y="796871"/>
                  </a:cubicBezTo>
                  <a:lnTo>
                    <a:pt x="0" y="47827"/>
                  </a:lnTo>
                  <a:cubicBezTo>
                    <a:pt x="0" y="21413"/>
                    <a:pt x="21413" y="0"/>
                    <a:pt x="47827" y="0"/>
                  </a:cubicBezTo>
                  <a:close/>
                </a:path>
              </a:pathLst>
            </a:custGeom>
            <a:solidFill>
              <a:srgbClr val="000000">
                <a:alpha val="0"/>
              </a:srgbClr>
            </a:solidFill>
            <a:ln w="19050" cap="rnd">
              <a:solidFill>
                <a:srgbClr val="292A2B"/>
              </a:solidFill>
              <a:prstDash val="solid"/>
              <a:round/>
            </a:ln>
          </p:spPr>
        </p:sp>
        <p:sp>
          <p:nvSpPr>
            <p:cNvPr name="TextBox 33" id="33"/>
            <p:cNvSpPr txBox="true"/>
            <p:nvPr/>
          </p:nvSpPr>
          <p:spPr>
            <a:xfrm>
              <a:off x="0" y="-85725"/>
              <a:ext cx="2131676" cy="930423"/>
            </a:xfrm>
            <a:prstGeom prst="rect">
              <a:avLst/>
            </a:prstGeom>
          </p:spPr>
          <p:txBody>
            <a:bodyPr anchor="ctr" rtlCol="false" tIns="0" lIns="0" bIns="0" rIns="0"/>
            <a:lstStyle/>
            <a:p>
              <a:pPr algn="ctr">
                <a:lnSpc>
                  <a:spcPts val="3259"/>
                </a:lnSpc>
              </a:pPr>
              <a:r>
                <a:rPr lang="en-US" sz="1999" b="true">
                  <a:solidFill>
                    <a:srgbClr val="000000"/>
                  </a:solidFill>
                  <a:latin typeface="Canva Sans Bold"/>
                  <a:ea typeface="Canva Sans Bold"/>
                  <a:cs typeface="Canva Sans Bold"/>
                  <a:sym typeface="Canva Sans Bold"/>
                </a:rPr>
                <a:t>LAB02_02_Search</a:t>
              </a:r>
            </a:p>
            <a:p>
              <a:pPr algn="ctr" marL="431799" indent="-215899" lvl="1">
                <a:lnSpc>
                  <a:spcPts val="3259"/>
                </a:lnSpc>
                <a:buAutoNum type="arabicPeriod" startAt="1"/>
              </a:pPr>
              <a:r>
                <a:rPr lang="en-US" b="true" sz="1999">
                  <a:solidFill>
                    <a:srgbClr val="000000"/>
                  </a:solidFill>
                  <a:latin typeface="Canva Sans Bold"/>
                  <a:ea typeface="Canva Sans Bold"/>
                  <a:cs typeface="Canva Sans Bold"/>
                  <a:sym typeface="Canva Sans Bold"/>
                </a:rPr>
                <a:t>Comparisons</a:t>
              </a:r>
            </a:p>
            <a:p>
              <a:pPr algn="ctr" marL="863598" indent="-287866" lvl="2">
                <a:lnSpc>
                  <a:spcPts val="3259"/>
                </a:lnSpc>
                <a:buAutoNum type="alphaLcPeriod" startAt="1"/>
              </a:pPr>
              <a:r>
                <a:rPr lang="en-US" b="true" sz="1999">
                  <a:solidFill>
                    <a:srgbClr val="000000"/>
                  </a:solidFill>
                  <a:latin typeface="Canva Sans Bold"/>
                  <a:ea typeface="Canva Sans Bold"/>
                  <a:cs typeface="Canva Sans Bold"/>
                  <a:sym typeface="Canva Sans Bold"/>
                </a:rPr>
                <a:t>Maze: Compare search behavior (no animation)</a:t>
              </a:r>
            </a:p>
            <a:p>
              <a:pPr algn="ctr" marL="863598" indent="-287866" lvl="2">
                <a:lnSpc>
                  <a:spcPts val="3259"/>
                </a:lnSpc>
                <a:buAutoNum type="alphaLcPeriod" startAt="1"/>
              </a:pPr>
              <a:r>
                <a:rPr lang="en-US" b="true" sz="1999">
                  <a:solidFill>
                    <a:srgbClr val="000000"/>
                  </a:solidFill>
                  <a:latin typeface="Canva Sans Bold"/>
                  <a:ea typeface="Canva Sans Bold"/>
                  <a:cs typeface="Canva Sans Bold"/>
                  <a:sym typeface="Canva Sans Bold"/>
                </a:rPr>
                <a:t>Maze: Compare search behavior with animations</a:t>
              </a:r>
            </a:p>
            <a:p>
              <a:pPr algn="ctr" marL="863598" indent="-287866" lvl="2">
                <a:lnSpc>
                  <a:spcPts val="3259"/>
                </a:lnSpc>
                <a:buAutoNum type="alphaLcPeriod" startAt="1"/>
              </a:pPr>
              <a:r>
                <a:rPr lang="en-US" b="true" sz="1999">
                  <a:solidFill>
                    <a:srgbClr val="000000"/>
                  </a:solidFill>
                  <a:latin typeface="Canva Sans Bold"/>
                  <a:ea typeface="Canva Sans Bold"/>
                  <a:cs typeface="Canva Sans Bold"/>
                  <a:sym typeface="Canva Sans Bold"/>
                </a:rPr>
                <a:t>Mazes: Compare BFS with A-Star Search using the L Maze</a:t>
              </a:r>
            </a:p>
            <a:p>
              <a:pPr algn="ctr" marL="431799" indent="-215899" lvl="1">
                <a:lnSpc>
                  <a:spcPts val="3259"/>
                </a:lnSpc>
                <a:buAutoNum type="arabicPeriod" startAt="1"/>
              </a:pPr>
              <a:r>
                <a:rPr lang="en-US" b="true" sz="1999">
                  <a:solidFill>
                    <a:srgbClr val="000000"/>
                  </a:solidFill>
                  <a:latin typeface="Canva Sans Bold"/>
                  <a:ea typeface="Canva Sans Bold"/>
                  <a:cs typeface="Canva Sans Bold"/>
                  <a:sym typeface="Canva Sans Bold"/>
                </a:rPr>
                <a:t>Solving a maze using a goal-base Agent</a:t>
              </a:r>
            </a:p>
            <a:p>
              <a:pPr algn="ctr" marL="431799" indent="-215899" lvl="1">
                <a:lnSpc>
                  <a:spcPts val="3259"/>
                </a:lnSpc>
                <a:buAutoNum type="arabicPeriod" startAt="1"/>
              </a:pPr>
              <a:r>
                <a:rPr lang="en-US" b="true" sz="1999">
                  <a:solidFill>
                    <a:srgbClr val="000000"/>
                  </a:solidFill>
                  <a:latin typeface="Canva Sans Bold"/>
                  <a:ea typeface="Canva Sans Bold"/>
                  <a:cs typeface="Canva Sans Bold"/>
                  <a:sym typeface="Canva Sans Bold"/>
                </a:rPr>
                <a:t>Maze: The effect of different heuristics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grpSp>
        <p:nvGrpSpPr>
          <p:cNvPr name="Group 2" id="2"/>
          <p:cNvGrpSpPr/>
          <p:nvPr/>
        </p:nvGrpSpPr>
        <p:grpSpPr>
          <a:xfrm rot="0">
            <a:off x="10337491" y="5143500"/>
            <a:ext cx="7551385" cy="4702628"/>
            <a:chOff x="0" y="0"/>
            <a:chExt cx="10068514" cy="6270171"/>
          </a:xfrm>
        </p:grpSpPr>
        <p:pic>
          <p:nvPicPr>
            <p:cNvPr name="Picture 3" id="3"/>
            <p:cNvPicPr>
              <a:picLocks noChangeAspect="true"/>
            </p:cNvPicPr>
            <p:nvPr/>
          </p:nvPicPr>
          <p:blipFill>
            <a:blip r:embed="rId2"/>
            <a:srcRect l="200" t="0" r="200" b="0"/>
            <a:stretch>
              <a:fillRect/>
            </a:stretch>
          </p:blipFill>
          <p:spPr>
            <a:xfrm flipH="false" flipV="false">
              <a:off x="0" y="0"/>
              <a:ext cx="10068514" cy="6270171"/>
            </a:xfrm>
            <a:prstGeom prst="rect">
              <a:avLst/>
            </a:prstGeom>
          </p:spPr>
        </p:pic>
      </p:grpSp>
      <p:graphicFrame>
        <p:nvGraphicFramePr>
          <p:cNvPr name="Object 4" id="4"/>
          <p:cNvGraphicFramePr/>
          <p:nvPr/>
        </p:nvGraphicFramePr>
        <p:xfrm>
          <a:off x="448686" y="2603291"/>
          <a:ext cx="9429750" cy="2514600"/>
        </p:xfrm>
        <a:graphic>
          <a:graphicData uri="http://schemas.openxmlformats.org/presentationml/2006/ole">
            <p:oleObj imgW="11315700" imgH="4394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5" id="5"/>
          <p:cNvSpPr txBox="true"/>
          <p:nvPr/>
        </p:nvSpPr>
        <p:spPr>
          <a:xfrm rot="0">
            <a:off x="1531440" y="243253"/>
            <a:ext cx="7414449" cy="9632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LAB02_01_AGENTS</a:t>
            </a:r>
          </a:p>
        </p:txBody>
      </p:sp>
      <p:sp>
        <p:nvSpPr>
          <p:cNvPr name="TextBox 6" id="6"/>
          <p:cNvSpPr txBox="true"/>
          <p:nvPr/>
        </p:nvSpPr>
        <p:spPr>
          <a:xfrm rot="0">
            <a:off x="2490889" y="1368399"/>
            <a:ext cx="4801009" cy="799943"/>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ROBOT VACUUM</a:t>
            </a:r>
          </a:p>
        </p:txBody>
      </p:sp>
      <p:sp>
        <p:nvSpPr>
          <p:cNvPr name="TextBox 7" id="7"/>
          <p:cNvSpPr txBox="true"/>
          <p:nvPr/>
        </p:nvSpPr>
        <p:spPr>
          <a:xfrm rot="0">
            <a:off x="448686" y="5478908"/>
            <a:ext cx="9208506" cy="4557970"/>
          </a:xfrm>
          <a:prstGeom prst="rect">
            <a:avLst/>
          </a:prstGeom>
        </p:spPr>
        <p:txBody>
          <a:bodyPr anchor="t" rtlCol="false" tIns="0" lIns="0" bIns="0" rIns="0">
            <a:spAutoFit/>
          </a:bodyPr>
          <a:lstStyle/>
          <a:p>
            <a:pPr algn="l" marL="340310" indent="-170155" lvl="1">
              <a:lnSpc>
                <a:spcPts val="2443"/>
              </a:lnSpc>
              <a:buAutoNum type="arabicPeriod" startAt="1"/>
            </a:pPr>
            <a:r>
              <a:rPr lang="en-US" sz="1576">
                <a:solidFill>
                  <a:srgbClr val="000000"/>
                </a:solidFill>
                <a:latin typeface="Helios"/>
                <a:ea typeface="Helios"/>
                <a:cs typeface="Helios"/>
                <a:sym typeface="Helios"/>
              </a:rPr>
              <a:t>Phòng kích thước 5x5:</a:t>
            </a:r>
          </a:p>
          <a:p>
            <a:pPr algn="l" marL="340310" indent="-170155" lvl="1">
              <a:lnSpc>
                <a:spcPts val="2443"/>
              </a:lnSpc>
              <a:buFont typeface="Arial"/>
              <a:buChar char="•"/>
            </a:pPr>
            <a:r>
              <a:rPr lang="en-US" sz="1576">
                <a:solidFill>
                  <a:srgbClr val="000000"/>
                </a:solidFill>
                <a:latin typeface="Helios"/>
                <a:ea typeface="Helios"/>
                <a:cs typeface="Helios"/>
                <a:sym typeface="Helios"/>
              </a:rPr>
              <a:t>M</a:t>
            </a:r>
            <a:r>
              <a:rPr lang="en-US" sz="1576">
                <a:solidFill>
                  <a:srgbClr val="000000"/>
                </a:solidFill>
                <a:latin typeface="Helios"/>
                <a:ea typeface="Helios"/>
                <a:cs typeface="Helios"/>
                <a:sym typeface="Helios"/>
              </a:rPr>
              <a:t>odel-based Reflex Agent có hiệu suất cao nhất (≈ 980), vượt trội so với hai loại còn lại.</a:t>
            </a:r>
          </a:p>
          <a:p>
            <a:pPr algn="l" marL="340310" indent="-170155" lvl="1">
              <a:lnSpc>
                <a:spcPts val="2443"/>
              </a:lnSpc>
              <a:buFont typeface="Arial"/>
              <a:buChar char="•"/>
            </a:pPr>
            <a:r>
              <a:rPr lang="en-US" sz="1576">
                <a:solidFill>
                  <a:srgbClr val="000000"/>
                </a:solidFill>
                <a:latin typeface="Helios"/>
                <a:ea typeface="Helios"/>
                <a:cs typeface="Helios"/>
                <a:sym typeface="Helios"/>
              </a:rPr>
              <a:t>Randomized Agent đạt trung bình khoảng 396, dao động khá lớn (độ lệch chuẩn cao ≈ 211).</a:t>
            </a:r>
          </a:p>
          <a:p>
            <a:pPr algn="l" marL="340310" indent="-170155" lvl="1">
              <a:lnSpc>
                <a:spcPts val="2443"/>
              </a:lnSpc>
              <a:buFont typeface="Arial"/>
              <a:buChar char="•"/>
            </a:pPr>
            <a:r>
              <a:rPr lang="en-US" sz="1576">
                <a:solidFill>
                  <a:srgbClr val="000000"/>
                </a:solidFill>
                <a:latin typeface="Helios"/>
                <a:ea typeface="Helios"/>
                <a:cs typeface="Helios"/>
                <a:sym typeface="Helios"/>
              </a:rPr>
              <a:t>Simple Reflex Agent có hiệu suất thấp nhất (≈ 117), dao động ít hơn Randomized Agent nhưng rõ ràng kém xa.</a:t>
            </a:r>
          </a:p>
          <a:p>
            <a:pPr algn="l">
              <a:lnSpc>
                <a:spcPts val="2443"/>
              </a:lnSpc>
            </a:pPr>
            <a:r>
              <a:rPr lang="en-US" sz="1576">
                <a:solidFill>
                  <a:srgbClr val="000000"/>
                </a:solidFill>
                <a:latin typeface="Helios"/>
                <a:ea typeface="Helios"/>
                <a:cs typeface="Helios"/>
                <a:sym typeface="Helios"/>
              </a:rPr>
              <a:t> 👉 Trong phòng nhỏ, tác tử có mô hình (Model-based) tối ưu rõ rệt.</a:t>
            </a:r>
          </a:p>
          <a:p>
            <a:pPr algn="l">
              <a:lnSpc>
                <a:spcPts val="2443"/>
              </a:lnSpc>
            </a:pPr>
            <a:r>
              <a:rPr lang="en-US" sz="1576">
                <a:solidFill>
                  <a:srgbClr val="000000"/>
                </a:solidFill>
                <a:latin typeface="Helios"/>
                <a:ea typeface="Helios"/>
                <a:cs typeface="Helios"/>
                <a:sym typeface="Helios"/>
              </a:rPr>
              <a:t>  2. </a:t>
            </a:r>
            <a:r>
              <a:rPr lang="en-US" sz="1576">
                <a:solidFill>
                  <a:srgbClr val="000000"/>
                </a:solidFill>
                <a:latin typeface="Helios"/>
                <a:ea typeface="Helios"/>
                <a:cs typeface="Helios"/>
                <a:sym typeface="Helios"/>
              </a:rPr>
              <a:t>Phòng kích thước 10x10:</a:t>
            </a:r>
          </a:p>
          <a:p>
            <a:pPr algn="l" marL="340310" indent="-170155" lvl="1">
              <a:lnSpc>
                <a:spcPts val="2443"/>
              </a:lnSpc>
              <a:buFont typeface="Arial"/>
              <a:buChar char="•"/>
            </a:pPr>
            <a:r>
              <a:rPr lang="en-US" sz="1576">
                <a:solidFill>
                  <a:srgbClr val="000000"/>
                </a:solidFill>
                <a:latin typeface="Helios"/>
                <a:ea typeface="Helios"/>
                <a:cs typeface="Helios"/>
                <a:sym typeface="Helios"/>
              </a:rPr>
              <a:t>Cả Randomized Agent và Model-based Reflex Agent đều đạt hiệu suất tối đa (1000).</a:t>
            </a:r>
          </a:p>
          <a:p>
            <a:pPr algn="l" marL="340310" indent="-170155" lvl="1">
              <a:lnSpc>
                <a:spcPts val="2443"/>
              </a:lnSpc>
              <a:buFont typeface="Arial"/>
              <a:buChar char="•"/>
            </a:pPr>
            <a:r>
              <a:rPr lang="en-US" sz="1576">
                <a:solidFill>
                  <a:srgbClr val="000000"/>
                </a:solidFill>
                <a:latin typeface="Helios"/>
                <a:ea typeface="Helios"/>
                <a:cs typeface="Helios"/>
                <a:sym typeface="Helios"/>
              </a:rPr>
              <a:t>Simple Reflex Agent cải thiện đáng kể so với phòng 5x5, đạt ≈ 794, nhưng vẫn thấp hơn nhiều so với hai loại kia.</a:t>
            </a:r>
          </a:p>
          <a:p>
            <a:pPr algn="l">
              <a:lnSpc>
                <a:spcPts val="2443"/>
              </a:lnSpc>
            </a:pPr>
            <a:r>
              <a:rPr lang="en-US" sz="1576">
                <a:solidFill>
                  <a:srgbClr val="000000"/>
                </a:solidFill>
                <a:latin typeface="Helios"/>
                <a:ea typeface="Helios"/>
                <a:cs typeface="Helios"/>
                <a:sym typeface="Helios"/>
              </a:rPr>
              <a:t> 👉 Trong phòng trung bình, Randomized Agent tình cờ làm việc hiệu quả tương đương với Model-based, nhưng Reflex đơn giản vẫn kém.</a:t>
            </a:r>
          </a:p>
          <a:p>
            <a:pPr algn="l">
              <a:lnSpc>
                <a:spcPts val="2443"/>
              </a:lnSpc>
            </a:pPr>
            <a:r>
              <a:rPr lang="en-US" sz="1576">
                <a:solidFill>
                  <a:srgbClr val="000000"/>
                </a:solidFill>
                <a:latin typeface="Helios"/>
                <a:ea typeface="Helios"/>
                <a:cs typeface="Helios"/>
                <a:sym typeface="Helios"/>
              </a:rPr>
              <a:t>  3. Phòng kích thước 100x100:</a:t>
            </a:r>
          </a:p>
          <a:p>
            <a:pPr algn="l" marL="340310" indent="-170155" lvl="1">
              <a:lnSpc>
                <a:spcPts val="2443"/>
              </a:lnSpc>
              <a:buFont typeface="Arial"/>
              <a:buChar char="•"/>
            </a:pPr>
            <a:r>
              <a:rPr lang="en-US" sz="1576">
                <a:solidFill>
                  <a:srgbClr val="000000"/>
                </a:solidFill>
                <a:latin typeface="Helios"/>
                <a:ea typeface="Helios"/>
                <a:cs typeface="Helios"/>
                <a:sym typeface="Helios"/>
              </a:rPr>
              <a:t>Cả 3 loại tác tử đều đạt hiệu suất tối đa (1000).</a:t>
            </a:r>
          </a:p>
          <a:p>
            <a:pPr algn="l">
              <a:lnSpc>
                <a:spcPts val="2443"/>
              </a:lnSpc>
            </a:pPr>
            <a:r>
              <a:rPr lang="en-US" sz="1576">
                <a:solidFill>
                  <a:srgbClr val="000000"/>
                </a:solidFill>
                <a:latin typeface="Helios"/>
                <a:ea typeface="Helios"/>
                <a:cs typeface="Helios"/>
                <a:sym typeface="Helios"/>
              </a:rPr>
              <a:t> 👉 Trong môi trường lớn, mọi loại tác tử đều có cơ hội hoạt động hiệu quả tối đa.</a:t>
            </a:r>
          </a:p>
        </p:txBody>
      </p:sp>
      <p:sp>
        <p:nvSpPr>
          <p:cNvPr name="TextBox 8" id="8"/>
          <p:cNvSpPr txBox="true"/>
          <p:nvPr/>
        </p:nvSpPr>
        <p:spPr>
          <a:xfrm rot="0">
            <a:off x="10801313" y="1948188"/>
            <a:ext cx="7087563" cy="2999740"/>
          </a:xfrm>
          <a:prstGeom prst="rect">
            <a:avLst/>
          </a:prstGeom>
        </p:spPr>
        <p:txBody>
          <a:bodyPr anchor="t" rtlCol="false" tIns="0" lIns="0" bIns="0" rIns="0">
            <a:spAutoFit/>
          </a:bodyPr>
          <a:lstStyle/>
          <a:p>
            <a:pPr algn="l">
              <a:lnSpc>
                <a:spcPts val="2659"/>
              </a:lnSpc>
            </a:pPr>
            <a:r>
              <a:rPr lang="en-US" sz="1899">
                <a:solidFill>
                  <a:srgbClr val="000000"/>
                </a:solidFill>
                <a:latin typeface="Helios"/>
                <a:ea typeface="Helios"/>
                <a:cs typeface="Helios"/>
                <a:sym typeface="Helios"/>
              </a:rPr>
              <a:t>Xu hướng chung:</a:t>
            </a:r>
          </a:p>
          <a:p>
            <a:pPr algn="l" marL="410209" indent="-205105" lvl="1">
              <a:lnSpc>
                <a:spcPts val="2659"/>
              </a:lnSpc>
              <a:spcBef>
                <a:spcPct val="0"/>
              </a:spcBef>
              <a:buFont typeface="Arial"/>
              <a:buChar char="•"/>
            </a:pPr>
            <a:r>
              <a:rPr lang="en-US" sz="1899">
                <a:solidFill>
                  <a:srgbClr val="000000"/>
                </a:solidFill>
                <a:latin typeface="Helios"/>
                <a:ea typeface="Helios"/>
                <a:cs typeface="Helios"/>
                <a:sym typeface="Helios"/>
              </a:rPr>
              <a:t>M</a:t>
            </a:r>
            <a:r>
              <a:rPr lang="en-US" sz="1899">
                <a:solidFill>
                  <a:srgbClr val="000000"/>
                </a:solidFill>
                <a:latin typeface="Helios"/>
                <a:ea typeface="Helios"/>
                <a:cs typeface="Helios"/>
                <a:sym typeface="Helios"/>
              </a:rPr>
              <a:t>odel-based Reflex Agent luôn ổn định và hiệu suất cao, đặc biệt vượt trội trong môi trường nhỏ.</a:t>
            </a:r>
          </a:p>
          <a:p>
            <a:pPr algn="l" marL="410209" indent="-205105" lvl="1">
              <a:lnSpc>
                <a:spcPts val="2659"/>
              </a:lnSpc>
              <a:spcBef>
                <a:spcPct val="0"/>
              </a:spcBef>
              <a:buFont typeface="Arial"/>
              <a:buChar char="•"/>
            </a:pPr>
            <a:r>
              <a:rPr lang="en-US" sz="1899">
                <a:solidFill>
                  <a:srgbClr val="000000"/>
                </a:solidFill>
                <a:latin typeface="Helios"/>
                <a:ea typeface="Helios"/>
                <a:cs typeface="Helios"/>
                <a:sym typeface="Helios"/>
              </a:rPr>
              <a:t>Randomized Agent không ổn định ở phòng nhỏ (dao động lớn), nhưng khi phòng lớn hơn lại hoạt động tối ưu.</a:t>
            </a:r>
          </a:p>
          <a:p>
            <a:pPr algn="l" marL="410209" indent="-205105" lvl="1">
              <a:lnSpc>
                <a:spcPts val="2659"/>
              </a:lnSpc>
              <a:spcBef>
                <a:spcPct val="0"/>
              </a:spcBef>
              <a:buFont typeface="Arial"/>
              <a:buChar char="•"/>
            </a:pPr>
            <a:r>
              <a:rPr lang="en-US" sz="1899">
                <a:solidFill>
                  <a:srgbClr val="000000"/>
                </a:solidFill>
                <a:latin typeface="Helios"/>
                <a:ea typeface="Helios"/>
                <a:cs typeface="Helios"/>
                <a:sym typeface="Helios"/>
              </a:rPr>
              <a:t>Simple Reflex Agent yếu nhất trong môi trường nhỏ, nhưng cải thiện dần khi phòng lớn, cuối cùng cũng đạt tối đa ở phòng 100x100.</a:t>
            </a:r>
          </a:p>
          <a:p>
            <a:pPr algn="ctr">
              <a:lnSpc>
                <a:spcPts val="265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6825907" y="7539835"/>
            <a:ext cx="2610237" cy="456722"/>
          </a:xfrm>
          <a:prstGeom prst="rect">
            <a:avLst/>
          </a:prstGeom>
        </p:spPr>
        <p:txBody>
          <a:bodyPr anchor="t" rtlCol="false" tIns="0" lIns="0" bIns="0" rIns="0">
            <a:spAutoFit/>
          </a:bodyPr>
          <a:lstStyle/>
          <a:p>
            <a:pPr algn="ctr">
              <a:lnSpc>
                <a:spcPts val="1831"/>
              </a:lnSpc>
            </a:pPr>
            <a:r>
              <a:rPr lang="en-US" sz="1526">
                <a:solidFill>
                  <a:srgbClr val="FFFFFF"/>
                </a:solidFill>
                <a:latin typeface="Helios"/>
                <a:ea typeface="Helios"/>
                <a:cs typeface="Helios"/>
                <a:sym typeface="Helios"/>
              </a:rPr>
              <a:t>Collecting Demographic and Psychographics Data</a:t>
            </a:r>
          </a:p>
        </p:txBody>
      </p:sp>
      <p:sp>
        <p:nvSpPr>
          <p:cNvPr name="TextBox 8" id="8"/>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LAB02_01_AGENTS</a:t>
            </a:r>
          </a:p>
        </p:txBody>
      </p:sp>
      <p:sp>
        <p:nvSpPr>
          <p:cNvPr name="TextBox 9" id="9"/>
          <p:cNvSpPr txBox="true"/>
          <p:nvPr/>
        </p:nvSpPr>
        <p:spPr>
          <a:xfrm rot="0">
            <a:off x="6697970" y="1729245"/>
            <a:ext cx="4651437" cy="799943"/>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LUNAR LANDER</a:t>
            </a:r>
          </a:p>
        </p:txBody>
      </p:sp>
      <p:sp>
        <p:nvSpPr>
          <p:cNvPr name="TextBox 10" id="10"/>
          <p:cNvSpPr txBox="true"/>
          <p:nvPr/>
        </p:nvSpPr>
        <p:spPr>
          <a:xfrm rot="0">
            <a:off x="1381298" y="4274604"/>
            <a:ext cx="6749728" cy="4280846"/>
          </a:xfrm>
          <a:prstGeom prst="rect">
            <a:avLst/>
          </a:prstGeom>
        </p:spPr>
        <p:txBody>
          <a:bodyPr anchor="t" rtlCol="false" tIns="0" lIns="0" bIns="0" rIns="0">
            <a:spAutoFit/>
          </a:bodyPr>
          <a:lstStyle/>
          <a:p>
            <a:pPr algn="l">
              <a:lnSpc>
                <a:spcPts val="3447"/>
              </a:lnSpc>
              <a:spcBef>
                <a:spcPct val="0"/>
              </a:spcBef>
            </a:pPr>
            <a:r>
              <a:rPr lang="en-US" sz="2462">
                <a:solidFill>
                  <a:srgbClr val="000000"/>
                </a:solidFill>
                <a:latin typeface="Helios"/>
                <a:ea typeface="Helios"/>
                <a:cs typeface="Helios"/>
                <a:sym typeface="Helios"/>
              </a:rPr>
              <a:t>observation = [</a:t>
            </a:r>
          </a:p>
          <a:p>
            <a:pPr algn="l">
              <a:lnSpc>
                <a:spcPts val="3447"/>
              </a:lnSpc>
              <a:spcBef>
                <a:spcPct val="0"/>
              </a:spcBef>
            </a:pPr>
            <a:r>
              <a:rPr lang="en-US" sz="2462">
                <a:solidFill>
                  <a:srgbClr val="000000"/>
                </a:solidFill>
                <a:latin typeface="Helios"/>
                <a:ea typeface="Helios"/>
                <a:cs typeface="Helios"/>
                <a:sym typeface="Helios"/>
              </a:rPr>
              <a:t>  x,                                   # vị trí ngang</a:t>
            </a:r>
          </a:p>
          <a:p>
            <a:pPr algn="l">
              <a:lnSpc>
                <a:spcPts val="3447"/>
              </a:lnSpc>
              <a:spcBef>
                <a:spcPct val="0"/>
              </a:spcBef>
            </a:pPr>
            <a:r>
              <a:rPr lang="en-US" sz="2462">
                <a:solidFill>
                  <a:srgbClr val="000000"/>
                </a:solidFill>
                <a:latin typeface="Helios"/>
                <a:ea typeface="Helios"/>
                <a:cs typeface="Helios"/>
                <a:sym typeface="Helios"/>
              </a:rPr>
              <a:t>  y,                                   # vị trí dọc</a:t>
            </a:r>
          </a:p>
          <a:p>
            <a:pPr algn="l">
              <a:lnSpc>
                <a:spcPts val="3447"/>
              </a:lnSpc>
              <a:spcBef>
                <a:spcPct val="0"/>
              </a:spcBef>
            </a:pPr>
            <a:r>
              <a:rPr lang="en-US" sz="2462">
                <a:solidFill>
                  <a:srgbClr val="000000"/>
                </a:solidFill>
                <a:latin typeface="Helios"/>
                <a:ea typeface="Helios"/>
                <a:cs typeface="Helios"/>
                <a:sym typeface="Helios"/>
              </a:rPr>
              <a:t>  vx,                                # vận tốc ngang</a:t>
            </a:r>
          </a:p>
          <a:p>
            <a:pPr algn="l">
              <a:lnSpc>
                <a:spcPts val="3447"/>
              </a:lnSpc>
              <a:spcBef>
                <a:spcPct val="0"/>
              </a:spcBef>
            </a:pPr>
            <a:r>
              <a:rPr lang="en-US" sz="2462">
                <a:solidFill>
                  <a:srgbClr val="000000"/>
                </a:solidFill>
                <a:latin typeface="Helios"/>
                <a:ea typeface="Helios"/>
                <a:cs typeface="Helios"/>
                <a:sym typeface="Helios"/>
              </a:rPr>
              <a:t>  vy,                                # vận tốc dọc</a:t>
            </a:r>
          </a:p>
          <a:p>
            <a:pPr algn="l">
              <a:lnSpc>
                <a:spcPts val="3447"/>
              </a:lnSpc>
              <a:spcBef>
                <a:spcPct val="0"/>
              </a:spcBef>
            </a:pPr>
            <a:r>
              <a:rPr lang="en-US" sz="2462">
                <a:solidFill>
                  <a:srgbClr val="000000"/>
                </a:solidFill>
                <a:latin typeface="Helios"/>
                <a:ea typeface="Helios"/>
                <a:cs typeface="Helios"/>
                <a:sym typeface="Helios"/>
              </a:rPr>
              <a:t>  angle,                          # góc nghiêng</a:t>
            </a:r>
          </a:p>
          <a:p>
            <a:pPr algn="l">
              <a:lnSpc>
                <a:spcPts val="3447"/>
              </a:lnSpc>
              <a:spcBef>
                <a:spcPct val="0"/>
              </a:spcBef>
            </a:pPr>
            <a:r>
              <a:rPr lang="en-US" sz="2462">
                <a:solidFill>
                  <a:srgbClr val="000000"/>
                </a:solidFill>
                <a:latin typeface="Helios"/>
                <a:ea typeface="Helios"/>
                <a:cs typeface="Helios"/>
                <a:sym typeface="Helios"/>
              </a:rPr>
              <a:t>  angular_velocity,     # vận tốc quay</a:t>
            </a:r>
          </a:p>
          <a:p>
            <a:pPr algn="l">
              <a:lnSpc>
                <a:spcPts val="3447"/>
              </a:lnSpc>
              <a:spcBef>
                <a:spcPct val="0"/>
              </a:spcBef>
            </a:pPr>
            <a:r>
              <a:rPr lang="en-US" sz="2462">
                <a:solidFill>
                  <a:srgbClr val="000000"/>
                </a:solidFill>
                <a:latin typeface="Helios"/>
                <a:ea typeface="Helios"/>
                <a:cs typeface="Helios"/>
                <a:sym typeface="Helios"/>
              </a:rPr>
              <a:t>  left_leg_contact,     # 1 nếu chân trái chạm đất</a:t>
            </a:r>
          </a:p>
          <a:p>
            <a:pPr algn="l">
              <a:lnSpc>
                <a:spcPts val="3447"/>
              </a:lnSpc>
              <a:spcBef>
                <a:spcPct val="0"/>
              </a:spcBef>
            </a:pPr>
            <a:r>
              <a:rPr lang="en-US" sz="2462">
                <a:solidFill>
                  <a:srgbClr val="000000"/>
                </a:solidFill>
                <a:latin typeface="Helios"/>
                <a:ea typeface="Helios"/>
                <a:cs typeface="Helios"/>
                <a:sym typeface="Helios"/>
              </a:rPr>
              <a:t>  right_leg_contact   # 1 nếu chân phải chạm đất</a:t>
            </a:r>
          </a:p>
          <a:p>
            <a:pPr algn="l">
              <a:lnSpc>
                <a:spcPts val="3447"/>
              </a:lnSpc>
              <a:spcBef>
                <a:spcPct val="0"/>
              </a:spcBef>
            </a:pPr>
            <a:r>
              <a:rPr lang="en-US" sz="2462">
                <a:solidFill>
                  <a:srgbClr val="000000"/>
                </a:solidFill>
                <a:latin typeface="Helios"/>
                <a:ea typeface="Helios"/>
                <a:cs typeface="Helios"/>
                <a:sym typeface="Helios"/>
              </a:rPr>
              <a:t>]</a:t>
            </a:r>
          </a:p>
        </p:txBody>
      </p:sp>
      <p:sp>
        <p:nvSpPr>
          <p:cNvPr name="TextBox 11" id="11"/>
          <p:cNvSpPr txBox="true"/>
          <p:nvPr/>
        </p:nvSpPr>
        <p:spPr>
          <a:xfrm rot="0">
            <a:off x="898033" y="2872275"/>
            <a:ext cx="7710666" cy="497878"/>
          </a:xfrm>
          <a:prstGeom prst="rect">
            <a:avLst/>
          </a:prstGeom>
        </p:spPr>
        <p:txBody>
          <a:bodyPr anchor="t" rtlCol="false" tIns="0" lIns="0" bIns="0" rIns="0">
            <a:spAutoFit/>
          </a:bodyPr>
          <a:lstStyle/>
          <a:p>
            <a:pPr algn="ctr">
              <a:lnSpc>
                <a:spcPts val="4059"/>
              </a:lnSpc>
              <a:spcBef>
                <a:spcPct val="0"/>
              </a:spcBef>
            </a:pPr>
            <a:r>
              <a:rPr lang="en-US" sz="2899">
                <a:solidFill>
                  <a:srgbClr val="000000"/>
                </a:solidFill>
                <a:latin typeface="Helios"/>
                <a:ea typeface="Helios"/>
                <a:cs typeface="Helios"/>
                <a:sym typeface="Helios"/>
              </a:rPr>
              <a:t>Dữ liệu của tàu khi đang ở vị trí nào đó</a:t>
            </a:r>
          </a:p>
        </p:txBody>
      </p:sp>
      <p:sp>
        <p:nvSpPr>
          <p:cNvPr name="AutoShape 12" id="12"/>
          <p:cNvSpPr/>
          <p:nvPr/>
        </p:nvSpPr>
        <p:spPr>
          <a:xfrm flipH="true">
            <a:off x="9144000" y="2529188"/>
            <a:ext cx="0" cy="6512478"/>
          </a:xfrm>
          <a:prstGeom prst="line">
            <a:avLst/>
          </a:prstGeom>
          <a:ln cap="flat" w="38100">
            <a:solidFill>
              <a:srgbClr val="000000"/>
            </a:solidFill>
            <a:prstDash val="solid"/>
            <a:headEnd type="none" len="sm" w="sm"/>
            <a:tailEnd type="none" len="sm" w="sm"/>
          </a:ln>
        </p:spPr>
      </p:sp>
      <p:sp>
        <p:nvSpPr>
          <p:cNvPr name="TextBox 13" id="13"/>
          <p:cNvSpPr txBox="true"/>
          <p:nvPr/>
        </p:nvSpPr>
        <p:spPr>
          <a:xfrm rot="0">
            <a:off x="11750146" y="3830428"/>
            <a:ext cx="3565174" cy="5211238"/>
          </a:xfrm>
          <a:prstGeom prst="rect">
            <a:avLst/>
          </a:prstGeom>
        </p:spPr>
        <p:txBody>
          <a:bodyPr anchor="t" rtlCol="false" tIns="0" lIns="0" bIns="0" rIns="0">
            <a:spAutoFit/>
          </a:bodyPr>
          <a:lstStyle/>
          <a:p>
            <a:pPr algn="l">
              <a:lnSpc>
                <a:spcPts val="2773"/>
              </a:lnSpc>
              <a:spcBef>
                <a:spcPct val="0"/>
              </a:spcBef>
            </a:pPr>
            <a:r>
              <a:rPr lang="en-US" sz="1981">
                <a:solidFill>
                  <a:srgbClr val="000000"/>
                </a:solidFill>
                <a:latin typeface="Helios"/>
                <a:ea typeface="Helios"/>
                <a:cs typeface="Helios"/>
                <a:sym typeface="Helios"/>
              </a:rPr>
              <a:t>class Act(Enum):</a:t>
            </a:r>
          </a:p>
          <a:p>
            <a:pPr algn="l">
              <a:lnSpc>
                <a:spcPts val="2773"/>
              </a:lnSpc>
              <a:spcBef>
                <a:spcPct val="0"/>
              </a:spcBef>
            </a:pPr>
            <a:r>
              <a:rPr lang="en-US" sz="1981">
                <a:solidFill>
                  <a:srgbClr val="000000"/>
                </a:solidFill>
                <a:latin typeface="Helios"/>
                <a:ea typeface="Helios"/>
                <a:cs typeface="Helios"/>
                <a:sym typeface="Helios"/>
              </a:rPr>
              <a:t>    LEFT = 1</a:t>
            </a:r>
          </a:p>
          <a:p>
            <a:pPr algn="l">
              <a:lnSpc>
                <a:spcPts val="2773"/>
              </a:lnSpc>
              <a:spcBef>
                <a:spcPct val="0"/>
              </a:spcBef>
            </a:pPr>
            <a:r>
              <a:rPr lang="en-US" sz="1981">
                <a:solidFill>
                  <a:srgbClr val="000000"/>
                </a:solidFill>
                <a:latin typeface="Helios"/>
                <a:ea typeface="Helios"/>
                <a:cs typeface="Helios"/>
                <a:sym typeface="Helios"/>
              </a:rPr>
              <a:t>    RIGHT = 3</a:t>
            </a:r>
          </a:p>
          <a:p>
            <a:pPr algn="l">
              <a:lnSpc>
                <a:spcPts val="2773"/>
              </a:lnSpc>
              <a:spcBef>
                <a:spcPct val="0"/>
              </a:spcBef>
            </a:pPr>
            <a:r>
              <a:rPr lang="en-US" sz="1981">
                <a:solidFill>
                  <a:srgbClr val="000000"/>
                </a:solidFill>
                <a:latin typeface="Helios"/>
                <a:ea typeface="Helios"/>
                <a:cs typeface="Helios"/>
                <a:sym typeface="Helios"/>
              </a:rPr>
              <a:t>    MAIN = 2</a:t>
            </a:r>
          </a:p>
          <a:p>
            <a:pPr algn="l">
              <a:lnSpc>
                <a:spcPts val="2773"/>
              </a:lnSpc>
              <a:spcBef>
                <a:spcPct val="0"/>
              </a:spcBef>
            </a:pPr>
            <a:r>
              <a:rPr lang="en-US" sz="1981">
                <a:solidFill>
                  <a:srgbClr val="000000"/>
                </a:solidFill>
                <a:latin typeface="Helios"/>
                <a:ea typeface="Helios"/>
                <a:cs typeface="Helios"/>
                <a:sym typeface="Helios"/>
              </a:rPr>
              <a:t>    NO_OP = 0</a:t>
            </a:r>
          </a:p>
          <a:p>
            <a:pPr algn="l">
              <a:lnSpc>
                <a:spcPts val="2773"/>
              </a:lnSpc>
              <a:spcBef>
                <a:spcPct val="0"/>
              </a:spcBef>
            </a:pPr>
          </a:p>
          <a:p>
            <a:pPr algn="l">
              <a:lnSpc>
                <a:spcPts val="2773"/>
              </a:lnSpc>
              <a:spcBef>
                <a:spcPct val="0"/>
              </a:spcBef>
            </a:pPr>
            <a:r>
              <a:rPr lang="en-US" sz="1981">
                <a:solidFill>
                  <a:srgbClr val="000000"/>
                </a:solidFill>
                <a:latin typeface="Helios"/>
                <a:ea typeface="Helios"/>
                <a:cs typeface="Helios"/>
                <a:sym typeface="Helios"/>
              </a:rPr>
              <a:t>class Obs(Enum):</a:t>
            </a:r>
          </a:p>
          <a:p>
            <a:pPr algn="l">
              <a:lnSpc>
                <a:spcPts val="2773"/>
              </a:lnSpc>
              <a:spcBef>
                <a:spcPct val="0"/>
              </a:spcBef>
            </a:pPr>
            <a:r>
              <a:rPr lang="en-US" sz="1981">
                <a:solidFill>
                  <a:srgbClr val="000000"/>
                </a:solidFill>
                <a:latin typeface="Helios"/>
                <a:ea typeface="Helios"/>
                <a:cs typeface="Helios"/>
                <a:sym typeface="Helios"/>
              </a:rPr>
              <a:t>    X = 0</a:t>
            </a:r>
          </a:p>
          <a:p>
            <a:pPr algn="l">
              <a:lnSpc>
                <a:spcPts val="2773"/>
              </a:lnSpc>
              <a:spcBef>
                <a:spcPct val="0"/>
              </a:spcBef>
            </a:pPr>
            <a:r>
              <a:rPr lang="en-US" sz="1981">
                <a:solidFill>
                  <a:srgbClr val="000000"/>
                </a:solidFill>
                <a:latin typeface="Helios"/>
                <a:ea typeface="Helios"/>
                <a:cs typeface="Helios"/>
                <a:sym typeface="Helios"/>
              </a:rPr>
              <a:t>    Y = 1</a:t>
            </a:r>
          </a:p>
          <a:p>
            <a:pPr algn="l">
              <a:lnSpc>
                <a:spcPts val="2773"/>
              </a:lnSpc>
              <a:spcBef>
                <a:spcPct val="0"/>
              </a:spcBef>
            </a:pPr>
            <a:r>
              <a:rPr lang="en-US" sz="1981">
                <a:solidFill>
                  <a:srgbClr val="000000"/>
                </a:solidFill>
                <a:latin typeface="Helios"/>
                <a:ea typeface="Helios"/>
                <a:cs typeface="Helios"/>
                <a:sym typeface="Helios"/>
              </a:rPr>
              <a:t>    VX = 2</a:t>
            </a:r>
          </a:p>
          <a:p>
            <a:pPr algn="l">
              <a:lnSpc>
                <a:spcPts val="2773"/>
              </a:lnSpc>
              <a:spcBef>
                <a:spcPct val="0"/>
              </a:spcBef>
            </a:pPr>
            <a:r>
              <a:rPr lang="en-US" sz="1981">
                <a:solidFill>
                  <a:srgbClr val="000000"/>
                </a:solidFill>
                <a:latin typeface="Helios"/>
                <a:ea typeface="Helios"/>
                <a:cs typeface="Helios"/>
                <a:sym typeface="Helios"/>
              </a:rPr>
              <a:t>    VY = 3</a:t>
            </a:r>
          </a:p>
          <a:p>
            <a:pPr algn="l">
              <a:lnSpc>
                <a:spcPts val="2773"/>
              </a:lnSpc>
              <a:spcBef>
                <a:spcPct val="0"/>
              </a:spcBef>
            </a:pPr>
            <a:r>
              <a:rPr lang="en-US" sz="1981">
                <a:solidFill>
                  <a:srgbClr val="000000"/>
                </a:solidFill>
                <a:latin typeface="Helios"/>
                <a:ea typeface="Helios"/>
                <a:cs typeface="Helios"/>
                <a:sym typeface="Helios"/>
              </a:rPr>
              <a:t>    ANGLE = 4</a:t>
            </a:r>
          </a:p>
          <a:p>
            <a:pPr algn="l">
              <a:lnSpc>
                <a:spcPts val="2773"/>
              </a:lnSpc>
              <a:spcBef>
                <a:spcPct val="0"/>
              </a:spcBef>
            </a:pPr>
            <a:r>
              <a:rPr lang="en-US" sz="1981">
                <a:solidFill>
                  <a:srgbClr val="000000"/>
                </a:solidFill>
                <a:latin typeface="Helios"/>
                <a:ea typeface="Helios"/>
                <a:cs typeface="Helios"/>
                <a:sym typeface="Helios"/>
              </a:rPr>
              <a:t>    ANGULAR_VELOCITY = 5</a:t>
            </a:r>
          </a:p>
          <a:p>
            <a:pPr algn="l">
              <a:lnSpc>
                <a:spcPts val="2773"/>
              </a:lnSpc>
              <a:spcBef>
                <a:spcPct val="0"/>
              </a:spcBef>
            </a:pPr>
            <a:r>
              <a:rPr lang="en-US" sz="1981">
                <a:solidFill>
                  <a:srgbClr val="000000"/>
                </a:solidFill>
                <a:latin typeface="Helios"/>
                <a:ea typeface="Helios"/>
                <a:cs typeface="Helios"/>
                <a:sym typeface="Helios"/>
              </a:rPr>
              <a:t>    LEFT_LEG_CONTACT = 6</a:t>
            </a:r>
          </a:p>
          <a:p>
            <a:pPr algn="l">
              <a:lnSpc>
                <a:spcPts val="2773"/>
              </a:lnSpc>
              <a:spcBef>
                <a:spcPct val="0"/>
              </a:spcBef>
            </a:pPr>
            <a:r>
              <a:rPr lang="en-US" sz="1981">
                <a:solidFill>
                  <a:srgbClr val="000000"/>
                </a:solidFill>
                <a:latin typeface="Helios"/>
                <a:ea typeface="Helios"/>
                <a:cs typeface="Helios"/>
                <a:sym typeface="Helios"/>
              </a:rPr>
              <a:t>    RIGHT_LEG_CONTACT = 7</a:t>
            </a:r>
          </a:p>
        </p:txBody>
      </p:sp>
      <p:sp>
        <p:nvSpPr>
          <p:cNvPr name="TextBox 14" id="14"/>
          <p:cNvSpPr txBox="true"/>
          <p:nvPr/>
        </p:nvSpPr>
        <p:spPr>
          <a:xfrm rot="0">
            <a:off x="9677400" y="2693104"/>
            <a:ext cx="7710666" cy="1012265"/>
          </a:xfrm>
          <a:prstGeom prst="rect">
            <a:avLst/>
          </a:prstGeom>
        </p:spPr>
        <p:txBody>
          <a:bodyPr anchor="t" rtlCol="false" tIns="0" lIns="0" bIns="0" rIns="0">
            <a:spAutoFit/>
          </a:bodyPr>
          <a:lstStyle/>
          <a:p>
            <a:pPr algn="ctr">
              <a:lnSpc>
                <a:spcPts val="4059"/>
              </a:lnSpc>
              <a:spcBef>
                <a:spcPct val="0"/>
              </a:spcBef>
            </a:pPr>
            <a:r>
              <a:rPr lang="en-US" sz="2899">
                <a:solidFill>
                  <a:srgbClr val="000000"/>
                </a:solidFill>
                <a:latin typeface="Helios"/>
                <a:ea typeface="Helios"/>
                <a:cs typeface="Helios"/>
                <a:sym typeface="Helios"/>
              </a:rPr>
              <a:t>Để code dễ hơn thì ánh xạ các giá trị qua các vector index</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6825907" y="7539835"/>
            <a:ext cx="2610237" cy="456722"/>
          </a:xfrm>
          <a:prstGeom prst="rect">
            <a:avLst/>
          </a:prstGeom>
        </p:spPr>
        <p:txBody>
          <a:bodyPr anchor="t" rtlCol="false" tIns="0" lIns="0" bIns="0" rIns="0">
            <a:spAutoFit/>
          </a:bodyPr>
          <a:lstStyle/>
          <a:p>
            <a:pPr algn="ctr">
              <a:lnSpc>
                <a:spcPts val="1831"/>
              </a:lnSpc>
            </a:pPr>
            <a:r>
              <a:rPr lang="en-US" sz="1526">
                <a:solidFill>
                  <a:srgbClr val="FFFFFF"/>
                </a:solidFill>
                <a:latin typeface="Helios"/>
                <a:ea typeface="Helios"/>
                <a:cs typeface="Helios"/>
                <a:sym typeface="Helios"/>
              </a:rPr>
              <a:t>Collecting Demographic and Psychographics Data</a:t>
            </a:r>
          </a:p>
        </p:txBody>
      </p:sp>
      <p:sp>
        <p:nvSpPr>
          <p:cNvPr name="TextBox 8" id="8"/>
          <p:cNvSpPr txBox="true"/>
          <p:nvPr/>
        </p:nvSpPr>
        <p:spPr>
          <a:xfrm rot="0">
            <a:off x="2471887" y="1905902"/>
            <a:ext cx="1267551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Different Search Strategies: Maze</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0" y="3203896"/>
            <a:ext cx="6120283" cy="85661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vetica World Bold"/>
                <a:ea typeface="Helvetica World Bold"/>
                <a:cs typeface="Helvetica World Bold"/>
                <a:sym typeface="Helvetica World Bold"/>
              </a:rPr>
              <a:t>Giới thiệu bài toán</a:t>
            </a:r>
          </a:p>
        </p:txBody>
      </p:sp>
      <p:sp>
        <p:nvSpPr>
          <p:cNvPr name="TextBox 11" id="11"/>
          <p:cNvSpPr txBox="true"/>
          <p:nvPr/>
        </p:nvSpPr>
        <p:spPr>
          <a:xfrm rot="0">
            <a:off x="489941" y="4442516"/>
            <a:ext cx="17061503" cy="3185160"/>
          </a:xfrm>
          <a:prstGeom prst="rect">
            <a:avLst/>
          </a:prstGeom>
        </p:spPr>
        <p:txBody>
          <a:bodyPr anchor="t" rtlCol="false" tIns="0" lIns="0" bIns="0" rIns="0">
            <a:spAutoFit/>
          </a:bodyPr>
          <a:lstStyle/>
          <a:p>
            <a:pPr algn="just">
              <a:lnSpc>
                <a:spcPts val="5040"/>
              </a:lnSpc>
            </a:pPr>
            <a:r>
              <a:rPr lang="en-US" sz="3600">
                <a:solidFill>
                  <a:srgbClr val="000000"/>
                </a:solidFill>
                <a:latin typeface="Helios"/>
                <a:ea typeface="Helios"/>
                <a:cs typeface="Helios"/>
                <a:sym typeface="Helios"/>
              </a:rPr>
              <a:t> Bài toán tìm đường trong mê cung</a:t>
            </a:r>
          </a:p>
          <a:p>
            <a:pPr algn="just">
              <a:lnSpc>
                <a:spcPts val="5040"/>
              </a:lnSpc>
            </a:pPr>
            <a:r>
              <a:rPr lang="en-US" sz="3600">
                <a:solidFill>
                  <a:srgbClr val="000000"/>
                </a:solidFill>
                <a:latin typeface="Helios"/>
                <a:ea typeface="Helios"/>
                <a:cs typeface="Helios"/>
                <a:sym typeface="Helios"/>
              </a:rPr>
              <a:t>Việc giải bài toán có thể được thực hiện bằng nhiều chiến lược tìm kiếm khác nhau.  Mỗi thuật toán có ưu - nhược điểm riêng về thời gian chạy, bộ nhớ sử dụng và khả năng tìm ra lời giải tối ưu</a:t>
            </a:r>
          </a:p>
          <a:p>
            <a:pPr algn="just">
              <a:lnSpc>
                <a:spcPts val="504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6825907" y="7539835"/>
            <a:ext cx="2610237" cy="456722"/>
          </a:xfrm>
          <a:prstGeom prst="rect">
            <a:avLst/>
          </a:prstGeom>
        </p:spPr>
        <p:txBody>
          <a:bodyPr anchor="t" rtlCol="false" tIns="0" lIns="0" bIns="0" rIns="0">
            <a:spAutoFit/>
          </a:bodyPr>
          <a:lstStyle/>
          <a:p>
            <a:pPr algn="ctr">
              <a:lnSpc>
                <a:spcPts val="1831"/>
              </a:lnSpc>
            </a:pPr>
            <a:r>
              <a:rPr lang="en-US" sz="1526">
                <a:solidFill>
                  <a:srgbClr val="FFFFFF"/>
                </a:solidFill>
                <a:latin typeface="Helios"/>
                <a:ea typeface="Helios"/>
                <a:cs typeface="Helios"/>
                <a:sym typeface="Helios"/>
              </a:rPr>
              <a:t>Collecting Demographic and Psychographics Data</a:t>
            </a:r>
          </a:p>
        </p:txBody>
      </p:sp>
      <p:sp>
        <p:nvSpPr>
          <p:cNvPr name="TextBox 8" id="8"/>
          <p:cNvSpPr txBox="true"/>
          <p:nvPr/>
        </p:nvSpPr>
        <p:spPr>
          <a:xfrm rot="0">
            <a:off x="2471887" y="1905902"/>
            <a:ext cx="1267551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Different Search Strategies: Maze</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0" y="3203896"/>
            <a:ext cx="7293691" cy="85661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vetica World Bold"/>
                <a:ea typeface="Helvetica World Bold"/>
                <a:cs typeface="Helvetica World Bold"/>
                <a:sym typeface="Helvetica World Bold"/>
              </a:rPr>
              <a:t>Các chiến lược tìm kiếm</a:t>
            </a:r>
          </a:p>
        </p:txBody>
      </p:sp>
      <p:sp>
        <p:nvSpPr>
          <p:cNvPr name="TextBox 11" id="11"/>
          <p:cNvSpPr txBox="true"/>
          <p:nvPr/>
        </p:nvSpPr>
        <p:spPr>
          <a:xfrm rot="0">
            <a:off x="489941" y="4442516"/>
            <a:ext cx="17061503" cy="4461510"/>
          </a:xfrm>
          <a:prstGeom prst="rect">
            <a:avLst/>
          </a:prstGeom>
        </p:spPr>
        <p:txBody>
          <a:bodyPr anchor="t" rtlCol="false" tIns="0" lIns="0" bIns="0" rIns="0">
            <a:spAutoFit/>
          </a:bodyPr>
          <a:lstStyle/>
          <a:p>
            <a:pPr algn="just" marL="777240" indent="-388620" lvl="1">
              <a:lnSpc>
                <a:spcPts val="5040"/>
              </a:lnSpc>
              <a:buFont typeface="Arial"/>
              <a:buChar char="•"/>
            </a:pPr>
            <a:r>
              <a:rPr lang="en-US" sz="3600">
                <a:solidFill>
                  <a:srgbClr val="000000"/>
                </a:solidFill>
                <a:latin typeface="Helios"/>
                <a:ea typeface="Helios"/>
                <a:cs typeface="Helios"/>
                <a:sym typeface="Helios"/>
              </a:rPr>
              <a:t> BFS (Breadth - First Search) - Tìm kiếm theo chiều rộng</a:t>
            </a:r>
          </a:p>
          <a:p>
            <a:pPr algn="just" marL="777240" indent="-388620" lvl="1">
              <a:lnSpc>
                <a:spcPts val="5040"/>
              </a:lnSpc>
              <a:buFont typeface="Arial"/>
              <a:buChar char="•"/>
            </a:pPr>
            <a:r>
              <a:rPr lang="en-US" sz="3600">
                <a:solidFill>
                  <a:srgbClr val="000000"/>
                </a:solidFill>
                <a:latin typeface="Helios"/>
                <a:ea typeface="Helios"/>
                <a:cs typeface="Helios"/>
                <a:sym typeface="Helios"/>
              </a:rPr>
              <a:t>DFS (Depth - First Search) - Tìm kiếm theo chiều sâu</a:t>
            </a:r>
          </a:p>
          <a:p>
            <a:pPr algn="just" marL="777240" indent="-388620" lvl="1">
              <a:lnSpc>
                <a:spcPts val="5040"/>
              </a:lnSpc>
              <a:buFont typeface="Arial"/>
              <a:buChar char="•"/>
            </a:pPr>
            <a:r>
              <a:rPr lang="en-US" sz="3600">
                <a:solidFill>
                  <a:srgbClr val="000000"/>
                </a:solidFill>
                <a:latin typeface="Helios"/>
                <a:ea typeface="Helios"/>
                <a:cs typeface="Helios"/>
                <a:sym typeface="Helios"/>
              </a:rPr>
              <a:t>GBFS (Greedy Best - First Search) - Tìm kiếm tham lam</a:t>
            </a:r>
          </a:p>
          <a:p>
            <a:pPr algn="just" marL="777240" indent="-388620" lvl="1">
              <a:lnSpc>
                <a:spcPts val="5040"/>
              </a:lnSpc>
              <a:buFont typeface="Arial"/>
              <a:buChar char="•"/>
            </a:pPr>
            <a:r>
              <a:rPr lang="en-US" sz="3600">
                <a:solidFill>
                  <a:srgbClr val="000000"/>
                </a:solidFill>
                <a:latin typeface="Helios"/>
                <a:ea typeface="Helios"/>
                <a:cs typeface="Helios"/>
                <a:sym typeface="Helios"/>
              </a:rPr>
              <a:t>A* - Phiên bản có trọng số của A*</a:t>
            </a:r>
          </a:p>
          <a:p>
            <a:pPr algn="just" marL="777240" indent="-388620" lvl="1">
              <a:lnSpc>
                <a:spcPts val="5040"/>
              </a:lnSpc>
              <a:buFont typeface="Arial"/>
              <a:buChar char="•"/>
            </a:pPr>
            <a:r>
              <a:rPr lang="en-US" sz="3600">
                <a:solidFill>
                  <a:srgbClr val="000000"/>
                </a:solidFill>
                <a:latin typeface="Helios"/>
                <a:ea typeface="Helios"/>
                <a:cs typeface="Helios"/>
                <a:sym typeface="Helios"/>
              </a:rPr>
              <a:t>Weighted A* - Phiên bản có trọng số của A*</a:t>
            </a:r>
          </a:p>
          <a:p>
            <a:pPr algn="just" marL="777240" indent="-388620" lvl="1">
              <a:lnSpc>
                <a:spcPts val="5040"/>
              </a:lnSpc>
              <a:buFont typeface="Arial"/>
              <a:buChar char="•"/>
            </a:pPr>
            <a:r>
              <a:rPr lang="en-US" sz="3600">
                <a:solidFill>
                  <a:srgbClr val="000000"/>
                </a:solidFill>
                <a:latin typeface="Helios"/>
                <a:ea typeface="Helios"/>
                <a:cs typeface="Helios"/>
                <a:sym typeface="Helios"/>
              </a:rPr>
              <a:t>IDS (Iterative Deepening Search) - Tìm kiếm sâu dần</a:t>
            </a:r>
          </a:p>
          <a:p>
            <a:pPr algn="just">
              <a:lnSpc>
                <a:spcPts val="5040"/>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2706925" y="4259076"/>
            <a:ext cx="2987628" cy="5332755"/>
          </a:xfrm>
          <a:custGeom>
            <a:avLst/>
            <a:gdLst/>
            <a:ahLst/>
            <a:cxnLst/>
            <a:rect r="r" b="b" t="t" l="l"/>
            <a:pathLst>
              <a:path h="5332755" w="2987628">
                <a:moveTo>
                  <a:pt x="0" y="0"/>
                </a:moveTo>
                <a:lnTo>
                  <a:pt x="2987628" y="0"/>
                </a:lnTo>
                <a:lnTo>
                  <a:pt x="2987628" y="5332756"/>
                </a:lnTo>
                <a:lnTo>
                  <a:pt x="0" y="5332756"/>
                </a:lnTo>
                <a:lnTo>
                  <a:pt x="0" y="0"/>
                </a:lnTo>
                <a:close/>
              </a:path>
            </a:pathLst>
          </a:custGeom>
          <a:blipFill>
            <a:blip r:embed="rId12"/>
            <a:stretch>
              <a:fillRect l="0" t="0" r="0" b="0"/>
            </a:stretch>
          </a:blipFill>
        </p:spPr>
      </p:sp>
      <p:sp>
        <p:nvSpPr>
          <p:cNvPr name="TextBox 8" id="8"/>
          <p:cNvSpPr txBox="true"/>
          <p:nvPr/>
        </p:nvSpPr>
        <p:spPr>
          <a:xfrm rot="0">
            <a:off x="6825907" y="7539835"/>
            <a:ext cx="2610237" cy="456722"/>
          </a:xfrm>
          <a:prstGeom prst="rect">
            <a:avLst/>
          </a:prstGeom>
        </p:spPr>
        <p:txBody>
          <a:bodyPr anchor="t" rtlCol="false" tIns="0" lIns="0" bIns="0" rIns="0">
            <a:spAutoFit/>
          </a:bodyPr>
          <a:lstStyle/>
          <a:p>
            <a:pPr algn="ctr">
              <a:lnSpc>
                <a:spcPts val="1831"/>
              </a:lnSpc>
            </a:pPr>
            <a:r>
              <a:rPr lang="en-US" sz="1526">
                <a:solidFill>
                  <a:srgbClr val="FFFFFF"/>
                </a:solidFill>
                <a:latin typeface="Helios"/>
                <a:ea typeface="Helios"/>
                <a:cs typeface="Helios"/>
                <a:sym typeface="Helios"/>
              </a:rPr>
              <a:t>Collecting Demographic and Psychographics Data</a:t>
            </a:r>
          </a:p>
        </p:txBody>
      </p:sp>
      <p:sp>
        <p:nvSpPr>
          <p:cNvPr name="TextBox 9" id="9"/>
          <p:cNvSpPr txBox="true"/>
          <p:nvPr/>
        </p:nvSpPr>
        <p:spPr>
          <a:xfrm rot="0">
            <a:off x="2471887" y="1905902"/>
            <a:ext cx="1267551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Different Search Strategies: Maze</a:t>
            </a:r>
          </a:p>
        </p:txBody>
      </p:sp>
      <p:sp>
        <p:nvSpPr>
          <p:cNvPr name="TextBox 10" id="10"/>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1" id="11"/>
          <p:cNvSpPr txBox="true"/>
          <p:nvPr/>
        </p:nvSpPr>
        <p:spPr>
          <a:xfrm rot="0">
            <a:off x="0" y="3203896"/>
            <a:ext cx="10327381" cy="85661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vetica World Bold"/>
                <a:ea typeface="Helvetica World Bold"/>
                <a:cs typeface="Helvetica World Bold"/>
                <a:sym typeface="Helvetica World Bold"/>
              </a:rPr>
              <a:t>Cài đặt và biểu diễn thuật toán</a:t>
            </a:r>
          </a:p>
        </p:txBody>
      </p:sp>
      <p:sp>
        <p:nvSpPr>
          <p:cNvPr name="TextBox 12" id="12"/>
          <p:cNvSpPr txBox="true"/>
          <p:nvPr/>
        </p:nvSpPr>
        <p:spPr>
          <a:xfrm rot="0">
            <a:off x="6915974" y="4574863"/>
            <a:ext cx="10507587" cy="3823335"/>
          </a:xfrm>
          <a:prstGeom prst="rect">
            <a:avLst/>
          </a:prstGeom>
        </p:spPr>
        <p:txBody>
          <a:bodyPr anchor="t" rtlCol="false" tIns="0" lIns="0" bIns="0" rIns="0">
            <a:spAutoFit/>
          </a:bodyPr>
          <a:lstStyle/>
          <a:p>
            <a:pPr algn="just">
              <a:lnSpc>
                <a:spcPts val="5040"/>
              </a:lnSpc>
            </a:pPr>
            <a:r>
              <a:rPr lang="en-US" sz="3600">
                <a:solidFill>
                  <a:srgbClr val="000000"/>
                </a:solidFill>
                <a:latin typeface="Helios"/>
                <a:ea typeface="Helios"/>
                <a:cs typeface="Helios"/>
                <a:sym typeface="Helios"/>
              </a:rPr>
              <a:t>Mê cung được biểu diễn như hình bên `L_maze.txt`:</a:t>
            </a:r>
          </a:p>
          <a:p>
            <a:pPr algn="just" marL="777240" indent="-388620" lvl="1">
              <a:lnSpc>
                <a:spcPts val="5040"/>
              </a:lnSpc>
              <a:buFont typeface="Arial"/>
              <a:buChar char="•"/>
            </a:pPr>
            <a:r>
              <a:rPr lang="en-US" sz="3600">
                <a:solidFill>
                  <a:srgbClr val="000000"/>
                </a:solidFill>
                <a:latin typeface="Helios"/>
                <a:ea typeface="Helios"/>
                <a:cs typeface="Helios"/>
                <a:sym typeface="Helios"/>
              </a:rPr>
              <a:t>X đại diện cho tường (không thể đi qua)</a:t>
            </a:r>
          </a:p>
          <a:p>
            <a:pPr algn="just" marL="777240" indent="-388620" lvl="1">
              <a:lnSpc>
                <a:spcPts val="5040"/>
              </a:lnSpc>
              <a:buFont typeface="Arial"/>
              <a:buChar char="•"/>
            </a:pPr>
            <a:r>
              <a:rPr lang="en-US" sz="3600">
                <a:solidFill>
                  <a:srgbClr val="000000"/>
                </a:solidFill>
                <a:latin typeface="Helios"/>
                <a:ea typeface="Helios"/>
                <a:cs typeface="Helios"/>
                <a:sym typeface="Helios"/>
              </a:rPr>
              <a:t>S là điểm bắt đầu</a:t>
            </a:r>
          </a:p>
          <a:p>
            <a:pPr algn="just" marL="777240" indent="-388620" lvl="1">
              <a:lnSpc>
                <a:spcPts val="5040"/>
              </a:lnSpc>
              <a:buFont typeface="Arial"/>
              <a:buChar char="•"/>
            </a:pPr>
            <a:r>
              <a:rPr lang="en-US" sz="3600">
                <a:solidFill>
                  <a:srgbClr val="000000"/>
                </a:solidFill>
                <a:latin typeface="Helios"/>
                <a:ea typeface="Helios"/>
                <a:cs typeface="Helios"/>
                <a:sym typeface="Helios"/>
              </a:rPr>
              <a:t>G là điểm đích</a:t>
            </a:r>
          </a:p>
          <a:p>
            <a:pPr algn="just" marL="777240" indent="-388620" lvl="1">
              <a:lnSpc>
                <a:spcPts val="5040"/>
              </a:lnSpc>
              <a:buFont typeface="Arial"/>
              <a:buChar char="•"/>
            </a:pPr>
            <a:r>
              <a:rPr lang="en-US" sz="3600">
                <a:solidFill>
                  <a:srgbClr val="000000"/>
                </a:solidFill>
                <a:latin typeface="Helios"/>
                <a:ea typeface="Helios"/>
                <a:cs typeface="Helios"/>
                <a:sym typeface="Helios"/>
              </a:rPr>
              <a:t>Khoảng trống là ô có thể đi qua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6825907" y="7539835"/>
            <a:ext cx="2610237" cy="456722"/>
          </a:xfrm>
          <a:prstGeom prst="rect">
            <a:avLst/>
          </a:prstGeom>
        </p:spPr>
        <p:txBody>
          <a:bodyPr anchor="t" rtlCol="false" tIns="0" lIns="0" bIns="0" rIns="0">
            <a:spAutoFit/>
          </a:bodyPr>
          <a:lstStyle/>
          <a:p>
            <a:pPr algn="ctr">
              <a:lnSpc>
                <a:spcPts val="1831"/>
              </a:lnSpc>
            </a:pPr>
            <a:r>
              <a:rPr lang="en-US" sz="1526">
                <a:solidFill>
                  <a:srgbClr val="FFFFFF"/>
                </a:solidFill>
                <a:latin typeface="Helios"/>
                <a:ea typeface="Helios"/>
                <a:cs typeface="Helios"/>
                <a:sym typeface="Helios"/>
              </a:rPr>
              <a:t>Collecting Demographic and Psychographics Data</a:t>
            </a:r>
          </a:p>
        </p:txBody>
      </p:sp>
      <p:sp>
        <p:nvSpPr>
          <p:cNvPr name="TextBox 8" id="8"/>
          <p:cNvSpPr txBox="true"/>
          <p:nvPr/>
        </p:nvSpPr>
        <p:spPr>
          <a:xfrm rot="0">
            <a:off x="2471887" y="1905902"/>
            <a:ext cx="1267551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Different Search Strategies: Maze</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0" y="3203896"/>
            <a:ext cx="10327381" cy="85661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vetica World Bold"/>
                <a:ea typeface="Helvetica World Bold"/>
                <a:cs typeface="Helvetica World Bold"/>
                <a:sym typeface="Helvetica World Bold"/>
              </a:rPr>
              <a:t>Breadth - First Search (BFS)</a:t>
            </a:r>
          </a:p>
        </p:txBody>
      </p:sp>
      <p:sp>
        <p:nvSpPr>
          <p:cNvPr name="TextBox 11" id="11"/>
          <p:cNvSpPr txBox="true"/>
          <p:nvPr/>
        </p:nvSpPr>
        <p:spPr>
          <a:xfrm rot="0">
            <a:off x="1420940" y="4574863"/>
            <a:ext cx="15201269" cy="1270635"/>
          </a:xfrm>
          <a:prstGeom prst="rect">
            <a:avLst/>
          </a:prstGeom>
        </p:spPr>
        <p:txBody>
          <a:bodyPr anchor="t" rtlCol="false" tIns="0" lIns="0" bIns="0" rIns="0">
            <a:spAutoFit/>
          </a:bodyPr>
          <a:lstStyle/>
          <a:p>
            <a:pPr algn="just">
              <a:lnSpc>
                <a:spcPts val="5040"/>
              </a:lnSpc>
            </a:pPr>
            <a:r>
              <a:rPr lang="en-US" sz="3600">
                <a:solidFill>
                  <a:srgbClr val="000000"/>
                </a:solidFill>
                <a:latin typeface="Helios"/>
                <a:ea typeface="Helios"/>
                <a:cs typeface="Helios"/>
                <a:sym typeface="Helios"/>
              </a:rPr>
              <a:t>BFS duyệt từng lớp theo khoảng cách từ điểm bắt đầu. Nó sử dụng hàng đợi (queue) để đảm bảo các nút gần hơn được duyệt trước</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6825907" y="7539835"/>
            <a:ext cx="2610237" cy="456722"/>
          </a:xfrm>
          <a:prstGeom prst="rect">
            <a:avLst/>
          </a:prstGeom>
        </p:spPr>
        <p:txBody>
          <a:bodyPr anchor="t" rtlCol="false" tIns="0" lIns="0" bIns="0" rIns="0">
            <a:spAutoFit/>
          </a:bodyPr>
          <a:lstStyle/>
          <a:p>
            <a:pPr algn="ctr">
              <a:lnSpc>
                <a:spcPts val="1831"/>
              </a:lnSpc>
            </a:pPr>
            <a:r>
              <a:rPr lang="en-US" sz="1526">
                <a:solidFill>
                  <a:srgbClr val="FFFFFF"/>
                </a:solidFill>
                <a:latin typeface="Helios"/>
                <a:ea typeface="Helios"/>
                <a:cs typeface="Helios"/>
                <a:sym typeface="Helios"/>
              </a:rPr>
              <a:t>Collecting Demographic and Psychographics Data</a:t>
            </a:r>
          </a:p>
        </p:txBody>
      </p:sp>
      <p:sp>
        <p:nvSpPr>
          <p:cNvPr name="TextBox 8" id="8"/>
          <p:cNvSpPr txBox="true"/>
          <p:nvPr/>
        </p:nvSpPr>
        <p:spPr>
          <a:xfrm rot="0">
            <a:off x="2471887" y="1905902"/>
            <a:ext cx="1267551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Different Search Strategies: Maze</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0" y="3203896"/>
            <a:ext cx="10327381" cy="85661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vetica World Bold"/>
                <a:ea typeface="Helvetica World Bold"/>
                <a:cs typeface="Helvetica World Bold"/>
                <a:sym typeface="Helvetica World Bold"/>
              </a:rPr>
              <a:t>Breadth - First Search (BFS)</a:t>
            </a:r>
          </a:p>
        </p:txBody>
      </p:sp>
      <p:sp>
        <p:nvSpPr>
          <p:cNvPr name="TextBox 11" id="11"/>
          <p:cNvSpPr txBox="true"/>
          <p:nvPr/>
        </p:nvSpPr>
        <p:spPr>
          <a:xfrm rot="0">
            <a:off x="1420940" y="4574863"/>
            <a:ext cx="15201269" cy="5099685"/>
          </a:xfrm>
          <a:prstGeom prst="rect">
            <a:avLst/>
          </a:prstGeom>
        </p:spPr>
        <p:txBody>
          <a:bodyPr anchor="t" rtlCol="false" tIns="0" lIns="0" bIns="0" rIns="0">
            <a:spAutoFit/>
          </a:bodyPr>
          <a:lstStyle/>
          <a:p>
            <a:pPr algn="just">
              <a:lnSpc>
                <a:spcPts val="5040"/>
              </a:lnSpc>
            </a:pPr>
            <a:r>
              <a:rPr lang="en-US" sz="3600">
                <a:solidFill>
                  <a:srgbClr val="000000"/>
                </a:solidFill>
                <a:latin typeface="Helios"/>
                <a:ea typeface="Helios"/>
                <a:cs typeface="Helios"/>
                <a:sym typeface="Helios"/>
              </a:rPr>
              <a:t>Ưu điểm: </a:t>
            </a:r>
          </a:p>
          <a:p>
            <a:pPr algn="just" marL="777240" indent="-388620" lvl="1">
              <a:lnSpc>
                <a:spcPts val="5040"/>
              </a:lnSpc>
              <a:buFont typeface="Arial"/>
              <a:buChar char="•"/>
            </a:pPr>
            <a:r>
              <a:rPr lang="en-US" sz="3600">
                <a:solidFill>
                  <a:srgbClr val="000000"/>
                </a:solidFill>
                <a:latin typeface="Helios"/>
                <a:ea typeface="Helios"/>
                <a:cs typeface="Helios"/>
                <a:sym typeface="Helios"/>
              </a:rPr>
              <a:t>Đảm bảo tìm được đường đi ngắn nhất (nếu chi phí di chuyển bằng nhau)</a:t>
            </a:r>
          </a:p>
          <a:p>
            <a:pPr algn="just" marL="777240" indent="-388620" lvl="1">
              <a:lnSpc>
                <a:spcPts val="5040"/>
              </a:lnSpc>
              <a:buFont typeface="Arial"/>
              <a:buChar char="•"/>
            </a:pPr>
            <a:r>
              <a:rPr lang="en-US" sz="3600">
                <a:solidFill>
                  <a:srgbClr val="000000"/>
                </a:solidFill>
                <a:latin typeface="Helios"/>
                <a:ea typeface="Helios"/>
                <a:cs typeface="Helios"/>
                <a:sym typeface="Helios"/>
              </a:rPr>
              <a:t>Dễ cài đặt</a:t>
            </a:r>
          </a:p>
          <a:p>
            <a:pPr algn="just">
              <a:lnSpc>
                <a:spcPts val="5040"/>
              </a:lnSpc>
            </a:pPr>
          </a:p>
          <a:p>
            <a:pPr algn="just">
              <a:lnSpc>
                <a:spcPts val="5040"/>
              </a:lnSpc>
            </a:pPr>
            <a:r>
              <a:rPr lang="en-US" sz="3600">
                <a:solidFill>
                  <a:srgbClr val="000000"/>
                </a:solidFill>
                <a:latin typeface="Helios"/>
                <a:ea typeface="Helios"/>
                <a:cs typeface="Helios"/>
                <a:sym typeface="Helios"/>
              </a:rPr>
              <a:t>Nhược điểm:</a:t>
            </a:r>
          </a:p>
          <a:p>
            <a:pPr algn="just" marL="777240" indent="-388620" lvl="1">
              <a:lnSpc>
                <a:spcPts val="5040"/>
              </a:lnSpc>
              <a:buFont typeface="Arial"/>
              <a:buChar char="•"/>
            </a:pPr>
            <a:r>
              <a:rPr lang="en-US" sz="3600">
                <a:solidFill>
                  <a:srgbClr val="000000"/>
                </a:solidFill>
                <a:latin typeface="Helios"/>
                <a:ea typeface="Helios"/>
                <a:cs typeface="Helios"/>
                <a:sym typeface="Helios"/>
              </a:rPr>
              <a:t>Tốn nhiều bộ nhớ do lưu tất cả các nút đã duyệt</a:t>
            </a:r>
          </a:p>
          <a:p>
            <a:pPr algn="just" marL="777240" indent="-388620" lvl="1">
              <a:lnSpc>
                <a:spcPts val="5040"/>
              </a:lnSpc>
              <a:buFont typeface="Arial"/>
              <a:buChar char="•"/>
            </a:pPr>
            <a:r>
              <a:rPr lang="en-US" sz="3600">
                <a:solidFill>
                  <a:srgbClr val="000000"/>
                </a:solidFill>
                <a:latin typeface="Helios"/>
                <a:ea typeface="Helios"/>
                <a:cs typeface="Helios"/>
                <a:sym typeface="Helios"/>
              </a:rPr>
              <a:t>Không tối ưu nếu mê cung lớn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2327272" y="5143500"/>
            <a:ext cx="13633455" cy="2836775"/>
          </a:xfrm>
          <a:custGeom>
            <a:avLst/>
            <a:gdLst/>
            <a:ahLst/>
            <a:cxnLst/>
            <a:rect r="r" b="b" t="t" l="l"/>
            <a:pathLst>
              <a:path h="2836775" w="13633455">
                <a:moveTo>
                  <a:pt x="0" y="0"/>
                </a:moveTo>
                <a:lnTo>
                  <a:pt x="13633456" y="0"/>
                </a:lnTo>
                <a:lnTo>
                  <a:pt x="13633456" y="2836775"/>
                </a:lnTo>
                <a:lnTo>
                  <a:pt x="0" y="2836775"/>
                </a:lnTo>
                <a:lnTo>
                  <a:pt x="0" y="0"/>
                </a:lnTo>
                <a:close/>
              </a:path>
            </a:pathLst>
          </a:custGeom>
          <a:blipFill>
            <a:blip r:embed="rId12"/>
            <a:stretch>
              <a:fillRect l="0" t="0" r="0" b="0"/>
            </a:stretch>
          </a:blipFill>
        </p:spPr>
      </p:sp>
      <p:sp>
        <p:nvSpPr>
          <p:cNvPr name="TextBox 8" id="8"/>
          <p:cNvSpPr txBox="true"/>
          <p:nvPr/>
        </p:nvSpPr>
        <p:spPr>
          <a:xfrm rot="0">
            <a:off x="6825907" y="7539835"/>
            <a:ext cx="2610237" cy="456722"/>
          </a:xfrm>
          <a:prstGeom prst="rect">
            <a:avLst/>
          </a:prstGeom>
        </p:spPr>
        <p:txBody>
          <a:bodyPr anchor="t" rtlCol="false" tIns="0" lIns="0" bIns="0" rIns="0">
            <a:spAutoFit/>
          </a:bodyPr>
          <a:lstStyle/>
          <a:p>
            <a:pPr algn="ctr">
              <a:lnSpc>
                <a:spcPts val="1831"/>
              </a:lnSpc>
            </a:pPr>
            <a:r>
              <a:rPr lang="en-US" sz="1526">
                <a:solidFill>
                  <a:srgbClr val="FFFFFF"/>
                </a:solidFill>
                <a:latin typeface="Helios"/>
                <a:ea typeface="Helios"/>
                <a:cs typeface="Helios"/>
                <a:sym typeface="Helios"/>
              </a:rPr>
              <a:t>Collecting Demographic and Psychographics Data</a:t>
            </a:r>
          </a:p>
        </p:txBody>
      </p:sp>
      <p:sp>
        <p:nvSpPr>
          <p:cNvPr name="TextBox 9" id="9"/>
          <p:cNvSpPr txBox="true"/>
          <p:nvPr/>
        </p:nvSpPr>
        <p:spPr>
          <a:xfrm rot="0">
            <a:off x="2471887" y="1905902"/>
            <a:ext cx="1267551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Different Search Strategies: Maze</a:t>
            </a:r>
          </a:p>
        </p:txBody>
      </p:sp>
      <p:sp>
        <p:nvSpPr>
          <p:cNvPr name="TextBox 10" id="10"/>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1" id="11"/>
          <p:cNvSpPr txBox="true"/>
          <p:nvPr/>
        </p:nvSpPr>
        <p:spPr>
          <a:xfrm rot="0">
            <a:off x="0" y="3203896"/>
            <a:ext cx="10327381" cy="85661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vetica World Bold"/>
                <a:ea typeface="Helvetica World Bold"/>
                <a:cs typeface="Helvetica World Bold"/>
                <a:sym typeface="Helvetica World Bold"/>
              </a:rPr>
              <a:t>Breadth - First Search (BFS)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5007480" y="3031945"/>
            <a:ext cx="7454432" cy="7032014"/>
          </a:xfrm>
          <a:custGeom>
            <a:avLst/>
            <a:gdLst/>
            <a:ahLst/>
            <a:cxnLst/>
            <a:rect r="r" b="b" t="t" l="l"/>
            <a:pathLst>
              <a:path h="7032014" w="7454432">
                <a:moveTo>
                  <a:pt x="0" y="0"/>
                </a:moveTo>
                <a:lnTo>
                  <a:pt x="7454431" y="0"/>
                </a:lnTo>
                <a:lnTo>
                  <a:pt x="7454431" y="7032014"/>
                </a:lnTo>
                <a:lnTo>
                  <a:pt x="0" y="7032014"/>
                </a:lnTo>
                <a:lnTo>
                  <a:pt x="0" y="0"/>
                </a:lnTo>
                <a:close/>
              </a:path>
            </a:pathLst>
          </a:custGeom>
          <a:blipFill>
            <a:blip r:embed="rId12"/>
            <a:stretch>
              <a:fillRect l="0" t="0" r="0" b="0"/>
            </a:stretch>
          </a:blipFill>
        </p:spPr>
      </p:sp>
      <p:sp>
        <p:nvSpPr>
          <p:cNvPr name="TextBox 8" id="8"/>
          <p:cNvSpPr txBox="true"/>
          <p:nvPr/>
        </p:nvSpPr>
        <p:spPr>
          <a:xfrm rot="0">
            <a:off x="2471887" y="1905902"/>
            <a:ext cx="1267551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Different Search Strategies: Maze</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2471887" y="1905902"/>
            <a:ext cx="1267551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Different Search Strategies: Maze</a:t>
            </a:r>
          </a:p>
        </p:txBody>
      </p:sp>
      <p:sp>
        <p:nvSpPr>
          <p:cNvPr name="TextBox 8" id="8"/>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9" id="9"/>
          <p:cNvSpPr txBox="true"/>
          <p:nvPr/>
        </p:nvSpPr>
        <p:spPr>
          <a:xfrm rot="0">
            <a:off x="0" y="3203896"/>
            <a:ext cx="10327381" cy="85661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vetica World Bold"/>
                <a:ea typeface="Helvetica World Bold"/>
                <a:cs typeface="Helvetica World Bold"/>
                <a:sym typeface="Helvetica World Bold"/>
              </a:rPr>
              <a:t>Depth - First Search (DFS)</a:t>
            </a:r>
          </a:p>
        </p:txBody>
      </p:sp>
      <p:sp>
        <p:nvSpPr>
          <p:cNvPr name="TextBox 10" id="10"/>
          <p:cNvSpPr txBox="true"/>
          <p:nvPr/>
        </p:nvSpPr>
        <p:spPr>
          <a:xfrm rot="0">
            <a:off x="1266310" y="4442516"/>
            <a:ext cx="16285133" cy="1908810"/>
          </a:xfrm>
          <a:prstGeom prst="rect">
            <a:avLst/>
          </a:prstGeom>
        </p:spPr>
        <p:txBody>
          <a:bodyPr anchor="t" rtlCol="false" tIns="0" lIns="0" bIns="0" rIns="0">
            <a:spAutoFit/>
          </a:bodyPr>
          <a:lstStyle/>
          <a:p>
            <a:pPr algn="just">
              <a:lnSpc>
                <a:spcPts val="5040"/>
              </a:lnSpc>
            </a:pPr>
            <a:r>
              <a:rPr lang="en-US" sz="3600">
                <a:solidFill>
                  <a:srgbClr val="000000"/>
                </a:solidFill>
                <a:latin typeface="Helios"/>
                <a:ea typeface="Helios"/>
                <a:cs typeface="Helios"/>
                <a:sym typeface="Helios"/>
              </a:rPr>
              <a:t>DFS đi sâu vào một nhánh cho đến khi không thể đi tiếp, sau đó quay lại (backtrack). Sử dụng stack hoặc đệ quy.</a:t>
            </a:r>
          </a:p>
          <a:p>
            <a:pPr algn="just">
              <a:lnSpc>
                <a:spcPts val="5040"/>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6825907" y="7539835"/>
            <a:ext cx="2610237" cy="456722"/>
          </a:xfrm>
          <a:prstGeom prst="rect">
            <a:avLst/>
          </a:prstGeom>
        </p:spPr>
        <p:txBody>
          <a:bodyPr anchor="t" rtlCol="false" tIns="0" lIns="0" bIns="0" rIns="0">
            <a:spAutoFit/>
          </a:bodyPr>
          <a:lstStyle/>
          <a:p>
            <a:pPr algn="ctr">
              <a:lnSpc>
                <a:spcPts val="1831"/>
              </a:lnSpc>
            </a:pPr>
            <a:r>
              <a:rPr lang="en-US" sz="1526">
                <a:solidFill>
                  <a:srgbClr val="FFFFFF"/>
                </a:solidFill>
                <a:latin typeface="Helios"/>
                <a:ea typeface="Helios"/>
                <a:cs typeface="Helios"/>
                <a:sym typeface="Helios"/>
              </a:rPr>
              <a:t>Collecting Demographic and Psychographics Data</a:t>
            </a:r>
          </a:p>
        </p:txBody>
      </p:sp>
      <p:sp>
        <p:nvSpPr>
          <p:cNvPr name="TextBox 8" id="8"/>
          <p:cNvSpPr txBox="true"/>
          <p:nvPr/>
        </p:nvSpPr>
        <p:spPr>
          <a:xfrm rot="0">
            <a:off x="2471887" y="1905902"/>
            <a:ext cx="1267551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Different Search Strategies: Maze</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0" y="3203896"/>
            <a:ext cx="10327381" cy="85661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vetica World Bold"/>
                <a:ea typeface="Helvetica World Bold"/>
                <a:cs typeface="Helvetica World Bold"/>
                <a:sym typeface="Helvetica World Bold"/>
              </a:rPr>
              <a:t>Depth - First Search (DFS)</a:t>
            </a:r>
          </a:p>
        </p:txBody>
      </p:sp>
      <p:sp>
        <p:nvSpPr>
          <p:cNvPr name="TextBox 11" id="11"/>
          <p:cNvSpPr txBox="true"/>
          <p:nvPr/>
        </p:nvSpPr>
        <p:spPr>
          <a:xfrm rot="0">
            <a:off x="1266310" y="4442516"/>
            <a:ext cx="16285133" cy="4461510"/>
          </a:xfrm>
          <a:prstGeom prst="rect">
            <a:avLst/>
          </a:prstGeom>
        </p:spPr>
        <p:txBody>
          <a:bodyPr anchor="t" rtlCol="false" tIns="0" lIns="0" bIns="0" rIns="0">
            <a:spAutoFit/>
          </a:bodyPr>
          <a:lstStyle/>
          <a:p>
            <a:pPr algn="just">
              <a:lnSpc>
                <a:spcPts val="5040"/>
              </a:lnSpc>
            </a:pPr>
            <a:r>
              <a:rPr lang="en-US" sz="3600">
                <a:solidFill>
                  <a:srgbClr val="000000"/>
                </a:solidFill>
                <a:latin typeface="Helios"/>
                <a:ea typeface="Helios"/>
                <a:cs typeface="Helios"/>
                <a:sym typeface="Helios"/>
              </a:rPr>
              <a:t>Ưu điểm:</a:t>
            </a:r>
          </a:p>
          <a:p>
            <a:pPr algn="just" marL="777240" indent="-388620" lvl="1">
              <a:lnSpc>
                <a:spcPts val="5040"/>
              </a:lnSpc>
              <a:buFont typeface="Arial"/>
              <a:buChar char="•"/>
            </a:pPr>
            <a:r>
              <a:rPr lang="en-US" sz="3600">
                <a:solidFill>
                  <a:srgbClr val="000000"/>
                </a:solidFill>
                <a:latin typeface="Helios"/>
                <a:ea typeface="Helios"/>
                <a:cs typeface="Helios"/>
                <a:sym typeface="Helios"/>
              </a:rPr>
              <a:t>Cài đặt đơn giản, dùng ít bộ nhớ.</a:t>
            </a:r>
          </a:p>
          <a:p>
            <a:pPr algn="just" marL="777240" indent="-388620" lvl="1">
              <a:lnSpc>
                <a:spcPts val="5040"/>
              </a:lnSpc>
              <a:buFont typeface="Arial"/>
              <a:buChar char="•"/>
            </a:pPr>
            <a:r>
              <a:rPr lang="en-US" sz="3600">
                <a:solidFill>
                  <a:srgbClr val="000000"/>
                </a:solidFill>
                <a:latin typeface="Helios"/>
                <a:ea typeface="Helios"/>
                <a:cs typeface="Helios"/>
                <a:sym typeface="Helios"/>
              </a:rPr>
              <a:t>Tìm được đường đi (không nhất thiết ngắn nhất)</a:t>
            </a:r>
          </a:p>
          <a:p>
            <a:pPr algn="just">
              <a:lnSpc>
                <a:spcPts val="5040"/>
              </a:lnSpc>
            </a:pPr>
          </a:p>
          <a:p>
            <a:pPr algn="just">
              <a:lnSpc>
                <a:spcPts val="5040"/>
              </a:lnSpc>
            </a:pPr>
            <a:r>
              <a:rPr lang="en-US" sz="3600">
                <a:solidFill>
                  <a:srgbClr val="000000"/>
                </a:solidFill>
                <a:latin typeface="Helios"/>
                <a:ea typeface="Helios"/>
                <a:cs typeface="Helios"/>
                <a:sym typeface="Helios"/>
              </a:rPr>
              <a:t>Nhược điểm:</a:t>
            </a:r>
          </a:p>
          <a:p>
            <a:pPr algn="just" marL="777240" indent="-388620" lvl="1">
              <a:lnSpc>
                <a:spcPts val="5040"/>
              </a:lnSpc>
              <a:buFont typeface="Arial"/>
              <a:buChar char="•"/>
            </a:pPr>
            <a:r>
              <a:rPr lang="en-US" sz="3600">
                <a:solidFill>
                  <a:srgbClr val="000000"/>
                </a:solidFill>
                <a:latin typeface="Helios"/>
                <a:ea typeface="Helios"/>
                <a:cs typeface="Helios"/>
                <a:sym typeface="Helios"/>
              </a:rPr>
              <a:t>Có thể đi lạc vào nhánh sâu không có lời giải</a:t>
            </a:r>
          </a:p>
          <a:p>
            <a:pPr algn="just" marL="777240" indent="-388620" lvl="1">
              <a:lnSpc>
                <a:spcPts val="5040"/>
              </a:lnSpc>
              <a:spcBef>
                <a:spcPct val="0"/>
              </a:spcBef>
              <a:buFont typeface="Arial"/>
              <a:buChar char="•"/>
            </a:pPr>
            <a:r>
              <a:rPr lang="en-US" sz="3600">
                <a:solidFill>
                  <a:srgbClr val="000000"/>
                </a:solidFill>
                <a:latin typeface="Helios"/>
                <a:ea typeface="Helios"/>
                <a:cs typeface="Helios"/>
                <a:sym typeface="Helios"/>
              </a:rPr>
              <a:t>Không đảm bảo đường đi ngắn nhất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967009" y="5200016"/>
            <a:ext cx="14353982" cy="2708701"/>
          </a:xfrm>
          <a:custGeom>
            <a:avLst/>
            <a:gdLst/>
            <a:ahLst/>
            <a:cxnLst/>
            <a:rect r="r" b="b" t="t" l="l"/>
            <a:pathLst>
              <a:path h="2708701" w="14353982">
                <a:moveTo>
                  <a:pt x="0" y="0"/>
                </a:moveTo>
                <a:lnTo>
                  <a:pt x="14353982" y="0"/>
                </a:lnTo>
                <a:lnTo>
                  <a:pt x="14353982" y="2708701"/>
                </a:lnTo>
                <a:lnTo>
                  <a:pt x="0" y="2708701"/>
                </a:lnTo>
                <a:lnTo>
                  <a:pt x="0" y="0"/>
                </a:lnTo>
                <a:close/>
              </a:path>
            </a:pathLst>
          </a:custGeom>
          <a:blipFill>
            <a:blip r:embed="rId12"/>
            <a:stretch>
              <a:fillRect l="0" t="0" r="0" b="0"/>
            </a:stretch>
          </a:blipFill>
        </p:spPr>
      </p:sp>
      <p:sp>
        <p:nvSpPr>
          <p:cNvPr name="TextBox 8" id="8"/>
          <p:cNvSpPr txBox="true"/>
          <p:nvPr/>
        </p:nvSpPr>
        <p:spPr>
          <a:xfrm rot="0">
            <a:off x="6825907" y="7539835"/>
            <a:ext cx="2610237" cy="456722"/>
          </a:xfrm>
          <a:prstGeom prst="rect">
            <a:avLst/>
          </a:prstGeom>
        </p:spPr>
        <p:txBody>
          <a:bodyPr anchor="t" rtlCol="false" tIns="0" lIns="0" bIns="0" rIns="0">
            <a:spAutoFit/>
          </a:bodyPr>
          <a:lstStyle/>
          <a:p>
            <a:pPr algn="ctr">
              <a:lnSpc>
                <a:spcPts val="1831"/>
              </a:lnSpc>
            </a:pPr>
            <a:r>
              <a:rPr lang="en-US" sz="1526">
                <a:solidFill>
                  <a:srgbClr val="FFFFFF"/>
                </a:solidFill>
                <a:latin typeface="Helios"/>
                <a:ea typeface="Helios"/>
                <a:cs typeface="Helios"/>
                <a:sym typeface="Helios"/>
              </a:rPr>
              <a:t>Collecting Demographic and Psychographics Data</a:t>
            </a:r>
          </a:p>
        </p:txBody>
      </p:sp>
      <p:sp>
        <p:nvSpPr>
          <p:cNvPr name="TextBox 9" id="9"/>
          <p:cNvSpPr txBox="true"/>
          <p:nvPr/>
        </p:nvSpPr>
        <p:spPr>
          <a:xfrm rot="0">
            <a:off x="2471887" y="1905902"/>
            <a:ext cx="1267551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Different Search Strategies: Maze</a:t>
            </a:r>
          </a:p>
        </p:txBody>
      </p:sp>
      <p:sp>
        <p:nvSpPr>
          <p:cNvPr name="TextBox 10" id="10"/>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1" id="11"/>
          <p:cNvSpPr txBox="true"/>
          <p:nvPr/>
        </p:nvSpPr>
        <p:spPr>
          <a:xfrm rot="0">
            <a:off x="0" y="3203896"/>
            <a:ext cx="10327381" cy="85661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vetica World Bold"/>
                <a:ea typeface="Helvetica World Bold"/>
                <a:cs typeface="Helvetica World Bold"/>
                <a:sym typeface="Helvetica World Bold"/>
              </a:rPr>
              <a:t>Depth - First Search (DFS)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3474682" y="5138991"/>
            <a:ext cx="10136609" cy="2137364"/>
          </a:xfrm>
          <a:custGeom>
            <a:avLst/>
            <a:gdLst/>
            <a:ahLst/>
            <a:cxnLst/>
            <a:rect r="r" b="b" t="t" l="l"/>
            <a:pathLst>
              <a:path h="2137364" w="10136609">
                <a:moveTo>
                  <a:pt x="0" y="0"/>
                </a:moveTo>
                <a:lnTo>
                  <a:pt x="10136608" y="0"/>
                </a:lnTo>
                <a:lnTo>
                  <a:pt x="10136608" y="2137364"/>
                </a:lnTo>
                <a:lnTo>
                  <a:pt x="0" y="2137364"/>
                </a:lnTo>
                <a:lnTo>
                  <a:pt x="0" y="0"/>
                </a:lnTo>
                <a:close/>
              </a:path>
            </a:pathLst>
          </a:custGeom>
          <a:blipFill>
            <a:blip r:embed="rId12"/>
            <a:stretch>
              <a:fillRect l="0" t="0" r="0" b="0"/>
            </a:stretch>
          </a:blipFill>
        </p:spPr>
      </p:sp>
      <p:sp>
        <p:nvSpPr>
          <p:cNvPr name="TextBox 8" id="8"/>
          <p:cNvSpPr txBox="true"/>
          <p:nvPr/>
        </p:nvSpPr>
        <p:spPr>
          <a:xfrm rot="0">
            <a:off x="6825907" y="7539835"/>
            <a:ext cx="2610237" cy="456722"/>
          </a:xfrm>
          <a:prstGeom prst="rect">
            <a:avLst/>
          </a:prstGeom>
        </p:spPr>
        <p:txBody>
          <a:bodyPr anchor="t" rtlCol="false" tIns="0" lIns="0" bIns="0" rIns="0">
            <a:spAutoFit/>
          </a:bodyPr>
          <a:lstStyle/>
          <a:p>
            <a:pPr algn="ctr">
              <a:lnSpc>
                <a:spcPts val="1831"/>
              </a:lnSpc>
            </a:pPr>
            <a:r>
              <a:rPr lang="en-US" sz="1526">
                <a:solidFill>
                  <a:srgbClr val="FFFFFF"/>
                </a:solidFill>
                <a:latin typeface="Helios"/>
                <a:ea typeface="Helios"/>
                <a:cs typeface="Helios"/>
                <a:sym typeface="Helios"/>
              </a:rPr>
              <a:t>Collecting Demographic and Psychographics Data</a:t>
            </a:r>
          </a:p>
        </p:txBody>
      </p:sp>
      <p:sp>
        <p:nvSpPr>
          <p:cNvPr name="TextBox 9" id="9"/>
          <p:cNvSpPr txBox="true"/>
          <p:nvPr/>
        </p:nvSpPr>
        <p:spPr>
          <a:xfrm rot="0">
            <a:off x="2471887" y="1905902"/>
            <a:ext cx="1267551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Different Search Strategies: Maze</a:t>
            </a:r>
          </a:p>
        </p:txBody>
      </p:sp>
      <p:sp>
        <p:nvSpPr>
          <p:cNvPr name="TextBox 10" id="10"/>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1" id="11"/>
          <p:cNvSpPr txBox="true"/>
          <p:nvPr/>
        </p:nvSpPr>
        <p:spPr>
          <a:xfrm rot="0">
            <a:off x="0" y="3203896"/>
            <a:ext cx="10327381" cy="85661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vetica World Bold"/>
                <a:ea typeface="Helvetica World Bold"/>
                <a:cs typeface="Helvetica World Bold"/>
                <a:sym typeface="Helvetica World Bold"/>
              </a:rPr>
              <a:t>Depth - First Search (DFS)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5163691" y="4060513"/>
            <a:ext cx="6432874" cy="5596600"/>
          </a:xfrm>
          <a:custGeom>
            <a:avLst/>
            <a:gdLst/>
            <a:ahLst/>
            <a:cxnLst/>
            <a:rect r="r" b="b" t="t" l="l"/>
            <a:pathLst>
              <a:path h="5596600" w="6432874">
                <a:moveTo>
                  <a:pt x="0" y="0"/>
                </a:moveTo>
                <a:lnTo>
                  <a:pt x="6432873" y="0"/>
                </a:lnTo>
                <a:lnTo>
                  <a:pt x="6432873" y="5596600"/>
                </a:lnTo>
                <a:lnTo>
                  <a:pt x="0" y="5596600"/>
                </a:lnTo>
                <a:lnTo>
                  <a:pt x="0" y="0"/>
                </a:lnTo>
                <a:close/>
              </a:path>
            </a:pathLst>
          </a:custGeom>
          <a:blipFill>
            <a:blip r:embed="rId12"/>
            <a:stretch>
              <a:fillRect l="0" t="0" r="0" b="0"/>
            </a:stretch>
          </a:blipFill>
        </p:spPr>
      </p:sp>
      <p:sp>
        <p:nvSpPr>
          <p:cNvPr name="TextBox 8" id="8"/>
          <p:cNvSpPr txBox="true"/>
          <p:nvPr/>
        </p:nvSpPr>
        <p:spPr>
          <a:xfrm rot="0">
            <a:off x="2471887" y="1905902"/>
            <a:ext cx="1267551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Different Search Strategies: Maze</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0" y="3203896"/>
            <a:ext cx="10327381" cy="85661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vetica World Bold"/>
                <a:ea typeface="Helvetica World Bold"/>
                <a:cs typeface="Helvetica World Bold"/>
                <a:sym typeface="Helvetica World Bold"/>
              </a:rPr>
              <a:t>Depth - First Search (DFS)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2471887" y="1905902"/>
            <a:ext cx="1267551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Different Search Strategies: Maze</a:t>
            </a:r>
          </a:p>
        </p:txBody>
      </p:sp>
      <p:sp>
        <p:nvSpPr>
          <p:cNvPr name="TextBox 8" id="8"/>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9" id="9"/>
          <p:cNvSpPr txBox="true"/>
          <p:nvPr/>
        </p:nvSpPr>
        <p:spPr>
          <a:xfrm rot="0">
            <a:off x="0" y="3203896"/>
            <a:ext cx="10327381" cy="85661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vetica World Bold"/>
                <a:ea typeface="Helvetica World Bold"/>
                <a:cs typeface="Helvetica World Bold"/>
                <a:sym typeface="Helvetica World Bold"/>
              </a:rPr>
              <a:t>Greedy Best - First Search</a:t>
            </a:r>
          </a:p>
        </p:txBody>
      </p:sp>
      <p:sp>
        <p:nvSpPr>
          <p:cNvPr name="TextBox 10" id="10"/>
          <p:cNvSpPr txBox="true"/>
          <p:nvPr/>
        </p:nvSpPr>
        <p:spPr>
          <a:xfrm rot="0">
            <a:off x="1266310" y="4937038"/>
            <a:ext cx="16285133" cy="1270635"/>
          </a:xfrm>
          <a:prstGeom prst="rect">
            <a:avLst/>
          </a:prstGeom>
        </p:spPr>
        <p:txBody>
          <a:bodyPr anchor="t" rtlCol="false" tIns="0" lIns="0" bIns="0" rIns="0">
            <a:spAutoFit/>
          </a:bodyPr>
          <a:lstStyle/>
          <a:p>
            <a:pPr algn="just">
              <a:lnSpc>
                <a:spcPts val="5040"/>
              </a:lnSpc>
            </a:pPr>
            <a:r>
              <a:rPr lang="en-US" sz="3600">
                <a:solidFill>
                  <a:srgbClr val="000000"/>
                </a:solidFill>
                <a:latin typeface="Helios"/>
                <a:ea typeface="Helios"/>
                <a:cs typeface="Helios"/>
                <a:sym typeface="Helios"/>
              </a:rPr>
              <a:t>Ưu tiên mở rộng nút gần đích nhất dựa trên hàm heuristic h(n)</a:t>
            </a:r>
          </a:p>
          <a:p>
            <a:pPr algn="just">
              <a:lnSpc>
                <a:spcPts val="5040"/>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3346043" y="5849632"/>
            <a:ext cx="10565605" cy="3527868"/>
          </a:xfrm>
          <a:custGeom>
            <a:avLst/>
            <a:gdLst/>
            <a:ahLst/>
            <a:cxnLst/>
            <a:rect r="r" b="b" t="t" l="l"/>
            <a:pathLst>
              <a:path h="3527868" w="10565605">
                <a:moveTo>
                  <a:pt x="0" y="0"/>
                </a:moveTo>
                <a:lnTo>
                  <a:pt x="10565605" y="0"/>
                </a:lnTo>
                <a:lnTo>
                  <a:pt x="10565605" y="3527868"/>
                </a:lnTo>
                <a:lnTo>
                  <a:pt x="0" y="3527868"/>
                </a:lnTo>
                <a:lnTo>
                  <a:pt x="0" y="0"/>
                </a:lnTo>
                <a:close/>
              </a:path>
            </a:pathLst>
          </a:custGeom>
          <a:blipFill>
            <a:blip r:embed="rId12"/>
            <a:stretch>
              <a:fillRect l="0" t="0" r="0" b="0"/>
            </a:stretch>
          </a:blipFill>
        </p:spPr>
      </p:sp>
      <p:sp>
        <p:nvSpPr>
          <p:cNvPr name="TextBox 8" id="8"/>
          <p:cNvSpPr txBox="true"/>
          <p:nvPr/>
        </p:nvSpPr>
        <p:spPr>
          <a:xfrm rot="0">
            <a:off x="2471887" y="1905902"/>
            <a:ext cx="1267551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Different Search Strategies: Maze</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0" y="3203896"/>
            <a:ext cx="10327381" cy="85661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vetica World Bold"/>
                <a:ea typeface="Helvetica World Bold"/>
                <a:cs typeface="Helvetica World Bold"/>
                <a:sym typeface="Helvetica World Bold"/>
              </a:rPr>
              <a:t>Greedy Best - First Search</a:t>
            </a:r>
          </a:p>
        </p:txBody>
      </p:sp>
      <p:sp>
        <p:nvSpPr>
          <p:cNvPr name="TextBox 11" id="11"/>
          <p:cNvSpPr txBox="true"/>
          <p:nvPr/>
        </p:nvSpPr>
        <p:spPr>
          <a:xfrm rot="0">
            <a:off x="1266310" y="4937038"/>
            <a:ext cx="16285133" cy="632460"/>
          </a:xfrm>
          <a:prstGeom prst="rect">
            <a:avLst/>
          </a:prstGeom>
        </p:spPr>
        <p:txBody>
          <a:bodyPr anchor="t" rtlCol="false" tIns="0" lIns="0" bIns="0" rIns="0">
            <a:spAutoFit/>
          </a:bodyPr>
          <a:lstStyle/>
          <a:p>
            <a:pPr algn="just">
              <a:lnSpc>
                <a:spcPts val="5040"/>
              </a:lnSpc>
              <a:spcBef>
                <a:spcPct val="0"/>
              </a:spcBef>
            </a:pPr>
            <a:r>
              <a:rPr lang="en-US" sz="3600">
                <a:solidFill>
                  <a:srgbClr val="000000"/>
                </a:solidFill>
                <a:latin typeface="Helios"/>
                <a:ea typeface="Helios"/>
                <a:cs typeface="Helios"/>
                <a:sym typeface="Helios"/>
              </a:rPr>
              <a:t>Hàm tính khoảng các Manhattan giữa 2 vị trí:</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3851756" y="5824169"/>
            <a:ext cx="10584487" cy="3075223"/>
          </a:xfrm>
          <a:custGeom>
            <a:avLst/>
            <a:gdLst/>
            <a:ahLst/>
            <a:cxnLst/>
            <a:rect r="r" b="b" t="t" l="l"/>
            <a:pathLst>
              <a:path h="3075223" w="10584487">
                <a:moveTo>
                  <a:pt x="0" y="0"/>
                </a:moveTo>
                <a:lnTo>
                  <a:pt x="10584488" y="0"/>
                </a:lnTo>
                <a:lnTo>
                  <a:pt x="10584488" y="3075222"/>
                </a:lnTo>
                <a:lnTo>
                  <a:pt x="0" y="3075222"/>
                </a:lnTo>
                <a:lnTo>
                  <a:pt x="0" y="0"/>
                </a:lnTo>
                <a:close/>
              </a:path>
            </a:pathLst>
          </a:custGeom>
          <a:blipFill>
            <a:blip r:embed="rId12"/>
            <a:stretch>
              <a:fillRect l="0" t="0" r="0" b="0"/>
            </a:stretch>
          </a:blipFill>
        </p:spPr>
      </p:sp>
      <p:sp>
        <p:nvSpPr>
          <p:cNvPr name="TextBox 8" id="8"/>
          <p:cNvSpPr txBox="true"/>
          <p:nvPr/>
        </p:nvSpPr>
        <p:spPr>
          <a:xfrm rot="0">
            <a:off x="2471887" y="1905902"/>
            <a:ext cx="1267551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Different Search Strategies: Maze</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0" y="3203896"/>
            <a:ext cx="10327381" cy="85661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vetica World Bold"/>
                <a:ea typeface="Helvetica World Bold"/>
                <a:cs typeface="Helvetica World Bold"/>
                <a:sym typeface="Helvetica World Bold"/>
              </a:rPr>
              <a:t>Greedy Best - First Search</a:t>
            </a:r>
          </a:p>
        </p:txBody>
      </p:sp>
      <p:sp>
        <p:nvSpPr>
          <p:cNvPr name="TextBox 11" id="11"/>
          <p:cNvSpPr txBox="true"/>
          <p:nvPr/>
        </p:nvSpPr>
        <p:spPr>
          <a:xfrm rot="0">
            <a:off x="1575571" y="4937038"/>
            <a:ext cx="15975873" cy="632460"/>
          </a:xfrm>
          <a:prstGeom prst="rect">
            <a:avLst/>
          </a:prstGeom>
        </p:spPr>
        <p:txBody>
          <a:bodyPr anchor="t" rtlCol="false" tIns="0" lIns="0" bIns="0" rIns="0">
            <a:spAutoFit/>
          </a:bodyPr>
          <a:lstStyle/>
          <a:p>
            <a:pPr algn="just">
              <a:lnSpc>
                <a:spcPts val="5040"/>
              </a:lnSpc>
              <a:spcBef>
                <a:spcPct val="0"/>
              </a:spcBef>
            </a:pPr>
            <a:r>
              <a:rPr lang="en-US" sz="3600">
                <a:solidFill>
                  <a:srgbClr val="000000"/>
                </a:solidFill>
                <a:latin typeface="Helios"/>
                <a:ea typeface="Helios"/>
                <a:cs typeface="Helios"/>
                <a:sym typeface="Helios"/>
              </a:rPr>
              <a:t>Hàm tính khoảng cách Euclid giữa hai điểm:</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543365" y="4770485"/>
            <a:ext cx="15201269" cy="1270635"/>
          </a:xfrm>
          <a:prstGeom prst="rect">
            <a:avLst/>
          </a:prstGeom>
        </p:spPr>
        <p:txBody>
          <a:bodyPr anchor="t" rtlCol="false" tIns="0" lIns="0" bIns="0" rIns="0">
            <a:spAutoFit/>
          </a:bodyPr>
          <a:lstStyle/>
          <a:p>
            <a:pPr algn="just">
              <a:lnSpc>
                <a:spcPts val="5040"/>
              </a:lnSpc>
            </a:pPr>
            <a:r>
              <a:rPr lang="en-US" sz="3600">
                <a:solidFill>
                  <a:srgbClr val="000000"/>
                </a:solidFill>
                <a:latin typeface="Helios"/>
                <a:ea typeface="Helios"/>
                <a:cs typeface="Helios"/>
                <a:sym typeface="Helios"/>
              </a:rPr>
              <a:t>Kết hợp giữa chi phí đã đi (g(n)) và ước lượng còn lại (h(n))</a:t>
            </a:r>
          </a:p>
          <a:p>
            <a:pPr algn="just">
              <a:lnSpc>
                <a:spcPts val="5040"/>
              </a:lnSpc>
            </a:pPr>
          </a:p>
        </p:txBody>
      </p:sp>
      <p:sp>
        <p:nvSpPr>
          <p:cNvPr name="Freeform 8" id="8"/>
          <p:cNvSpPr/>
          <p:nvPr/>
        </p:nvSpPr>
        <p:spPr>
          <a:xfrm flipH="false" flipV="false" rot="0">
            <a:off x="4613830" y="6041120"/>
            <a:ext cx="8140225" cy="984401"/>
          </a:xfrm>
          <a:custGeom>
            <a:avLst/>
            <a:gdLst/>
            <a:ahLst/>
            <a:cxnLst/>
            <a:rect r="r" b="b" t="t" l="l"/>
            <a:pathLst>
              <a:path h="984401" w="8140225">
                <a:moveTo>
                  <a:pt x="0" y="0"/>
                </a:moveTo>
                <a:lnTo>
                  <a:pt x="8140225" y="0"/>
                </a:lnTo>
                <a:lnTo>
                  <a:pt x="8140225" y="984401"/>
                </a:lnTo>
                <a:lnTo>
                  <a:pt x="0" y="984401"/>
                </a:lnTo>
                <a:lnTo>
                  <a:pt x="0" y="0"/>
                </a:lnTo>
                <a:close/>
              </a:path>
            </a:pathLst>
          </a:custGeom>
          <a:blipFill>
            <a:blip r:embed="rId12"/>
            <a:stretch>
              <a:fillRect l="0" t="0" r="0" b="-5814"/>
            </a:stretch>
          </a:blipFill>
        </p:spPr>
      </p:sp>
      <p:sp>
        <p:nvSpPr>
          <p:cNvPr name="TextBox 9" id="9"/>
          <p:cNvSpPr txBox="true"/>
          <p:nvPr/>
        </p:nvSpPr>
        <p:spPr>
          <a:xfrm rot="0">
            <a:off x="2471887" y="1905902"/>
            <a:ext cx="1267551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Different Search Strategies: Maze</a:t>
            </a:r>
          </a:p>
        </p:txBody>
      </p:sp>
      <p:sp>
        <p:nvSpPr>
          <p:cNvPr name="TextBox 10" id="10"/>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1" id="11"/>
          <p:cNvSpPr txBox="true"/>
          <p:nvPr/>
        </p:nvSpPr>
        <p:spPr>
          <a:xfrm rot="0">
            <a:off x="350479" y="3203896"/>
            <a:ext cx="13554367" cy="85661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vetica World Bold"/>
                <a:ea typeface="Helvetica World Bold"/>
                <a:cs typeface="Helvetica World Bold"/>
                <a:sym typeface="Helvetica World Bold"/>
              </a:rPr>
              <a:t>A* Search - Tìm kiếm tối ưu có Heuristic</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543365" y="4770485"/>
            <a:ext cx="15201269" cy="4461510"/>
          </a:xfrm>
          <a:prstGeom prst="rect">
            <a:avLst/>
          </a:prstGeom>
        </p:spPr>
        <p:txBody>
          <a:bodyPr anchor="t" rtlCol="false" tIns="0" lIns="0" bIns="0" rIns="0">
            <a:spAutoFit/>
          </a:bodyPr>
          <a:lstStyle/>
          <a:p>
            <a:pPr algn="just">
              <a:lnSpc>
                <a:spcPts val="5040"/>
              </a:lnSpc>
            </a:pPr>
            <a:r>
              <a:rPr lang="en-US" sz="3600">
                <a:solidFill>
                  <a:srgbClr val="000000"/>
                </a:solidFill>
                <a:latin typeface="Helios"/>
                <a:ea typeface="Helios"/>
                <a:cs typeface="Helios"/>
                <a:sym typeface="Helios"/>
              </a:rPr>
              <a:t>Ưu điểm:</a:t>
            </a:r>
          </a:p>
          <a:p>
            <a:pPr algn="just" marL="777240" indent="-388620" lvl="1">
              <a:lnSpc>
                <a:spcPts val="5040"/>
              </a:lnSpc>
              <a:buFont typeface="Arial"/>
              <a:buChar char="•"/>
            </a:pPr>
            <a:r>
              <a:rPr lang="en-US" sz="3600">
                <a:solidFill>
                  <a:srgbClr val="000000"/>
                </a:solidFill>
                <a:latin typeface="Helios"/>
                <a:ea typeface="Helios"/>
                <a:cs typeface="Helios"/>
                <a:sym typeface="Helios"/>
              </a:rPr>
              <a:t>Tối ưu hoàn chỉnh (tìm được đường đi ngắn nhất nếu h chấp nhận được</a:t>
            </a:r>
          </a:p>
          <a:p>
            <a:pPr algn="just" marL="777240" indent="-388620" lvl="1">
              <a:lnSpc>
                <a:spcPts val="5040"/>
              </a:lnSpc>
              <a:buFont typeface="Arial"/>
              <a:buChar char="•"/>
            </a:pPr>
            <a:r>
              <a:rPr lang="en-US" sz="3600">
                <a:solidFill>
                  <a:srgbClr val="000000"/>
                </a:solidFill>
                <a:latin typeface="Helios"/>
                <a:ea typeface="Helios"/>
                <a:cs typeface="Helios"/>
                <a:sym typeface="Helios"/>
              </a:rPr>
              <a:t>Hiệu quả hơn BFS trong nhiều trường hợp</a:t>
            </a:r>
          </a:p>
          <a:p>
            <a:pPr algn="just">
              <a:lnSpc>
                <a:spcPts val="5040"/>
              </a:lnSpc>
            </a:pPr>
            <a:r>
              <a:rPr lang="en-US" sz="3600">
                <a:solidFill>
                  <a:srgbClr val="000000"/>
                </a:solidFill>
                <a:latin typeface="Helios"/>
                <a:ea typeface="Helios"/>
                <a:cs typeface="Helios"/>
                <a:sym typeface="Helios"/>
              </a:rPr>
              <a:t>Nhược điểm:</a:t>
            </a:r>
          </a:p>
          <a:p>
            <a:pPr algn="just" marL="777240" indent="-388620" lvl="1">
              <a:lnSpc>
                <a:spcPts val="5040"/>
              </a:lnSpc>
              <a:buFont typeface="Arial"/>
              <a:buChar char="•"/>
            </a:pPr>
            <a:r>
              <a:rPr lang="en-US" sz="3600">
                <a:solidFill>
                  <a:srgbClr val="000000"/>
                </a:solidFill>
                <a:latin typeface="Helios"/>
                <a:ea typeface="Helios"/>
                <a:cs typeface="Helios"/>
                <a:sym typeface="Helios"/>
              </a:rPr>
              <a:t>Phức tạp hơn trong cài đặt</a:t>
            </a:r>
          </a:p>
          <a:p>
            <a:pPr algn="just" marL="777240" indent="-388620" lvl="1">
              <a:lnSpc>
                <a:spcPts val="5040"/>
              </a:lnSpc>
              <a:buFont typeface="Arial"/>
              <a:buChar char="•"/>
            </a:pPr>
            <a:r>
              <a:rPr lang="en-US" sz="3600">
                <a:solidFill>
                  <a:srgbClr val="000000"/>
                </a:solidFill>
                <a:latin typeface="Helios"/>
                <a:ea typeface="Helios"/>
                <a:cs typeface="Helios"/>
                <a:sym typeface="Helios"/>
              </a:rPr>
              <a:t>Tốn bộ nhớ hơn DFS</a:t>
            </a:r>
          </a:p>
        </p:txBody>
      </p:sp>
      <p:sp>
        <p:nvSpPr>
          <p:cNvPr name="TextBox 8" id="8"/>
          <p:cNvSpPr txBox="true"/>
          <p:nvPr/>
        </p:nvSpPr>
        <p:spPr>
          <a:xfrm rot="0">
            <a:off x="2471887" y="1905902"/>
            <a:ext cx="1267551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Different Search Strategies: Maze</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350479" y="3203896"/>
            <a:ext cx="13554367" cy="85661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vetica World Bold"/>
                <a:ea typeface="Helvetica World Bold"/>
                <a:cs typeface="Helvetica World Bold"/>
                <a:sym typeface="Helvetica World Bold"/>
              </a:rPr>
              <a:t>A* Search - Tìm kiếm tối ưu có Heuristic</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2976918" y="4537527"/>
            <a:ext cx="10692381" cy="3340293"/>
          </a:xfrm>
          <a:custGeom>
            <a:avLst/>
            <a:gdLst/>
            <a:ahLst/>
            <a:cxnLst/>
            <a:rect r="r" b="b" t="t" l="l"/>
            <a:pathLst>
              <a:path h="3340293" w="10692381">
                <a:moveTo>
                  <a:pt x="0" y="0"/>
                </a:moveTo>
                <a:lnTo>
                  <a:pt x="10692381" y="0"/>
                </a:lnTo>
                <a:lnTo>
                  <a:pt x="10692381" y="3340293"/>
                </a:lnTo>
                <a:lnTo>
                  <a:pt x="0" y="3340293"/>
                </a:lnTo>
                <a:lnTo>
                  <a:pt x="0" y="0"/>
                </a:lnTo>
                <a:close/>
              </a:path>
            </a:pathLst>
          </a:custGeom>
          <a:blipFill>
            <a:blip r:embed="rId12"/>
            <a:stretch>
              <a:fillRect l="0" t="0" r="0" b="0"/>
            </a:stretch>
          </a:blipFill>
        </p:spPr>
      </p:sp>
      <p:sp>
        <p:nvSpPr>
          <p:cNvPr name="TextBox 8" id="8"/>
          <p:cNvSpPr txBox="true"/>
          <p:nvPr/>
        </p:nvSpPr>
        <p:spPr>
          <a:xfrm rot="0">
            <a:off x="2471887" y="1905902"/>
            <a:ext cx="1267551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Different Search Strategies: Maze</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350479" y="3203896"/>
            <a:ext cx="13554367" cy="85661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vetica World Bold"/>
                <a:ea typeface="Helvetica World Bold"/>
                <a:cs typeface="Helvetica World Bold"/>
                <a:sym typeface="Helvetica World Bold"/>
              </a:rPr>
              <a:t>A* Search - Tìm kiếm tối ưu có Heuristic</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4016050" y="4535580"/>
            <a:ext cx="10255900" cy="2301521"/>
          </a:xfrm>
          <a:custGeom>
            <a:avLst/>
            <a:gdLst/>
            <a:ahLst/>
            <a:cxnLst/>
            <a:rect r="r" b="b" t="t" l="l"/>
            <a:pathLst>
              <a:path h="2301521" w="10255900">
                <a:moveTo>
                  <a:pt x="0" y="0"/>
                </a:moveTo>
                <a:lnTo>
                  <a:pt x="10255900" y="0"/>
                </a:lnTo>
                <a:lnTo>
                  <a:pt x="10255900" y="2301521"/>
                </a:lnTo>
                <a:lnTo>
                  <a:pt x="0" y="2301521"/>
                </a:lnTo>
                <a:lnTo>
                  <a:pt x="0" y="0"/>
                </a:lnTo>
                <a:close/>
              </a:path>
            </a:pathLst>
          </a:custGeom>
          <a:blipFill>
            <a:blip r:embed="rId12"/>
            <a:stretch>
              <a:fillRect l="0" t="0" r="0" b="0"/>
            </a:stretch>
          </a:blipFill>
        </p:spPr>
      </p:sp>
      <p:sp>
        <p:nvSpPr>
          <p:cNvPr name="TextBox 8" id="8"/>
          <p:cNvSpPr txBox="true"/>
          <p:nvPr/>
        </p:nvSpPr>
        <p:spPr>
          <a:xfrm rot="0">
            <a:off x="2471887" y="1905902"/>
            <a:ext cx="1267551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Different Search Strategies: Maze</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350479" y="3203896"/>
            <a:ext cx="13554367" cy="85661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vetica World Bold"/>
                <a:ea typeface="Helvetica World Bold"/>
                <a:cs typeface="Helvetica World Bold"/>
                <a:sym typeface="Helvetica World Bold"/>
              </a:rPr>
              <a:t>A* Search - Tìm kiếm tối ưu có Heuristic</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5811022" y="4060513"/>
            <a:ext cx="5787258" cy="5678293"/>
          </a:xfrm>
          <a:custGeom>
            <a:avLst/>
            <a:gdLst/>
            <a:ahLst/>
            <a:cxnLst/>
            <a:rect r="r" b="b" t="t" l="l"/>
            <a:pathLst>
              <a:path h="5678293" w="5787258">
                <a:moveTo>
                  <a:pt x="0" y="0"/>
                </a:moveTo>
                <a:lnTo>
                  <a:pt x="5787258" y="0"/>
                </a:lnTo>
                <a:lnTo>
                  <a:pt x="5787258" y="5678293"/>
                </a:lnTo>
                <a:lnTo>
                  <a:pt x="0" y="5678293"/>
                </a:lnTo>
                <a:lnTo>
                  <a:pt x="0" y="0"/>
                </a:lnTo>
                <a:close/>
              </a:path>
            </a:pathLst>
          </a:custGeom>
          <a:blipFill>
            <a:blip r:embed="rId12"/>
            <a:stretch>
              <a:fillRect l="0" t="0" r="0" b="0"/>
            </a:stretch>
          </a:blipFill>
        </p:spPr>
      </p:sp>
      <p:sp>
        <p:nvSpPr>
          <p:cNvPr name="TextBox 8" id="8"/>
          <p:cNvSpPr txBox="true"/>
          <p:nvPr/>
        </p:nvSpPr>
        <p:spPr>
          <a:xfrm rot="0">
            <a:off x="2471887" y="1905902"/>
            <a:ext cx="1267551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Different Search Strategies: Maze</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350479" y="3203896"/>
            <a:ext cx="13554367" cy="85661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vetica World Bold"/>
                <a:ea typeface="Helvetica World Bold"/>
                <a:cs typeface="Helvetica World Bold"/>
                <a:sym typeface="Helvetica World Bold"/>
              </a:rPr>
              <a:t>A* Search - Tìm kiếm tối ưu có Heuristic</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543365" y="4770485"/>
            <a:ext cx="15201269" cy="3185160"/>
          </a:xfrm>
          <a:prstGeom prst="rect">
            <a:avLst/>
          </a:prstGeom>
        </p:spPr>
        <p:txBody>
          <a:bodyPr anchor="t" rtlCol="false" tIns="0" lIns="0" bIns="0" rIns="0">
            <a:spAutoFit/>
          </a:bodyPr>
          <a:lstStyle/>
          <a:p>
            <a:pPr algn="just">
              <a:lnSpc>
                <a:spcPts val="5040"/>
              </a:lnSpc>
            </a:pPr>
            <a:r>
              <a:rPr lang="en-US" sz="3600" b="true">
                <a:solidFill>
                  <a:srgbClr val="000000"/>
                </a:solidFill>
                <a:latin typeface="Helios Bold"/>
                <a:ea typeface="Helios Bold"/>
                <a:cs typeface="Helios Bold"/>
                <a:sym typeface="Helios Bold"/>
              </a:rPr>
              <a:t>BFS</a:t>
            </a:r>
          </a:p>
          <a:p>
            <a:pPr algn="just">
              <a:lnSpc>
                <a:spcPts val="5040"/>
              </a:lnSpc>
            </a:pPr>
            <a:r>
              <a:rPr lang="en-US" sz="3600">
                <a:solidFill>
                  <a:srgbClr val="000000"/>
                </a:solidFill>
                <a:latin typeface="Helios"/>
                <a:ea typeface="Helios"/>
                <a:cs typeface="Helios"/>
                <a:sym typeface="Helios"/>
              </a:rPr>
              <a:t>Là thuật toán tìm kiếm không thông tin (uninformed search), mở rộng tìm kiếm theo lớp (concentric circles) từ điểm bắt đầu cho đến khi tìm thấy mục tiêu. Nó đảm bảo tính tôi ưu (optimal) nhưng có thể tốn nhiều bộ nhớ và thời gian do khám phá nhiều trạng thái</a:t>
            </a:r>
          </a:p>
        </p:txBody>
      </p:sp>
      <p:sp>
        <p:nvSpPr>
          <p:cNvPr name="TextBox 8" id="8"/>
          <p:cNvSpPr txBox="true"/>
          <p:nvPr/>
        </p:nvSpPr>
        <p:spPr>
          <a:xfrm rot="0">
            <a:off x="4513512" y="1905902"/>
            <a:ext cx="859226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BFS and A* Search</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1575571" y="3203896"/>
            <a:ext cx="12329275" cy="856617"/>
          </a:xfrm>
          <a:prstGeom prst="rect">
            <a:avLst/>
          </a:prstGeom>
        </p:spPr>
        <p:txBody>
          <a:bodyPr anchor="t" rtlCol="false" tIns="0" lIns="0" bIns="0" rIns="0">
            <a:spAutoFit/>
          </a:bodyPr>
          <a:lstStyle/>
          <a:p>
            <a:pPr algn="l">
              <a:lnSpc>
                <a:spcPts val="6439"/>
              </a:lnSpc>
              <a:spcBef>
                <a:spcPct val="0"/>
              </a:spcBef>
            </a:pPr>
            <a:r>
              <a:rPr lang="en-US" b="true" sz="4599">
                <a:solidFill>
                  <a:srgbClr val="000000"/>
                </a:solidFill>
                <a:latin typeface="Helvetica World Bold"/>
                <a:ea typeface="Helvetica World Bold"/>
                <a:cs typeface="Helvetica World Bold"/>
                <a:sym typeface="Helvetica World Bold"/>
              </a:rPr>
              <a:t>Giới thiệu</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543365" y="4380478"/>
            <a:ext cx="15201269" cy="3185160"/>
          </a:xfrm>
          <a:prstGeom prst="rect">
            <a:avLst/>
          </a:prstGeom>
        </p:spPr>
        <p:txBody>
          <a:bodyPr anchor="t" rtlCol="false" tIns="0" lIns="0" bIns="0" rIns="0">
            <a:spAutoFit/>
          </a:bodyPr>
          <a:lstStyle/>
          <a:p>
            <a:pPr algn="just">
              <a:lnSpc>
                <a:spcPts val="5040"/>
              </a:lnSpc>
            </a:pPr>
            <a:r>
              <a:rPr lang="en-US" sz="3600" b="true">
                <a:solidFill>
                  <a:srgbClr val="000000"/>
                </a:solidFill>
                <a:latin typeface="Helios Bold"/>
                <a:ea typeface="Helios Bold"/>
                <a:cs typeface="Helios Bold"/>
                <a:sym typeface="Helios Bold"/>
              </a:rPr>
              <a:t>A*</a:t>
            </a:r>
          </a:p>
          <a:p>
            <a:pPr algn="just">
              <a:lnSpc>
                <a:spcPts val="5040"/>
              </a:lnSpc>
            </a:pPr>
            <a:r>
              <a:rPr lang="en-US" sz="3600">
                <a:solidFill>
                  <a:srgbClr val="000000"/>
                </a:solidFill>
                <a:latin typeface="Helios"/>
                <a:ea typeface="Helios"/>
                <a:cs typeface="Helios"/>
                <a:sym typeface="Helios"/>
              </a:rPr>
              <a:t>Là thuật toán tìm kiếm có thông tin (informed search), sử dụng hàm heuristic để ước lượng khoảng cách đến mục tiêu, giúp tận dụng vào các đường đi tiềm năng hơn. Nó cũng tối ưu nếu heuristic là admissible (không ước lượng quá cao)</a:t>
            </a:r>
          </a:p>
        </p:txBody>
      </p:sp>
      <p:sp>
        <p:nvSpPr>
          <p:cNvPr name="TextBox 8" id="8"/>
          <p:cNvSpPr txBox="true"/>
          <p:nvPr/>
        </p:nvSpPr>
        <p:spPr>
          <a:xfrm rot="0">
            <a:off x="4513512" y="1905902"/>
            <a:ext cx="859226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BFS and A* Search</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1575571" y="3203896"/>
            <a:ext cx="12329275" cy="856617"/>
          </a:xfrm>
          <a:prstGeom prst="rect">
            <a:avLst/>
          </a:prstGeom>
        </p:spPr>
        <p:txBody>
          <a:bodyPr anchor="t" rtlCol="false" tIns="0" lIns="0" bIns="0" rIns="0">
            <a:spAutoFit/>
          </a:bodyPr>
          <a:lstStyle/>
          <a:p>
            <a:pPr algn="l">
              <a:lnSpc>
                <a:spcPts val="6439"/>
              </a:lnSpc>
              <a:spcBef>
                <a:spcPct val="0"/>
              </a:spcBef>
            </a:pPr>
            <a:r>
              <a:rPr lang="en-US" b="true" sz="4599">
                <a:solidFill>
                  <a:srgbClr val="000000"/>
                </a:solidFill>
                <a:latin typeface="Helvetica World Bold"/>
                <a:ea typeface="Helvetica World Bold"/>
                <a:cs typeface="Helvetica World Bold"/>
                <a:sym typeface="Helvetica World Bold"/>
              </a:rPr>
              <a:t>Giới thiệu</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575571" y="3993838"/>
            <a:ext cx="12719213" cy="5863880"/>
          </a:xfrm>
          <a:prstGeom prst="rect">
            <a:avLst/>
          </a:prstGeom>
        </p:spPr>
        <p:txBody>
          <a:bodyPr anchor="t" rtlCol="false" tIns="0" lIns="0" bIns="0" rIns="0">
            <a:spAutoFit/>
          </a:bodyPr>
          <a:lstStyle/>
          <a:p>
            <a:pPr algn="just">
              <a:lnSpc>
                <a:spcPts val="4217"/>
              </a:lnSpc>
            </a:pPr>
            <a:r>
              <a:rPr lang="en-US" sz="3012">
                <a:solidFill>
                  <a:srgbClr val="000000"/>
                </a:solidFill>
                <a:latin typeface="Helios"/>
                <a:ea typeface="Helios"/>
                <a:cs typeface="Helios"/>
                <a:sym typeface="Helios"/>
              </a:rPr>
              <a:t>Hàm animation:</a:t>
            </a:r>
          </a:p>
          <a:p>
            <a:pPr algn="just">
              <a:lnSpc>
                <a:spcPts val="4217"/>
              </a:lnSpc>
            </a:pPr>
            <a:r>
              <a:rPr lang="en-US" sz="3012">
                <a:solidFill>
                  <a:srgbClr val="000000"/>
                </a:solidFill>
                <a:latin typeface="Helios"/>
                <a:ea typeface="Helios"/>
                <a:cs typeface="Helios"/>
                <a:sym typeface="Helios"/>
              </a:rPr>
              <a:t>o  Sử dụng matplotlib.animation để tạo video từ danh sách mê cung (maze_anim).</a:t>
            </a:r>
          </a:p>
          <a:p>
            <a:pPr algn="just">
              <a:lnSpc>
                <a:spcPts val="4217"/>
              </a:lnSpc>
            </a:pPr>
            <a:r>
              <a:rPr lang="en-US" sz="3012">
                <a:solidFill>
                  <a:srgbClr val="000000"/>
                </a:solidFill>
                <a:latin typeface="Helios"/>
                <a:ea typeface="Helios"/>
                <a:cs typeface="Helios"/>
                <a:sym typeface="Helios"/>
              </a:rPr>
              <a:t>o  Phân tích: chuyển mê cung thành ma trận số (0: trống, 1: tường, 2: S, 3: G, 4: vị trí, 5: đã khám phá, 6: biên giới). Sử dụng colormap để hiển thị màu sắc (trắng, đen, xanh, xanh lá, đỏ, xám, cam).</a:t>
            </a:r>
          </a:p>
          <a:p>
            <a:pPr algn="just">
              <a:lnSpc>
                <a:spcPts val="4217"/>
              </a:lnSpc>
            </a:pPr>
            <a:r>
              <a:rPr lang="en-US" sz="3012">
                <a:solidFill>
                  <a:srgbClr val="000000"/>
                </a:solidFill>
                <a:latin typeface="Helios"/>
                <a:ea typeface="Helios"/>
                <a:cs typeface="Helios"/>
                <a:sym typeface="Helios"/>
              </a:rPr>
              <a:t>o  Tạo animation với từng frame là một trạng thái mê cung, giúp visualize quá trình mở rộng.</a:t>
            </a:r>
          </a:p>
          <a:p>
            <a:pPr algn="just">
              <a:lnSpc>
                <a:spcPts val="4217"/>
              </a:lnSpc>
            </a:pPr>
            <a:r>
              <a:rPr lang="en-US" sz="3012">
                <a:solidFill>
                  <a:srgbClr val="000000"/>
                </a:solidFill>
                <a:latin typeface="Helios"/>
                <a:ea typeface="Helios"/>
                <a:cs typeface="Helios"/>
                <a:sym typeface="Helios"/>
              </a:rPr>
              <a:t>o  Ưu điểm: Dễ quan sát sự khác biệt giữa BFS (mở rộng) và A* (mở rộng hướng mục tiêu). Nhược điểm: không nhúng được và DFS.</a:t>
            </a:r>
          </a:p>
          <a:p>
            <a:pPr algn="just">
              <a:lnSpc>
                <a:spcPts val="4217"/>
              </a:lnSpc>
            </a:pPr>
          </a:p>
        </p:txBody>
      </p:sp>
      <p:sp>
        <p:nvSpPr>
          <p:cNvPr name="TextBox 8" id="8"/>
          <p:cNvSpPr txBox="true"/>
          <p:nvPr/>
        </p:nvSpPr>
        <p:spPr>
          <a:xfrm rot="0">
            <a:off x="4513512" y="1905902"/>
            <a:ext cx="859226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BFS and A* Search</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1575571" y="3203896"/>
            <a:ext cx="12329275" cy="856617"/>
          </a:xfrm>
          <a:prstGeom prst="rect">
            <a:avLst/>
          </a:prstGeom>
        </p:spPr>
        <p:txBody>
          <a:bodyPr anchor="t" rtlCol="false" tIns="0" lIns="0" bIns="0" rIns="0">
            <a:spAutoFit/>
          </a:bodyPr>
          <a:lstStyle/>
          <a:p>
            <a:pPr algn="l">
              <a:lnSpc>
                <a:spcPts val="6439"/>
              </a:lnSpc>
              <a:spcBef>
                <a:spcPct val="0"/>
              </a:spcBef>
            </a:pPr>
            <a:r>
              <a:rPr lang="en-US" b="true" sz="4599">
                <a:solidFill>
                  <a:srgbClr val="000000"/>
                </a:solidFill>
                <a:latin typeface="Helvetica World Bold"/>
                <a:ea typeface="Helvetica World Bold"/>
                <a:cs typeface="Helvetica World Bold"/>
                <a:sym typeface="Helvetica World Bold"/>
              </a:rPr>
              <a:t>Phương pháp thực hiện</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747289" y="4738201"/>
            <a:ext cx="13726127" cy="2298618"/>
          </a:xfrm>
          <a:prstGeom prst="rect">
            <a:avLst/>
          </a:prstGeom>
        </p:spPr>
        <p:txBody>
          <a:bodyPr anchor="t" rtlCol="false" tIns="0" lIns="0" bIns="0" rIns="0">
            <a:spAutoFit/>
          </a:bodyPr>
          <a:lstStyle/>
          <a:p>
            <a:pPr algn="just">
              <a:lnSpc>
                <a:spcPts val="4550"/>
              </a:lnSpc>
            </a:pPr>
            <a:r>
              <a:rPr lang="en-US" sz="3250">
                <a:solidFill>
                  <a:srgbClr val="000000"/>
                </a:solidFill>
                <a:latin typeface="Helios"/>
                <a:ea typeface="Helios"/>
                <a:cs typeface="Helios"/>
                <a:sym typeface="Helios"/>
              </a:rPr>
              <a:t>Các hàm phụ:</a:t>
            </a:r>
          </a:p>
          <a:p>
            <a:pPr algn="just">
              <a:lnSpc>
                <a:spcPts val="4550"/>
              </a:lnSpc>
            </a:pPr>
            <a:r>
              <a:rPr lang="en-US" sz="3250">
                <a:solidFill>
                  <a:srgbClr val="000000"/>
                </a:solidFill>
                <a:latin typeface="Helios"/>
                <a:ea typeface="Helios"/>
                <a:cs typeface="Helios"/>
                <a:sym typeface="Helios"/>
              </a:rPr>
              <a:t>o  `maze_to_matrix(maze)`: chuyển mê cung thành ma trận số để vẽ.</a:t>
            </a:r>
          </a:p>
          <a:p>
            <a:pPr algn="just">
              <a:lnSpc>
                <a:spcPts val="4550"/>
              </a:lnSpc>
            </a:pPr>
            <a:r>
              <a:rPr lang="en-US" sz="3250">
                <a:solidFill>
                  <a:srgbClr val="000000"/>
                </a:solidFill>
                <a:latin typeface="Helios"/>
                <a:ea typeface="Helios"/>
                <a:cs typeface="Helios"/>
                <a:sym typeface="Helios"/>
              </a:rPr>
              <a:t>o  `find_pos(maze, char)`: tìm vị trí của ký tự (S hoặc G).</a:t>
            </a:r>
          </a:p>
          <a:p>
            <a:pPr algn="just">
              <a:lnSpc>
                <a:spcPts val="4550"/>
              </a:lnSpc>
            </a:pPr>
          </a:p>
        </p:txBody>
      </p:sp>
      <p:sp>
        <p:nvSpPr>
          <p:cNvPr name="TextBox 8" id="8"/>
          <p:cNvSpPr txBox="true"/>
          <p:nvPr/>
        </p:nvSpPr>
        <p:spPr>
          <a:xfrm rot="0">
            <a:off x="4513512" y="1905902"/>
            <a:ext cx="859226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BFS and A* Search</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1575571" y="3203896"/>
            <a:ext cx="12329275" cy="856617"/>
          </a:xfrm>
          <a:prstGeom prst="rect">
            <a:avLst/>
          </a:prstGeom>
        </p:spPr>
        <p:txBody>
          <a:bodyPr anchor="t" rtlCol="false" tIns="0" lIns="0" bIns="0" rIns="0">
            <a:spAutoFit/>
          </a:bodyPr>
          <a:lstStyle/>
          <a:p>
            <a:pPr algn="l">
              <a:lnSpc>
                <a:spcPts val="6439"/>
              </a:lnSpc>
              <a:spcBef>
                <a:spcPct val="0"/>
              </a:spcBef>
            </a:pPr>
            <a:r>
              <a:rPr lang="en-US" b="true" sz="4599">
                <a:solidFill>
                  <a:srgbClr val="000000"/>
                </a:solidFill>
                <a:latin typeface="Helvetica World Bold"/>
                <a:ea typeface="Helvetica World Bold"/>
                <a:cs typeface="Helvetica World Bold"/>
                <a:sym typeface="Helvetica World Bold"/>
              </a:rPr>
              <a:t>Phương pháp thực hiện</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575571" y="4427402"/>
            <a:ext cx="15916762" cy="3185160"/>
          </a:xfrm>
          <a:prstGeom prst="rect">
            <a:avLst/>
          </a:prstGeom>
        </p:spPr>
        <p:txBody>
          <a:bodyPr anchor="t" rtlCol="false" tIns="0" lIns="0" bIns="0" rIns="0">
            <a:spAutoFit/>
          </a:bodyPr>
          <a:lstStyle/>
          <a:p>
            <a:pPr algn="just">
              <a:lnSpc>
                <a:spcPts val="5040"/>
              </a:lnSpc>
            </a:pPr>
            <a:r>
              <a:rPr lang="en-US" sz="3600">
                <a:solidFill>
                  <a:srgbClr val="000000"/>
                </a:solidFill>
                <a:latin typeface="Helios"/>
                <a:ea typeface="Helios"/>
                <a:cs typeface="Helios"/>
                <a:sym typeface="Helios"/>
              </a:rPr>
              <a:t>·      Chạy `%time` để đo thời gian.</a:t>
            </a:r>
          </a:p>
          <a:p>
            <a:pPr algn="just">
              <a:lnSpc>
                <a:spcPts val="5040"/>
              </a:lnSpc>
            </a:pPr>
            <a:r>
              <a:rPr lang="en-US" sz="3600">
                <a:solidFill>
                  <a:srgbClr val="000000"/>
                </a:solidFill>
                <a:latin typeface="Helios"/>
                <a:ea typeface="Helios"/>
                <a:cs typeface="Helios"/>
                <a:sym typeface="Helios"/>
              </a:rPr>
              <a:t>·      Mê cung: “L_maze.txt” (mê cung hình L, chỉ có một giải pháp duy nhất).</a:t>
            </a:r>
          </a:p>
          <a:p>
            <a:pPr algn="just">
              <a:lnSpc>
                <a:spcPts val="5040"/>
              </a:lnSpc>
            </a:pPr>
            <a:r>
              <a:rPr lang="en-US" sz="3600">
                <a:solidFill>
                  <a:srgbClr val="000000"/>
                </a:solidFill>
                <a:latin typeface="Helios"/>
                <a:ea typeface="Helios"/>
                <a:cs typeface="Helios"/>
                <a:sym typeface="Helios"/>
              </a:rPr>
              <a:t>·      Kết quả được hiển thị ma animation và các chỉ số: độ dài đường đi, số ô khám phá chuỗi hành động.</a:t>
            </a:r>
          </a:p>
          <a:p>
            <a:pPr algn="just">
              <a:lnSpc>
                <a:spcPts val="5040"/>
              </a:lnSpc>
            </a:pPr>
          </a:p>
        </p:txBody>
      </p:sp>
      <p:sp>
        <p:nvSpPr>
          <p:cNvPr name="TextBox 8" id="8"/>
          <p:cNvSpPr txBox="true"/>
          <p:nvPr/>
        </p:nvSpPr>
        <p:spPr>
          <a:xfrm rot="0">
            <a:off x="4513512" y="1905902"/>
            <a:ext cx="859226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BFS and A* Search</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1575571" y="3203896"/>
            <a:ext cx="12329275" cy="856617"/>
          </a:xfrm>
          <a:prstGeom prst="rect">
            <a:avLst/>
          </a:prstGeom>
        </p:spPr>
        <p:txBody>
          <a:bodyPr anchor="t" rtlCol="false" tIns="0" lIns="0" bIns="0" rIns="0">
            <a:spAutoFit/>
          </a:bodyPr>
          <a:lstStyle/>
          <a:p>
            <a:pPr algn="l">
              <a:lnSpc>
                <a:spcPts val="6439"/>
              </a:lnSpc>
              <a:spcBef>
                <a:spcPct val="0"/>
              </a:spcBef>
            </a:pPr>
            <a:r>
              <a:rPr lang="en-US" b="true" sz="4599">
                <a:solidFill>
                  <a:srgbClr val="000000"/>
                </a:solidFill>
                <a:latin typeface="Helvetica World Bold"/>
                <a:ea typeface="Helvetica World Bold"/>
                <a:cs typeface="Helvetica World Bold"/>
                <a:sym typeface="Helvetica World Bold"/>
              </a:rPr>
              <a:t>Thực thi</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782462" y="5244577"/>
            <a:ext cx="12621205" cy="1926193"/>
          </a:xfrm>
          <a:custGeom>
            <a:avLst/>
            <a:gdLst/>
            <a:ahLst/>
            <a:cxnLst/>
            <a:rect r="r" b="b" t="t" l="l"/>
            <a:pathLst>
              <a:path h="1926193" w="12621205">
                <a:moveTo>
                  <a:pt x="0" y="0"/>
                </a:moveTo>
                <a:lnTo>
                  <a:pt x="12621206" y="0"/>
                </a:lnTo>
                <a:lnTo>
                  <a:pt x="12621206" y="1926193"/>
                </a:lnTo>
                <a:lnTo>
                  <a:pt x="0" y="1926193"/>
                </a:lnTo>
                <a:lnTo>
                  <a:pt x="0" y="0"/>
                </a:lnTo>
                <a:close/>
              </a:path>
            </a:pathLst>
          </a:custGeom>
          <a:blipFill>
            <a:blip r:embed="rId12"/>
            <a:stretch>
              <a:fillRect l="0" t="0" r="0" b="-3209"/>
            </a:stretch>
          </a:blipFill>
        </p:spPr>
      </p:sp>
      <p:sp>
        <p:nvSpPr>
          <p:cNvPr name="TextBox 8" id="8"/>
          <p:cNvSpPr txBox="true"/>
          <p:nvPr/>
        </p:nvSpPr>
        <p:spPr>
          <a:xfrm rot="0">
            <a:off x="1575571" y="4427402"/>
            <a:ext cx="15916762" cy="1270635"/>
          </a:xfrm>
          <a:prstGeom prst="rect">
            <a:avLst/>
          </a:prstGeom>
        </p:spPr>
        <p:txBody>
          <a:bodyPr anchor="t" rtlCol="false" tIns="0" lIns="0" bIns="0" rIns="0">
            <a:spAutoFit/>
          </a:bodyPr>
          <a:lstStyle/>
          <a:p>
            <a:pPr algn="just">
              <a:lnSpc>
                <a:spcPts val="5040"/>
              </a:lnSpc>
            </a:pPr>
            <a:r>
              <a:rPr lang="en-US" sz="3600" b="true">
                <a:solidFill>
                  <a:srgbClr val="000000"/>
                </a:solidFill>
                <a:latin typeface="Helios Bold"/>
                <a:ea typeface="Helios Bold"/>
                <a:cs typeface="Helios Bold"/>
                <a:sym typeface="Helios Bold"/>
              </a:rPr>
              <a:t>BFS</a:t>
            </a:r>
          </a:p>
          <a:p>
            <a:pPr algn="just">
              <a:lnSpc>
                <a:spcPts val="5040"/>
              </a:lnSpc>
            </a:pPr>
          </a:p>
        </p:txBody>
      </p:sp>
      <p:sp>
        <p:nvSpPr>
          <p:cNvPr name="TextBox 9" id="9"/>
          <p:cNvSpPr txBox="true"/>
          <p:nvPr/>
        </p:nvSpPr>
        <p:spPr>
          <a:xfrm rot="0">
            <a:off x="4513512" y="1905902"/>
            <a:ext cx="859226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BFS and A* Search</a:t>
            </a:r>
          </a:p>
        </p:txBody>
      </p:sp>
      <p:sp>
        <p:nvSpPr>
          <p:cNvPr name="TextBox 10" id="10"/>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1" id="11"/>
          <p:cNvSpPr txBox="true"/>
          <p:nvPr/>
        </p:nvSpPr>
        <p:spPr>
          <a:xfrm rot="0">
            <a:off x="1575571" y="3203896"/>
            <a:ext cx="12329275" cy="856617"/>
          </a:xfrm>
          <a:prstGeom prst="rect">
            <a:avLst/>
          </a:prstGeom>
        </p:spPr>
        <p:txBody>
          <a:bodyPr anchor="t" rtlCol="false" tIns="0" lIns="0" bIns="0" rIns="0">
            <a:spAutoFit/>
          </a:bodyPr>
          <a:lstStyle/>
          <a:p>
            <a:pPr algn="l">
              <a:lnSpc>
                <a:spcPts val="6439"/>
              </a:lnSpc>
              <a:spcBef>
                <a:spcPct val="0"/>
              </a:spcBef>
            </a:pPr>
            <a:r>
              <a:rPr lang="en-US" b="true" sz="4599">
                <a:solidFill>
                  <a:srgbClr val="000000"/>
                </a:solidFill>
                <a:latin typeface="Helvetica World Bold"/>
                <a:ea typeface="Helvetica World Bold"/>
                <a:cs typeface="Helvetica World Bold"/>
                <a:sym typeface="Helvetica World Bold"/>
              </a:rPr>
              <a:t>Kết quả thực thi</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575571" y="4427402"/>
            <a:ext cx="15916762" cy="1270635"/>
          </a:xfrm>
          <a:prstGeom prst="rect">
            <a:avLst/>
          </a:prstGeom>
        </p:spPr>
        <p:txBody>
          <a:bodyPr anchor="t" rtlCol="false" tIns="0" lIns="0" bIns="0" rIns="0">
            <a:spAutoFit/>
          </a:bodyPr>
          <a:lstStyle/>
          <a:p>
            <a:pPr algn="just">
              <a:lnSpc>
                <a:spcPts val="5040"/>
              </a:lnSpc>
            </a:pPr>
            <a:r>
              <a:rPr lang="en-US" sz="3600" b="true">
                <a:solidFill>
                  <a:srgbClr val="000000"/>
                </a:solidFill>
                <a:latin typeface="Helios Bold"/>
                <a:ea typeface="Helios Bold"/>
                <a:cs typeface="Helios Bold"/>
                <a:sym typeface="Helios Bold"/>
              </a:rPr>
              <a:t>A*</a:t>
            </a:r>
          </a:p>
          <a:p>
            <a:pPr algn="just">
              <a:lnSpc>
                <a:spcPts val="5040"/>
              </a:lnSpc>
            </a:pPr>
          </a:p>
        </p:txBody>
      </p:sp>
      <p:sp>
        <p:nvSpPr>
          <p:cNvPr name="Freeform 8" id="8"/>
          <p:cNvSpPr/>
          <p:nvPr/>
        </p:nvSpPr>
        <p:spPr>
          <a:xfrm flipH="false" flipV="false" rot="0">
            <a:off x="1575571" y="5315217"/>
            <a:ext cx="10819002" cy="1517299"/>
          </a:xfrm>
          <a:custGeom>
            <a:avLst/>
            <a:gdLst/>
            <a:ahLst/>
            <a:cxnLst/>
            <a:rect r="r" b="b" t="t" l="l"/>
            <a:pathLst>
              <a:path h="1517299" w="10819002">
                <a:moveTo>
                  <a:pt x="0" y="0"/>
                </a:moveTo>
                <a:lnTo>
                  <a:pt x="10819002" y="0"/>
                </a:lnTo>
                <a:lnTo>
                  <a:pt x="10819002" y="1517299"/>
                </a:lnTo>
                <a:lnTo>
                  <a:pt x="0" y="1517299"/>
                </a:lnTo>
                <a:lnTo>
                  <a:pt x="0" y="0"/>
                </a:lnTo>
                <a:close/>
              </a:path>
            </a:pathLst>
          </a:custGeom>
          <a:blipFill>
            <a:blip r:embed="rId12"/>
            <a:stretch>
              <a:fillRect l="0" t="0" r="0" b="0"/>
            </a:stretch>
          </a:blipFill>
        </p:spPr>
      </p:sp>
      <p:sp>
        <p:nvSpPr>
          <p:cNvPr name="TextBox 9" id="9"/>
          <p:cNvSpPr txBox="true"/>
          <p:nvPr/>
        </p:nvSpPr>
        <p:spPr>
          <a:xfrm rot="0">
            <a:off x="4513512" y="1905902"/>
            <a:ext cx="859226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BFS and A* Search</a:t>
            </a:r>
          </a:p>
        </p:txBody>
      </p:sp>
      <p:sp>
        <p:nvSpPr>
          <p:cNvPr name="TextBox 10" id="10"/>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1" id="11"/>
          <p:cNvSpPr txBox="true"/>
          <p:nvPr/>
        </p:nvSpPr>
        <p:spPr>
          <a:xfrm rot="0">
            <a:off x="1575571" y="3203896"/>
            <a:ext cx="12329275" cy="856617"/>
          </a:xfrm>
          <a:prstGeom prst="rect">
            <a:avLst/>
          </a:prstGeom>
        </p:spPr>
        <p:txBody>
          <a:bodyPr anchor="t" rtlCol="false" tIns="0" lIns="0" bIns="0" rIns="0">
            <a:spAutoFit/>
          </a:bodyPr>
          <a:lstStyle/>
          <a:p>
            <a:pPr algn="l">
              <a:lnSpc>
                <a:spcPts val="6439"/>
              </a:lnSpc>
              <a:spcBef>
                <a:spcPct val="0"/>
              </a:spcBef>
            </a:pPr>
            <a:r>
              <a:rPr lang="en-US" b="true" sz="4599">
                <a:solidFill>
                  <a:srgbClr val="000000"/>
                </a:solidFill>
                <a:latin typeface="Helvetica World Bold"/>
                <a:ea typeface="Helvetica World Bold"/>
                <a:cs typeface="Helvetica World Bold"/>
                <a:sym typeface="Helvetica World Bold"/>
              </a:rPr>
              <a:t>Kết quả thực thi</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575571" y="4746489"/>
            <a:ext cx="15916762" cy="3185160"/>
          </a:xfrm>
          <a:prstGeom prst="rect">
            <a:avLst/>
          </a:prstGeom>
        </p:spPr>
        <p:txBody>
          <a:bodyPr anchor="t" rtlCol="false" tIns="0" lIns="0" bIns="0" rIns="0">
            <a:spAutoFit/>
          </a:bodyPr>
          <a:lstStyle/>
          <a:p>
            <a:pPr algn="just">
              <a:lnSpc>
                <a:spcPts val="5040"/>
              </a:lnSpc>
            </a:pPr>
            <a:r>
              <a:rPr lang="en-US" sz="3600" b="true">
                <a:solidFill>
                  <a:srgbClr val="000000"/>
                </a:solidFill>
                <a:latin typeface="Helios Bold"/>
                <a:ea typeface="Helios Bold"/>
                <a:cs typeface="Helios Bold"/>
                <a:sym typeface="Helios Bold"/>
              </a:rPr>
              <a:t>Hiệu suất</a:t>
            </a:r>
          </a:p>
          <a:p>
            <a:pPr algn="just" marL="777240" indent="-388620" lvl="1">
              <a:lnSpc>
                <a:spcPts val="5040"/>
              </a:lnSpc>
              <a:buFont typeface="Arial"/>
              <a:buChar char="•"/>
            </a:pPr>
            <a:r>
              <a:rPr lang="en-US" sz="3600">
                <a:solidFill>
                  <a:srgbClr val="000000"/>
                </a:solidFill>
                <a:latin typeface="Helios"/>
                <a:ea typeface="Helios"/>
                <a:cs typeface="Helios"/>
                <a:sym typeface="Helios"/>
              </a:rPr>
              <a:t>Khám phá 142 trạng thái (bao gồm frontier), tốn thời gian và bộ nhớ do không có thông tin hướng dẫn</a:t>
            </a:r>
          </a:p>
          <a:p>
            <a:pPr algn="just" marL="777240" indent="-388620" lvl="1">
              <a:lnSpc>
                <a:spcPts val="5040"/>
              </a:lnSpc>
              <a:buFont typeface="Arial"/>
              <a:buChar char="•"/>
            </a:pPr>
            <a:r>
              <a:rPr lang="en-US" sz="3600">
                <a:solidFill>
                  <a:srgbClr val="000000"/>
                </a:solidFill>
                <a:latin typeface="Helios"/>
                <a:ea typeface="Helios"/>
                <a:cs typeface="Helios"/>
                <a:sym typeface="Helios"/>
              </a:rPr>
              <a:t>A* chỉ có 42 trạng thái, nhanh hơn vì ưu tiên nút có f(n) = g(n) + h(n) thấp nhất. Tiết kiệm bộ nhớ nhờ cây nhỏ hơn</a:t>
            </a:r>
          </a:p>
        </p:txBody>
      </p:sp>
      <p:sp>
        <p:nvSpPr>
          <p:cNvPr name="TextBox 8" id="8"/>
          <p:cNvSpPr txBox="true"/>
          <p:nvPr/>
        </p:nvSpPr>
        <p:spPr>
          <a:xfrm rot="0">
            <a:off x="4513512" y="1905902"/>
            <a:ext cx="859226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BFS and A* Search</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1575571" y="3203896"/>
            <a:ext cx="12329275" cy="856617"/>
          </a:xfrm>
          <a:prstGeom prst="rect">
            <a:avLst/>
          </a:prstGeom>
        </p:spPr>
        <p:txBody>
          <a:bodyPr anchor="t" rtlCol="false" tIns="0" lIns="0" bIns="0" rIns="0">
            <a:spAutoFit/>
          </a:bodyPr>
          <a:lstStyle/>
          <a:p>
            <a:pPr algn="l">
              <a:lnSpc>
                <a:spcPts val="6439"/>
              </a:lnSpc>
              <a:spcBef>
                <a:spcPct val="0"/>
              </a:spcBef>
            </a:pPr>
            <a:r>
              <a:rPr lang="en-US" b="true" sz="4599">
                <a:solidFill>
                  <a:srgbClr val="000000"/>
                </a:solidFill>
                <a:latin typeface="Helvetica World Bold"/>
                <a:ea typeface="Helvetica World Bold"/>
                <a:cs typeface="Helvetica World Bold"/>
                <a:sym typeface="Helvetica World Bold"/>
              </a:rPr>
              <a:t>So sánh hiệu suất</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575571" y="4746489"/>
            <a:ext cx="15916762" cy="3185160"/>
          </a:xfrm>
          <a:prstGeom prst="rect">
            <a:avLst/>
          </a:prstGeom>
        </p:spPr>
        <p:txBody>
          <a:bodyPr anchor="t" rtlCol="false" tIns="0" lIns="0" bIns="0" rIns="0">
            <a:spAutoFit/>
          </a:bodyPr>
          <a:lstStyle/>
          <a:p>
            <a:pPr algn="just">
              <a:lnSpc>
                <a:spcPts val="5040"/>
              </a:lnSpc>
            </a:pPr>
            <a:r>
              <a:rPr lang="en-US" sz="3600" b="true">
                <a:solidFill>
                  <a:srgbClr val="000000"/>
                </a:solidFill>
                <a:latin typeface="Helios Bold"/>
                <a:ea typeface="Helios Bold"/>
                <a:cs typeface="Helios Bold"/>
                <a:sym typeface="Helios Bold"/>
              </a:rPr>
              <a:t>Ưu nhược điểm</a:t>
            </a:r>
          </a:p>
          <a:p>
            <a:pPr algn="just" marL="777240" indent="-388620" lvl="1">
              <a:lnSpc>
                <a:spcPts val="5040"/>
              </a:lnSpc>
              <a:buFont typeface="Arial"/>
              <a:buChar char="•"/>
            </a:pPr>
            <a:r>
              <a:rPr lang="en-US" sz="3600">
                <a:solidFill>
                  <a:srgbClr val="000000"/>
                </a:solidFill>
                <a:latin typeface="Helios"/>
                <a:ea typeface="Helios"/>
                <a:cs typeface="Helios"/>
                <a:sym typeface="Helios"/>
              </a:rPr>
              <a:t>BFS đơn giản, không cần heuristic, nhưng không hiệu quả với không gian lớp (có thể gặp vấn đề với bộ nhớ)</a:t>
            </a:r>
          </a:p>
          <a:p>
            <a:pPr algn="just" marL="777240" indent="-388620" lvl="1">
              <a:lnSpc>
                <a:spcPts val="5040"/>
              </a:lnSpc>
              <a:buFont typeface="Arial"/>
              <a:buChar char="•"/>
            </a:pPr>
            <a:r>
              <a:rPr lang="en-US" sz="3600">
                <a:solidFill>
                  <a:srgbClr val="000000"/>
                </a:solidFill>
                <a:latin typeface="Helios"/>
                <a:ea typeface="Helios"/>
                <a:cs typeface="Helios"/>
                <a:sym typeface="Helios"/>
              </a:rPr>
              <a:t>A* hiệu quả hơn với heuristic tốt, nhưng cần thiết kế heuristic admissible. Nếu heuristic kém, có thể tệ hơn BFS</a:t>
            </a:r>
          </a:p>
        </p:txBody>
      </p:sp>
      <p:sp>
        <p:nvSpPr>
          <p:cNvPr name="TextBox 8" id="8"/>
          <p:cNvSpPr txBox="true"/>
          <p:nvPr/>
        </p:nvSpPr>
        <p:spPr>
          <a:xfrm rot="0">
            <a:off x="4513512" y="1905902"/>
            <a:ext cx="859226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BFS and A* Search</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1575571" y="3203896"/>
            <a:ext cx="12329275" cy="856617"/>
          </a:xfrm>
          <a:prstGeom prst="rect">
            <a:avLst/>
          </a:prstGeom>
        </p:spPr>
        <p:txBody>
          <a:bodyPr anchor="t" rtlCol="false" tIns="0" lIns="0" bIns="0" rIns="0">
            <a:spAutoFit/>
          </a:bodyPr>
          <a:lstStyle/>
          <a:p>
            <a:pPr algn="l">
              <a:lnSpc>
                <a:spcPts val="6439"/>
              </a:lnSpc>
              <a:spcBef>
                <a:spcPct val="0"/>
              </a:spcBef>
            </a:pPr>
            <a:r>
              <a:rPr lang="en-US" b="true" sz="4599">
                <a:solidFill>
                  <a:srgbClr val="000000"/>
                </a:solidFill>
                <a:latin typeface="Helvetica World Bold"/>
                <a:ea typeface="Helvetica World Bold"/>
                <a:cs typeface="Helvetica World Bold"/>
                <a:sym typeface="Helvetica World Bold"/>
              </a:rPr>
              <a:t>So sánh hiệu suất</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575571" y="4746489"/>
            <a:ext cx="15916762" cy="2546985"/>
          </a:xfrm>
          <a:prstGeom prst="rect">
            <a:avLst/>
          </a:prstGeom>
        </p:spPr>
        <p:txBody>
          <a:bodyPr anchor="t" rtlCol="false" tIns="0" lIns="0" bIns="0" rIns="0">
            <a:spAutoFit/>
          </a:bodyPr>
          <a:lstStyle/>
          <a:p>
            <a:pPr algn="just">
              <a:lnSpc>
                <a:spcPts val="5040"/>
              </a:lnSpc>
            </a:pPr>
            <a:r>
              <a:rPr lang="en-US" sz="3600">
                <a:solidFill>
                  <a:srgbClr val="000000"/>
                </a:solidFill>
                <a:latin typeface="Helios"/>
                <a:ea typeface="Helios"/>
                <a:cs typeface="Helios"/>
                <a:sym typeface="Helios"/>
              </a:rPr>
              <a:t>Qua notebook, ta thấy A* vượt trội hơn BFS trong mê cung này nhờ giảm số trạng thái khám phá (từ 139 xuống còn 40) và thời gian chạy, trong khi vẫn giữ tính tối ưu. Điều này chứng minh lợi ích của informed search. Tuy nhiên, BFS vẫn hữu ích cho các vấn đề không có heuristic tốt.</a:t>
            </a:r>
          </a:p>
        </p:txBody>
      </p:sp>
      <p:sp>
        <p:nvSpPr>
          <p:cNvPr name="TextBox 8" id="8"/>
          <p:cNvSpPr txBox="true"/>
          <p:nvPr/>
        </p:nvSpPr>
        <p:spPr>
          <a:xfrm rot="0">
            <a:off x="4513512" y="1905902"/>
            <a:ext cx="8592264" cy="79565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Comparing BFS and A* Search</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1575571" y="3203896"/>
            <a:ext cx="12329275" cy="856617"/>
          </a:xfrm>
          <a:prstGeom prst="rect">
            <a:avLst/>
          </a:prstGeom>
        </p:spPr>
        <p:txBody>
          <a:bodyPr anchor="t" rtlCol="false" tIns="0" lIns="0" bIns="0" rIns="0">
            <a:spAutoFit/>
          </a:bodyPr>
          <a:lstStyle/>
          <a:p>
            <a:pPr algn="l">
              <a:lnSpc>
                <a:spcPts val="6439"/>
              </a:lnSpc>
              <a:spcBef>
                <a:spcPct val="0"/>
              </a:spcBef>
            </a:pPr>
            <a:r>
              <a:rPr lang="en-US" b="true" sz="4599">
                <a:solidFill>
                  <a:srgbClr val="000000"/>
                </a:solidFill>
                <a:latin typeface="Helvetica World Bold"/>
                <a:ea typeface="Helvetica World Bold"/>
                <a:cs typeface="Helvetica World Bold"/>
                <a:sym typeface="Helvetica World Bold"/>
              </a:rPr>
              <a:t>Kết luận</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6825907" y="7539835"/>
            <a:ext cx="2610237" cy="456722"/>
          </a:xfrm>
          <a:prstGeom prst="rect">
            <a:avLst/>
          </a:prstGeom>
        </p:spPr>
        <p:txBody>
          <a:bodyPr anchor="t" rtlCol="false" tIns="0" lIns="0" bIns="0" rIns="0">
            <a:spAutoFit/>
          </a:bodyPr>
          <a:lstStyle/>
          <a:p>
            <a:pPr algn="ctr">
              <a:lnSpc>
                <a:spcPts val="1831"/>
              </a:lnSpc>
            </a:pPr>
            <a:r>
              <a:rPr lang="en-US" sz="1526">
                <a:solidFill>
                  <a:srgbClr val="FFFFFF"/>
                </a:solidFill>
                <a:latin typeface="Helios"/>
                <a:ea typeface="Helios"/>
                <a:cs typeface="Helios"/>
                <a:sym typeface="Helios"/>
              </a:rPr>
              <a:t>Collecting Demographic and Psychographics Data</a:t>
            </a:r>
          </a:p>
        </p:txBody>
      </p:sp>
      <p:sp>
        <p:nvSpPr>
          <p:cNvPr name="TextBox 8" id="8"/>
          <p:cNvSpPr txBox="true"/>
          <p:nvPr/>
        </p:nvSpPr>
        <p:spPr>
          <a:xfrm rot="0">
            <a:off x="2753827" y="1905902"/>
            <a:ext cx="12111633" cy="797562"/>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Explore heuristic values for an empty maze</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489941" y="3203896"/>
            <a:ext cx="2384673" cy="845187"/>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vetica World Bold"/>
                <a:ea typeface="Helvetica World Bold"/>
                <a:cs typeface="Helvetica World Bold"/>
                <a:sym typeface="Helvetica World Bold"/>
              </a:rPr>
              <a:t>Mục tiêu</a:t>
            </a:r>
          </a:p>
        </p:txBody>
      </p:sp>
      <p:sp>
        <p:nvSpPr>
          <p:cNvPr name="TextBox 11" id="11"/>
          <p:cNvSpPr txBox="true"/>
          <p:nvPr/>
        </p:nvSpPr>
        <p:spPr>
          <a:xfrm rot="0">
            <a:off x="489941" y="4442516"/>
            <a:ext cx="17061503" cy="3185160"/>
          </a:xfrm>
          <a:prstGeom prst="rect">
            <a:avLst/>
          </a:prstGeom>
        </p:spPr>
        <p:txBody>
          <a:bodyPr anchor="t" rtlCol="false" tIns="0" lIns="0" bIns="0" rIns="0">
            <a:spAutoFit/>
          </a:bodyPr>
          <a:lstStyle/>
          <a:p>
            <a:pPr algn="just">
              <a:lnSpc>
                <a:spcPts val="5040"/>
              </a:lnSpc>
            </a:pPr>
            <a:r>
              <a:rPr lang="en-US" sz="3600">
                <a:solidFill>
                  <a:srgbClr val="000000"/>
                </a:solidFill>
                <a:latin typeface="Helios"/>
                <a:ea typeface="Helios"/>
                <a:cs typeface="Helios"/>
                <a:sym typeface="Helios"/>
              </a:rPr>
              <a:t> Mục tiêu của nghiên cứu này là khám phá và so sánh giá trị của các hàm heuristic khoảng cách khác nhau (h(n)) trên một môi trường mê cung trống tiêu chuẩn. Việc phân tích nhằm mục đích hiểu rõ tính chất hoàn hảo (perfect) và chấp nhận được (admissible) của từng heuristic đối với bài toán tìm đường trên lưới (grid).</a:t>
            </a:r>
          </a:p>
          <a:p>
            <a:pPr algn="just">
              <a:lnSpc>
                <a:spcPts val="5040"/>
              </a:lnSpc>
              <a:spcBef>
                <a:spcPct val="0"/>
              </a:spcBef>
            </a:pP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6825907" y="7539835"/>
            <a:ext cx="2610237" cy="456722"/>
          </a:xfrm>
          <a:prstGeom prst="rect">
            <a:avLst/>
          </a:prstGeom>
        </p:spPr>
        <p:txBody>
          <a:bodyPr anchor="t" rtlCol="false" tIns="0" lIns="0" bIns="0" rIns="0">
            <a:spAutoFit/>
          </a:bodyPr>
          <a:lstStyle/>
          <a:p>
            <a:pPr algn="ctr">
              <a:lnSpc>
                <a:spcPts val="1831"/>
              </a:lnSpc>
            </a:pPr>
            <a:r>
              <a:rPr lang="en-US" sz="1526">
                <a:solidFill>
                  <a:srgbClr val="FFFFFF"/>
                </a:solidFill>
                <a:latin typeface="Helios"/>
                <a:ea typeface="Helios"/>
                <a:cs typeface="Helios"/>
                <a:sym typeface="Helios"/>
              </a:rPr>
              <a:t>Collecting Demographic and Psychographics Data</a:t>
            </a:r>
          </a:p>
        </p:txBody>
      </p:sp>
      <p:sp>
        <p:nvSpPr>
          <p:cNvPr name="TextBox 8" id="8"/>
          <p:cNvSpPr txBox="true"/>
          <p:nvPr/>
        </p:nvSpPr>
        <p:spPr>
          <a:xfrm rot="0">
            <a:off x="2799145" y="2185578"/>
            <a:ext cx="12111633" cy="797562"/>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Explore heuristic values for an empty maze</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613249" y="3687049"/>
            <a:ext cx="17061503" cy="5170932"/>
          </a:xfrm>
          <a:prstGeom prst="rect">
            <a:avLst/>
          </a:prstGeom>
        </p:spPr>
        <p:txBody>
          <a:bodyPr anchor="t" rtlCol="false" tIns="0" lIns="0" bIns="0" rIns="0">
            <a:spAutoFit/>
          </a:bodyPr>
          <a:lstStyle/>
          <a:p>
            <a:pPr algn="just">
              <a:lnSpc>
                <a:spcPts val="5904"/>
              </a:lnSpc>
            </a:pPr>
            <a:r>
              <a:rPr lang="en-US" sz="3600">
                <a:solidFill>
                  <a:srgbClr val="000000"/>
                </a:solidFill>
                <a:latin typeface="Helios"/>
                <a:ea typeface="Helios"/>
                <a:cs typeface="Helios"/>
                <a:sym typeface="Helios"/>
              </a:rPr>
              <a:t> Khái niệm: </a:t>
            </a:r>
          </a:p>
          <a:p>
            <a:pPr algn="just">
              <a:lnSpc>
                <a:spcPts val="5904"/>
              </a:lnSpc>
            </a:pPr>
            <a:r>
              <a:rPr lang="en-US" sz="3600">
                <a:solidFill>
                  <a:srgbClr val="000000"/>
                </a:solidFill>
                <a:latin typeface="Helios"/>
                <a:ea typeface="Helios"/>
                <a:cs typeface="Helios"/>
                <a:sym typeface="Helios"/>
              </a:rPr>
              <a:t> Heuristic Hoàn Hảo (Perfect Heuristic): h(n) = h*(n)</a:t>
            </a:r>
          </a:p>
          <a:p>
            <a:pPr algn="just" marL="777240" indent="-388620" lvl="1">
              <a:lnSpc>
                <a:spcPts val="5904"/>
              </a:lnSpc>
              <a:buFont typeface="Arial"/>
              <a:buChar char="•"/>
            </a:pPr>
            <a:r>
              <a:rPr lang="en-US" sz="3600">
                <a:solidFill>
                  <a:srgbClr val="000000"/>
                </a:solidFill>
                <a:latin typeface="Helios"/>
                <a:ea typeface="Helios"/>
                <a:cs typeface="Helios"/>
                <a:sym typeface="Helios"/>
              </a:rPr>
              <a:t>h(n) là hàm Heuristic, hay còn gọi là chi phí ước tính.</a:t>
            </a:r>
          </a:p>
          <a:p>
            <a:pPr algn="just" marL="777240" indent="-388620" lvl="1">
              <a:lnSpc>
                <a:spcPts val="5904"/>
              </a:lnSpc>
              <a:buFont typeface="Arial"/>
              <a:buChar char="•"/>
            </a:pPr>
            <a:r>
              <a:rPr lang="en-US" sz="3600">
                <a:solidFill>
                  <a:srgbClr val="000000"/>
                </a:solidFill>
                <a:latin typeface="Helios"/>
                <a:ea typeface="Helios"/>
                <a:cs typeface="Helios"/>
                <a:sym typeface="Helios"/>
              </a:rPr>
              <a:t>h*(n) là chi phí thực tế tối ưu (hay chi phí đường đi ngắn nhất).</a:t>
            </a:r>
          </a:p>
          <a:p>
            <a:pPr algn="just">
              <a:lnSpc>
                <a:spcPts val="5904"/>
              </a:lnSpc>
            </a:pPr>
            <a:r>
              <a:rPr lang="en-US" sz="3600">
                <a:solidFill>
                  <a:srgbClr val="000000"/>
                </a:solidFill>
                <a:latin typeface="Helios"/>
                <a:ea typeface="Helios"/>
                <a:cs typeface="Helios"/>
                <a:sym typeface="Helios"/>
              </a:rPr>
              <a:t>Heuristic Chấp nhận được (Admissible Heuristic): h(n) ≤ h*(n)</a:t>
            </a:r>
          </a:p>
          <a:p>
            <a:pPr algn="just" marL="777240" indent="-388620" lvl="1">
              <a:lnSpc>
                <a:spcPts val="5904"/>
              </a:lnSpc>
              <a:buFont typeface="Arial"/>
              <a:buChar char="•"/>
            </a:pPr>
            <a:r>
              <a:rPr lang="en-US" sz="3600">
                <a:solidFill>
                  <a:srgbClr val="000000"/>
                </a:solidFill>
                <a:latin typeface="Helios"/>
                <a:ea typeface="Helios"/>
                <a:cs typeface="Helios"/>
                <a:sym typeface="Helios"/>
              </a:rPr>
              <a:t>h(n) là hàm Heuristic, hay còn gọi là chi phí ước tính.</a:t>
            </a:r>
          </a:p>
          <a:p>
            <a:pPr algn="just" marL="777240" indent="-388620" lvl="1">
              <a:lnSpc>
                <a:spcPts val="5904"/>
              </a:lnSpc>
              <a:buFont typeface="Arial"/>
              <a:buChar char="•"/>
            </a:pPr>
            <a:r>
              <a:rPr lang="en-US" sz="3600">
                <a:solidFill>
                  <a:srgbClr val="000000"/>
                </a:solidFill>
                <a:latin typeface="Helios"/>
                <a:ea typeface="Helios"/>
                <a:cs typeface="Helios"/>
                <a:sym typeface="Helios"/>
              </a:rPr>
              <a:t>h*(n) là chi phí thực tế tối ưu (hay chi phí đường đi ngắn nhất).</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6825907" y="7539835"/>
            <a:ext cx="2610237" cy="456722"/>
          </a:xfrm>
          <a:prstGeom prst="rect">
            <a:avLst/>
          </a:prstGeom>
        </p:spPr>
        <p:txBody>
          <a:bodyPr anchor="t" rtlCol="false" tIns="0" lIns="0" bIns="0" rIns="0">
            <a:spAutoFit/>
          </a:bodyPr>
          <a:lstStyle/>
          <a:p>
            <a:pPr algn="ctr">
              <a:lnSpc>
                <a:spcPts val="1831"/>
              </a:lnSpc>
            </a:pPr>
            <a:r>
              <a:rPr lang="en-US" sz="1526">
                <a:solidFill>
                  <a:srgbClr val="FFFFFF"/>
                </a:solidFill>
                <a:latin typeface="Helios"/>
                <a:ea typeface="Helios"/>
                <a:cs typeface="Helios"/>
                <a:sym typeface="Helios"/>
              </a:rPr>
              <a:t>Collecting Demographic and Psychographics Data</a:t>
            </a:r>
          </a:p>
        </p:txBody>
      </p:sp>
      <p:sp>
        <p:nvSpPr>
          <p:cNvPr name="TextBox 8" id="8"/>
          <p:cNvSpPr txBox="true"/>
          <p:nvPr/>
        </p:nvSpPr>
        <p:spPr>
          <a:xfrm rot="0">
            <a:off x="2799145" y="2185578"/>
            <a:ext cx="12111633" cy="797562"/>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Explore heuristic values for an empty maze</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613249" y="3687049"/>
            <a:ext cx="17061503" cy="5913882"/>
          </a:xfrm>
          <a:prstGeom prst="rect">
            <a:avLst/>
          </a:prstGeom>
        </p:spPr>
        <p:txBody>
          <a:bodyPr anchor="t" rtlCol="false" tIns="0" lIns="0" bIns="0" rIns="0">
            <a:spAutoFit/>
          </a:bodyPr>
          <a:lstStyle/>
          <a:p>
            <a:pPr algn="just">
              <a:lnSpc>
                <a:spcPts val="5904"/>
              </a:lnSpc>
            </a:pPr>
            <a:r>
              <a:rPr lang="en-US" sz="3600" b="true">
                <a:solidFill>
                  <a:srgbClr val="000000"/>
                </a:solidFill>
                <a:latin typeface="Helios Bold"/>
                <a:ea typeface="Helios Bold"/>
                <a:cs typeface="Helios Bold"/>
                <a:sym typeface="Helios Bold"/>
              </a:rPr>
              <a:t>1.Phương pháp thực hiện</a:t>
            </a:r>
          </a:p>
          <a:p>
            <a:pPr algn="just" marL="777240" indent="-388620" lvl="1">
              <a:lnSpc>
                <a:spcPts val="5904"/>
              </a:lnSpc>
              <a:buFont typeface="Arial"/>
              <a:buChar char="•"/>
            </a:pPr>
            <a:r>
              <a:rPr lang="en-US" sz="3600">
                <a:solidFill>
                  <a:srgbClr val="000000"/>
                </a:solidFill>
                <a:latin typeface="Helios"/>
                <a:ea typeface="Helios"/>
                <a:cs typeface="Helios"/>
                <a:sym typeface="Helios"/>
              </a:rPr>
              <a:t>Môi trường: Một mê cung trống có kích thước 10×10 được sử dụng.</a:t>
            </a:r>
          </a:p>
          <a:p>
            <a:pPr algn="just" marL="777240" indent="-388620" lvl="1">
              <a:lnSpc>
                <a:spcPts val="5904"/>
              </a:lnSpc>
              <a:buFont typeface="Arial"/>
              <a:buChar char="•"/>
            </a:pPr>
            <a:r>
              <a:rPr lang="en-US" sz="3600">
                <a:solidFill>
                  <a:srgbClr val="000000"/>
                </a:solidFill>
                <a:latin typeface="Helios"/>
                <a:ea typeface="Helios"/>
                <a:cs typeface="Helios"/>
                <a:sym typeface="Helios"/>
              </a:rPr>
              <a:t>Điểm đặt:</a:t>
            </a:r>
          </a:p>
          <a:p>
            <a:pPr algn="just" marL="777240" indent="-388620" lvl="1">
              <a:lnSpc>
                <a:spcPts val="5904"/>
              </a:lnSpc>
              <a:buFont typeface="Arial"/>
              <a:buChar char="•"/>
            </a:pPr>
            <a:r>
              <a:rPr lang="en-US" sz="3600">
                <a:solidFill>
                  <a:srgbClr val="000000"/>
                </a:solidFill>
                <a:latin typeface="Helios"/>
                <a:ea typeface="Helios"/>
                <a:cs typeface="Helios"/>
                <a:sym typeface="Helios"/>
              </a:rPr>
              <a:t>Bắt đầu (S): tại vị trí (2, 2).</a:t>
            </a:r>
          </a:p>
          <a:p>
            <a:pPr algn="just" marL="777240" indent="-388620" lvl="1">
              <a:lnSpc>
                <a:spcPts val="5904"/>
              </a:lnSpc>
              <a:buFont typeface="Arial"/>
              <a:buChar char="•"/>
            </a:pPr>
            <a:r>
              <a:rPr lang="en-US" sz="3600">
                <a:solidFill>
                  <a:srgbClr val="000000"/>
                </a:solidFill>
                <a:latin typeface="Helios"/>
                <a:ea typeface="Helios"/>
                <a:cs typeface="Helios"/>
                <a:sym typeface="Helios"/>
              </a:rPr>
              <a:t>Kết thúc (G): tại vị trí (9, 9).</a:t>
            </a:r>
          </a:p>
          <a:p>
            <a:pPr algn="just" marL="777240" indent="-388620" lvl="1">
              <a:lnSpc>
                <a:spcPts val="5904"/>
              </a:lnSpc>
              <a:buFont typeface="Arial"/>
              <a:buChar char="•"/>
            </a:pPr>
            <a:r>
              <a:rPr lang="en-US" sz="3600">
                <a:solidFill>
                  <a:srgbClr val="000000"/>
                </a:solidFill>
                <a:latin typeface="Helios"/>
                <a:ea typeface="Helios"/>
                <a:cs typeface="Helios"/>
                <a:sym typeface="Helios"/>
              </a:rPr>
              <a:t>Ngôn ngữ lập trình: Ngôn ngữ R được sử dụng để tính toán và trực quan hóa các giá trị heuristic.</a:t>
            </a:r>
          </a:p>
          <a:p>
            <a:pPr algn="just">
              <a:lnSpc>
                <a:spcPts val="5904"/>
              </a:lnSpc>
            </a:pP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6825907" y="7539835"/>
            <a:ext cx="2610237" cy="456722"/>
          </a:xfrm>
          <a:prstGeom prst="rect">
            <a:avLst/>
          </a:prstGeom>
        </p:spPr>
        <p:txBody>
          <a:bodyPr anchor="t" rtlCol="false" tIns="0" lIns="0" bIns="0" rIns="0">
            <a:spAutoFit/>
          </a:bodyPr>
          <a:lstStyle/>
          <a:p>
            <a:pPr algn="ctr">
              <a:lnSpc>
                <a:spcPts val="1831"/>
              </a:lnSpc>
            </a:pPr>
            <a:r>
              <a:rPr lang="en-US" sz="1526">
                <a:solidFill>
                  <a:srgbClr val="FFFFFF"/>
                </a:solidFill>
                <a:latin typeface="Helios"/>
                <a:ea typeface="Helios"/>
                <a:cs typeface="Helios"/>
                <a:sym typeface="Helios"/>
              </a:rPr>
              <a:t>Collecting Demographic and Psychographics Data</a:t>
            </a:r>
          </a:p>
        </p:txBody>
      </p:sp>
      <p:sp>
        <p:nvSpPr>
          <p:cNvPr name="TextBox 8" id="8"/>
          <p:cNvSpPr txBox="true"/>
          <p:nvPr/>
        </p:nvSpPr>
        <p:spPr>
          <a:xfrm rot="0">
            <a:off x="2874674" y="1727438"/>
            <a:ext cx="12111633" cy="797562"/>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Explore heuristic values for an empty maze</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445281" y="3630168"/>
            <a:ext cx="16970420" cy="6656832"/>
          </a:xfrm>
          <a:prstGeom prst="rect">
            <a:avLst/>
          </a:prstGeom>
        </p:spPr>
        <p:txBody>
          <a:bodyPr anchor="t" rtlCol="false" tIns="0" lIns="0" bIns="0" rIns="0">
            <a:spAutoFit/>
          </a:bodyPr>
          <a:lstStyle/>
          <a:p>
            <a:pPr algn="just">
              <a:lnSpc>
                <a:spcPts val="5904"/>
              </a:lnSpc>
            </a:pPr>
            <a:r>
              <a:rPr lang="en-US" sz="3600" b="true">
                <a:solidFill>
                  <a:srgbClr val="000000"/>
                </a:solidFill>
                <a:latin typeface="Helios Bold"/>
                <a:ea typeface="Helios Bold"/>
                <a:cs typeface="Helios Bold"/>
                <a:sym typeface="Helios Bold"/>
              </a:rPr>
              <a:t>1.Phương pháp Manhattan</a:t>
            </a:r>
          </a:p>
          <a:p>
            <a:pPr algn="just" marL="777240" indent="-388620" lvl="1">
              <a:lnSpc>
                <a:spcPts val="5904"/>
              </a:lnSpc>
              <a:buFont typeface="Arial"/>
              <a:buChar char="•"/>
            </a:pPr>
            <a:r>
              <a:rPr lang="en-US" sz="3600">
                <a:solidFill>
                  <a:srgbClr val="000000"/>
                </a:solidFill>
                <a:latin typeface="Helios"/>
                <a:ea typeface="Helios"/>
                <a:cs typeface="Helios"/>
                <a:sym typeface="Helios"/>
              </a:rPr>
              <a:t>Mỗi ô trong mê cung được gán một giá trị h(n), thể hiện khoảng cách ước lượng đến đích.</a:t>
            </a:r>
          </a:p>
          <a:p>
            <a:pPr algn="just" marL="777240" indent="-388620" lvl="1">
              <a:lnSpc>
                <a:spcPts val="5904"/>
              </a:lnSpc>
              <a:buFont typeface="Arial"/>
              <a:buChar char="•"/>
            </a:pPr>
            <a:r>
              <a:rPr lang="en-US" sz="3600">
                <a:solidFill>
                  <a:srgbClr val="000000"/>
                </a:solidFill>
                <a:latin typeface="Helios"/>
                <a:ea typeface="Helios"/>
                <a:cs typeface="Helios"/>
                <a:sym typeface="Helios"/>
              </a:rPr>
              <a:t>Biểu đồ màu cho thấy các giá trị thay đổi từ đỏ đậm (xa đích) đến vàng nhạt (gần đích).</a:t>
            </a:r>
          </a:p>
          <a:p>
            <a:pPr algn="just" marL="777240" indent="-388620" lvl="1">
              <a:lnSpc>
                <a:spcPts val="5904"/>
              </a:lnSpc>
              <a:buFont typeface="Arial"/>
              <a:buChar char="•"/>
            </a:pPr>
            <a:r>
              <a:rPr lang="en-US" sz="3600">
                <a:solidFill>
                  <a:srgbClr val="000000"/>
                </a:solidFill>
                <a:latin typeface="Helios"/>
                <a:ea typeface="Helios"/>
                <a:cs typeface="Helios"/>
                <a:sym typeface="Helios"/>
              </a:rPr>
              <a:t>GBFS chỉ xét giá trị h(n) nên luôn chọn nút gần đích nhất về mặt heuristic, không quan tâm chi phí thực tế đã đi.</a:t>
            </a:r>
          </a:p>
          <a:p>
            <a:pPr algn="just">
              <a:lnSpc>
                <a:spcPts val="5904"/>
              </a:lnSpc>
            </a:pPr>
          </a:p>
          <a:p>
            <a:pPr algn="just">
              <a:lnSpc>
                <a:spcPts val="5904"/>
              </a:lnSpc>
            </a:pPr>
          </a:p>
        </p:txBody>
      </p:sp>
      <p:sp>
        <p:nvSpPr>
          <p:cNvPr name="TextBox 11" id="11"/>
          <p:cNvSpPr txBox="true"/>
          <p:nvPr/>
        </p:nvSpPr>
        <p:spPr>
          <a:xfrm rot="0">
            <a:off x="704332" y="2635130"/>
            <a:ext cx="2190155" cy="797562"/>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Kết quả</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6825907" y="7539835"/>
            <a:ext cx="2610237" cy="456722"/>
          </a:xfrm>
          <a:prstGeom prst="rect">
            <a:avLst/>
          </a:prstGeom>
        </p:spPr>
        <p:txBody>
          <a:bodyPr anchor="t" rtlCol="false" tIns="0" lIns="0" bIns="0" rIns="0">
            <a:spAutoFit/>
          </a:bodyPr>
          <a:lstStyle/>
          <a:p>
            <a:pPr algn="ctr">
              <a:lnSpc>
                <a:spcPts val="1831"/>
              </a:lnSpc>
            </a:pPr>
            <a:r>
              <a:rPr lang="en-US" sz="1526">
                <a:solidFill>
                  <a:srgbClr val="FFFFFF"/>
                </a:solidFill>
                <a:latin typeface="Helios"/>
                <a:ea typeface="Helios"/>
                <a:cs typeface="Helios"/>
                <a:sym typeface="Helios"/>
              </a:rPr>
              <a:t>Collecting Demographic and Psychographics Data</a:t>
            </a:r>
          </a:p>
        </p:txBody>
      </p:sp>
      <p:sp>
        <p:nvSpPr>
          <p:cNvPr name="TextBox 8" id="8"/>
          <p:cNvSpPr txBox="true"/>
          <p:nvPr/>
        </p:nvSpPr>
        <p:spPr>
          <a:xfrm rot="0">
            <a:off x="2874674" y="1727438"/>
            <a:ext cx="12111633" cy="797562"/>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Explore heuristic values for an empty maze</a:t>
            </a:r>
          </a:p>
        </p:txBody>
      </p:sp>
      <p:sp>
        <p:nvSpPr>
          <p:cNvPr name="TextBox 9" id="9"/>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0" id="10"/>
          <p:cNvSpPr txBox="true"/>
          <p:nvPr/>
        </p:nvSpPr>
        <p:spPr>
          <a:xfrm rot="0">
            <a:off x="704332" y="3470792"/>
            <a:ext cx="16970420" cy="9628632"/>
          </a:xfrm>
          <a:prstGeom prst="rect">
            <a:avLst/>
          </a:prstGeom>
        </p:spPr>
        <p:txBody>
          <a:bodyPr anchor="t" rtlCol="false" tIns="0" lIns="0" bIns="0" rIns="0">
            <a:spAutoFit/>
          </a:bodyPr>
          <a:lstStyle/>
          <a:p>
            <a:pPr algn="just">
              <a:lnSpc>
                <a:spcPts val="5904"/>
              </a:lnSpc>
            </a:pPr>
            <a:r>
              <a:rPr lang="en-US" sz="3600" b="true">
                <a:solidFill>
                  <a:srgbClr val="000000"/>
                </a:solidFill>
                <a:latin typeface="Helios Bold"/>
                <a:ea typeface="Helios Bold"/>
                <a:cs typeface="Helios Bold"/>
                <a:sym typeface="Helios Bold"/>
              </a:rPr>
              <a:t>2.A* với Heuristic Manhattan</a:t>
            </a:r>
          </a:p>
          <a:p>
            <a:pPr algn="just" marL="777240" indent="-388620" lvl="1">
              <a:lnSpc>
                <a:spcPts val="5904"/>
              </a:lnSpc>
              <a:buFont typeface="Arial"/>
              <a:buChar char="•"/>
            </a:pPr>
            <a:r>
              <a:rPr lang="en-US" sz="3600">
                <a:solidFill>
                  <a:srgbClr val="000000"/>
                </a:solidFill>
                <a:latin typeface="Helios"/>
                <a:ea typeface="Helios"/>
                <a:cs typeface="Helios"/>
                <a:sym typeface="Helios"/>
              </a:rPr>
              <a:t>Đường đi được A* tìm ra là ngắn nhất vì Manhattan là heuristic admissible và consistent trong môi trường di chuyển 4 hướng.</a:t>
            </a:r>
          </a:p>
          <a:p>
            <a:pPr algn="just" marL="777240" indent="-388620" lvl="1">
              <a:lnSpc>
                <a:spcPts val="5904"/>
              </a:lnSpc>
              <a:buFont typeface="Arial"/>
              <a:buChar char="•"/>
            </a:pPr>
            <a:r>
              <a:rPr lang="en-US" sz="3600">
                <a:solidFill>
                  <a:srgbClr val="000000"/>
                </a:solidFill>
                <a:latin typeface="Helios"/>
                <a:ea typeface="Helios"/>
                <a:cs typeface="Helios"/>
                <a:sym typeface="Helios"/>
              </a:rPr>
              <a:t>A* mở rộng các ô theo vùng đồng mức f(n), ưu tiên nút có tổng chi phí nhỏ nhất.</a:t>
            </a:r>
          </a:p>
          <a:p>
            <a:pPr algn="just" marL="777240" indent="-388620" lvl="1">
              <a:lnSpc>
                <a:spcPts val="5904"/>
              </a:lnSpc>
              <a:buFont typeface="Arial"/>
              <a:buChar char="•"/>
            </a:pPr>
            <a:r>
              <a:rPr lang="en-US" sz="3600">
                <a:solidFill>
                  <a:srgbClr val="000000"/>
                </a:solidFill>
                <a:latin typeface="Helios"/>
                <a:ea typeface="Helios"/>
                <a:cs typeface="Helios"/>
                <a:sym typeface="Helios"/>
              </a:rPr>
              <a:t>So với GBFS, A* ổn định hơn, tránh hiện tượng plateau, vì có thêm thành phần g(n) giúp cân bằng giữa khoảng cách đã đi và khoảng cách còn lại.</a:t>
            </a:r>
          </a:p>
          <a:p>
            <a:pPr algn="just" marL="777240" indent="-388620" lvl="1">
              <a:lnSpc>
                <a:spcPts val="5904"/>
              </a:lnSpc>
              <a:buFont typeface="Arial"/>
              <a:buChar char="•"/>
            </a:pPr>
            <a:r>
              <a:rPr lang="en-US" sz="3600">
                <a:solidFill>
                  <a:srgbClr val="000000"/>
                </a:solidFill>
                <a:latin typeface="Helios"/>
                <a:ea typeface="Helios"/>
                <a:cs typeface="Helios"/>
                <a:sym typeface="Helios"/>
              </a:rPr>
              <a:t>Hiệu suất cao: ít mở rộng nút thừa, nhanh hội tụ đến đích.</a:t>
            </a:r>
          </a:p>
          <a:p>
            <a:pPr algn="just">
              <a:lnSpc>
                <a:spcPts val="5904"/>
              </a:lnSpc>
            </a:pPr>
          </a:p>
          <a:p>
            <a:pPr algn="just">
              <a:lnSpc>
                <a:spcPts val="5904"/>
              </a:lnSpc>
            </a:pPr>
          </a:p>
          <a:p>
            <a:pPr algn="just">
              <a:lnSpc>
                <a:spcPts val="5904"/>
              </a:lnSpc>
            </a:pPr>
          </a:p>
          <a:p>
            <a:pPr algn="just">
              <a:lnSpc>
                <a:spcPts val="5904"/>
              </a:lnSpc>
            </a:pPr>
          </a:p>
          <a:p>
            <a:pPr algn="just">
              <a:lnSpc>
                <a:spcPts val="5904"/>
              </a:lnSpc>
            </a:pPr>
          </a:p>
        </p:txBody>
      </p:sp>
      <p:sp>
        <p:nvSpPr>
          <p:cNvPr name="TextBox 11" id="11"/>
          <p:cNvSpPr txBox="true"/>
          <p:nvPr/>
        </p:nvSpPr>
        <p:spPr>
          <a:xfrm rot="0">
            <a:off x="704332" y="2635130"/>
            <a:ext cx="2190155" cy="797562"/>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Kết quả</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6825907" y="7539835"/>
            <a:ext cx="2610237" cy="456722"/>
          </a:xfrm>
          <a:prstGeom prst="rect">
            <a:avLst/>
          </a:prstGeom>
        </p:spPr>
        <p:txBody>
          <a:bodyPr anchor="t" rtlCol="false" tIns="0" lIns="0" bIns="0" rIns="0">
            <a:spAutoFit/>
          </a:bodyPr>
          <a:lstStyle/>
          <a:p>
            <a:pPr algn="ctr">
              <a:lnSpc>
                <a:spcPts val="1831"/>
              </a:lnSpc>
            </a:pPr>
            <a:r>
              <a:rPr lang="en-US" sz="1526">
                <a:solidFill>
                  <a:srgbClr val="FFFFFF"/>
                </a:solidFill>
                <a:latin typeface="Helios"/>
                <a:ea typeface="Helios"/>
                <a:cs typeface="Helios"/>
                <a:sym typeface="Helios"/>
              </a:rPr>
              <a:t>Collecting Demographic and Psychographics Data</a:t>
            </a:r>
          </a:p>
        </p:txBody>
      </p:sp>
      <p:sp>
        <p:nvSpPr>
          <p:cNvPr name="TextBox 8" id="8"/>
          <p:cNvSpPr txBox="true"/>
          <p:nvPr/>
        </p:nvSpPr>
        <p:spPr>
          <a:xfrm rot="0">
            <a:off x="704332" y="3470792"/>
            <a:ext cx="16970420" cy="6656832"/>
          </a:xfrm>
          <a:prstGeom prst="rect">
            <a:avLst/>
          </a:prstGeom>
        </p:spPr>
        <p:txBody>
          <a:bodyPr anchor="t" rtlCol="false" tIns="0" lIns="0" bIns="0" rIns="0">
            <a:spAutoFit/>
          </a:bodyPr>
          <a:lstStyle/>
          <a:p>
            <a:pPr algn="just">
              <a:lnSpc>
                <a:spcPts val="5904"/>
              </a:lnSpc>
            </a:pPr>
            <a:r>
              <a:rPr lang="en-US" sz="3600" b="true">
                <a:solidFill>
                  <a:srgbClr val="000000"/>
                </a:solidFill>
                <a:latin typeface="Helios Bold"/>
                <a:ea typeface="Helios Bold"/>
                <a:cs typeface="Helios Bold"/>
                <a:sym typeface="Helios Bold"/>
              </a:rPr>
              <a:t>2.A* với Heuristic Manhattan ( Thêm trọng số )</a:t>
            </a:r>
          </a:p>
          <a:p>
            <a:pPr algn="ctr">
              <a:lnSpc>
                <a:spcPts val="5904"/>
              </a:lnSpc>
            </a:pPr>
            <a:r>
              <a:rPr lang="en-US" sz="3600" b="true">
                <a:solidFill>
                  <a:srgbClr val="000000"/>
                </a:solidFill>
                <a:latin typeface="Helios Bold"/>
                <a:ea typeface="Helios Bold"/>
                <a:cs typeface="Helios Bold"/>
                <a:sym typeface="Helios Bold"/>
              </a:rPr>
              <a:t>f(n) = g(n) + W × h(n)</a:t>
            </a:r>
          </a:p>
          <a:p>
            <a:pPr algn="just">
              <a:lnSpc>
                <a:spcPts val="5904"/>
              </a:lnSpc>
            </a:pPr>
          </a:p>
          <a:p>
            <a:pPr algn="just">
              <a:lnSpc>
                <a:spcPts val="5904"/>
              </a:lnSpc>
            </a:pPr>
          </a:p>
          <a:p>
            <a:pPr algn="just">
              <a:lnSpc>
                <a:spcPts val="5904"/>
              </a:lnSpc>
            </a:pPr>
          </a:p>
          <a:p>
            <a:pPr algn="just">
              <a:lnSpc>
                <a:spcPts val="5904"/>
              </a:lnSpc>
            </a:pPr>
          </a:p>
          <a:p>
            <a:pPr algn="just">
              <a:lnSpc>
                <a:spcPts val="5904"/>
              </a:lnSpc>
            </a:pPr>
          </a:p>
          <a:p>
            <a:pPr algn="just">
              <a:lnSpc>
                <a:spcPts val="5904"/>
              </a:lnSpc>
            </a:pPr>
          </a:p>
          <a:p>
            <a:pPr algn="just">
              <a:lnSpc>
                <a:spcPts val="5904"/>
              </a:lnSpc>
            </a:pPr>
          </a:p>
        </p:txBody>
      </p:sp>
      <p:sp>
        <p:nvSpPr>
          <p:cNvPr name="Freeform 9" id="9"/>
          <p:cNvSpPr/>
          <p:nvPr/>
        </p:nvSpPr>
        <p:spPr>
          <a:xfrm flipH="false" flipV="false" rot="0">
            <a:off x="2686531" y="5482903"/>
            <a:ext cx="13006021" cy="3529709"/>
          </a:xfrm>
          <a:custGeom>
            <a:avLst/>
            <a:gdLst/>
            <a:ahLst/>
            <a:cxnLst/>
            <a:rect r="r" b="b" t="t" l="l"/>
            <a:pathLst>
              <a:path h="3529709" w="13006021">
                <a:moveTo>
                  <a:pt x="0" y="0"/>
                </a:moveTo>
                <a:lnTo>
                  <a:pt x="13006021" y="0"/>
                </a:lnTo>
                <a:lnTo>
                  <a:pt x="13006021" y="3529709"/>
                </a:lnTo>
                <a:lnTo>
                  <a:pt x="0" y="3529709"/>
                </a:lnTo>
                <a:lnTo>
                  <a:pt x="0" y="0"/>
                </a:lnTo>
                <a:close/>
              </a:path>
            </a:pathLst>
          </a:custGeom>
          <a:blipFill>
            <a:blip r:embed="rId12"/>
            <a:stretch>
              <a:fillRect l="0" t="0" r="0" b="0"/>
            </a:stretch>
          </a:blipFill>
        </p:spPr>
      </p:sp>
      <p:sp>
        <p:nvSpPr>
          <p:cNvPr name="TextBox 10" id="10"/>
          <p:cNvSpPr txBox="true"/>
          <p:nvPr/>
        </p:nvSpPr>
        <p:spPr>
          <a:xfrm rot="0">
            <a:off x="2874674" y="1727438"/>
            <a:ext cx="12111633" cy="797562"/>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Explore heuristic values for an empty maze</a:t>
            </a:r>
          </a:p>
        </p:txBody>
      </p:sp>
      <p:sp>
        <p:nvSpPr>
          <p:cNvPr name="TextBox 11" id="11"/>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2" id="12"/>
          <p:cNvSpPr txBox="true"/>
          <p:nvPr/>
        </p:nvSpPr>
        <p:spPr>
          <a:xfrm rot="0">
            <a:off x="704332" y="2635130"/>
            <a:ext cx="2190155" cy="797562"/>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Kết quả</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6825907" y="7539835"/>
            <a:ext cx="2610237" cy="456722"/>
          </a:xfrm>
          <a:prstGeom prst="rect">
            <a:avLst/>
          </a:prstGeom>
        </p:spPr>
        <p:txBody>
          <a:bodyPr anchor="t" rtlCol="false" tIns="0" lIns="0" bIns="0" rIns="0">
            <a:spAutoFit/>
          </a:bodyPr>
          <a:lstStyle/>
          <a:p>
            <a:pPr algn="ctr">
              <a:lnSpc>
                <a:spcPts val="1831"/>
              </a:lnSpc>
            </a:pPr>
            <a:r>
              <a:rPr lang="en-US" sz="1526">
                <a:solidFill>
                  <a:srgbClr val="FFFFFF"/>
                </a:solidFill>
                <a:latin typeface="Helios"/>
                <a:ea typeface="Helios"/>
                <a:cs typeface="Helios"/>
                <a:sym typeface="Helios"/>
              </a:rPr>
              <a:t>Collecting Demographic and Psychographics Data</a:t>
            </a:r>
          </a:p>
        </p:txBody>
      </p:sp>
      <p:sp>
        <p:nvSpPr>
          <p:cNvPr name="TextBox 8" id="8"/>
          <p:cNvSpPr txBox="true"/>
          <p:nvPr/>
        </p:nvSpPr>
        <p:spPr>
          <a:xfrm rot="0">
            <a:off x="704332" y="3470792"/>
            <a:ext cx="16970420" cy="11114532"/>
          </a:xfrm>
          <a:prstGeom prst="rect">
            <a:avLst/>
          </a:prstGeom>
        </p:spPr>
        <p:txBody>
          <a:bodyPr anchor="t" rtlCol="false" tIns="0" lIns="0" bIns="0" rIns="0">
            <a:spAutoFit/>
          </a:bodyPr>
          <a:lstStyle/>
          <a:p>
            <a:pPr algn="just">
              <a:lnSpc>
                <a:spcPts val="5904"/>
              </a:lnSpc>
            </a:pPr>
            <a:r>
              <a:rPr lang="en-US" sz="3600" b="true">
                <a:solidFill>
                  <a:srgbClr val="000000"/>
                </a:solidFill>
                <a:latin typeface="Helios Bold"/>
                <a:ea typeface="Helios Bold"/>
                <a:cs typeface="Helios Bold"/>
                <a:sym typeface="Helios Bold"/>
              </a:rPr>
              <a:t>3. GBFS với Euclidean Distance</a:t>
            </a:r>
          </a:p>
          <a:p>
            <a:pPr algn="just">
              <a:lnSpc>
                <a:spcPts val="5904"/>
              </a:lnSpc>
            </a:pPr>
          </a:p>
          <a:p>
            <a:pPr algn="l">
              <a:lnSpc>
                <a:spcPts val="5904"/>
              </a:lnSpc>
            </a:pPr>
            <a:r>
              <a:rPr lang="en-US" sz="3600" b="true">
                <a:solidFill>
                  <a:srgbClr val="000000"/>
                </a:solidFill>
                <a:latin typeface="Helios Bold"/>
                <a:ea typeface="Helios Bold"/>
                <a:cs typeface="Helios Bold"/>
                <a:sym typeface="Helios Bold"/>
              </a:rPr>
              <a:t> </a:t>
            </a:r>
            <a:r>
              <a:rPr lang="en-US" sz="3600">
                <a:solidFill>
                  <a:srgbClr val="000000"/>
                </a:solidFill>
                <a:latin typeface="Helios"/>
                <a:ea typeface="Helios"/>
                <a:cs typeface="Helios"/>
                <a:sym typeface="Helios"/>
              </a:rPr>
              <a:t>Greedy Best-First Search (GBFS) là thuật toán tìm kiếm heuristic dựa trên ước lượng khoảng cách còn lại đến mục tiêu). Khác với A*, GBFS không xét đến chi phí thực tế đã đi g(n), mà chỉdùng heuristic h(n) để chọn nút kế tiếp: f(n) = h(n).</a:t>
            </a:r>
          </a:p>
          <a:p>
            <a:pPr algn="l">
              <a:lnSpc>
                <a:spcPts val="5904"/>
              </a:lnSpc>
            </a:pPr>
            <a:r>
              <a:rPr lang="en-US" sz="3600">
                <a:solidFill>
                  <a:srgbClr val="000000"/>
                </a:solidFill>
                <a:latin typeface="Helios"/>
                <a:ea typeface="Helios"/>
                <a:cs typeface="Helios"/>
                <a:sym typeface="Helios"/>
              </a:rPr>
              <a:t> Công thức khoảng cách giữa một nút n() và đích G():</a:t>
            </a:r>
          </a:p>
          <a:p>
            <a:pPr algn="l">
              <a:lnSpc>
                <a:spcPts val="5904"/>
              </a:lnSpc>
            </a:pPr>
          </a:p>
          <a:p>
            <a:pPr algn="ctr">
              <a:lnSpc>
                <a:spcPts val="5904"/>
              </a:lnSpc>
            </a:pPr>
          </a:p>
          <a:p>
            <a:pPr algn="just">
              <a:lnSpc>
                <a:spcPts val="5904"/>
              </a:lnSpc>
            </a:pPr>
          </a:p>
          <a:p>
            <a:pPr algn="just">
              <a:lnSpc>
                <a:spcPts val="5904"/>
              </a:lnSpc>
            </a:pPr>
          </a:p>
          <a:p>
            <a:pPr algn="just">
              <a:lnSpc>
                <a:spcPts val="5904"/>
              </a:lnSpc>
            </a:pPr>
          </a:p>
          <a:p>
            <a:pPr algn="just">
              <a:lnSpc>
                <a:spcPts val="5904"/>
              </a:lnSpc>
            </a:pPr>
          </a:p>
          <a:p>
            <a:pPr algn="just">
              <a:lnSpc>
                <a:spcPts val="5904"/>
              </a:lnSpc>
            </a:pPr>
          </a:p>
          <a:p>
            <a:pPr algn="just">
              <a:lnSpc>
                <a:spcPts val="5904"/>
              </a:lnSpc>
            </a:pPr>
          </a:p>
          <a:p>
            <a:pPr algn="just">
              <a:lnSpc>
                <a:spcPts val="5904"/>
              </a:lnSpc>
            </a:pPr>
          </a:p>
        </p:txBody>
      </p:sp>
      <p:sp>
        <p:nvSpPr>
          <p:cNvPr name="Freeform 9" id="9"/>
          <p:cNvSpPr/>
          <p:nvPr/>
        </p:nvSpPr>
        <p:spPr>
          <a:xfrm flipH="false" flipV="false" rot="0">
            <a:off x="4734456" y="8099165"/>
            <a:ext cx="9403376" cy="1517633"/>
          </a:xfrm>
          <a:custGeom>
            <a:avLst/>
            <a:gdLst/>
            <a:ahLst/>
            <a:cxnLst/>
            <a:rect r="r" b="b" t="t" l="l"/>
            <a:pathLst>
              <a:path h="1517633" w="9403376">
                <a:moveTo>
                  <a:pt x="0" y="0"/>
                </a:moveTo>
                <a:lnTo>
                  <a:pt x="9403375" y="0"/>
                </a:lnTo>
                <a:lnTo>
                  <a:pt x="9403375" y="1517633"/>
                </a:lnTo>
                <a:lnTo>
                  <a:pt x="0" y="1517633"/>
                </a:lnTo>
                <a:lnTo>
                  <a:pt x="0" y="0"/>
                </a:lnTo>
                <a:close/>
              </a:path>
            </a:pathLst>
          </a:custGeom>
          <a:blipFill>
            <a:blip r:embed="rId12"/>
            <a:stretch>
              <a:fillRect l="0" t="0" r="0" b="0"/>
            </a:stretch>
          </a:blipFill>
        </p:spPr>
      </p:sp>
      <p:sp>
        <p:nvSpPr>
          <p:cNvPr name="TextBox 10" id="10"/>
          <p:cNvSpPr txBox="true"/>
          <p:nvPr/>
        </p:nvSpPr>
        <p:spPr>
          <a:xfrm rot="0">
            <a:off x="2874674" y="1727438"/>
            <a:ext cx="12111633" cy="797562"/>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Explore heuristic values for an empty maze</a:t>
            </a:r>
          </a:p>
        </p:txBody>
      </p:sp>
      <p:sp>
        <p:nvSpPr>
          <p:cNvPr name="TextBox 11" id="11"/>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2" id="12"/>
          <p:cNvSpPr txBox="true"/>
          <p:nvPr/>
        </p:nvSpPr>
        <p:spPr>
          <a:xfrm rot="0">
            <a:off x="704332" y="2635130"/>
            <a:ext cx="2190155" cy="797562"/>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Kết quả</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6310" y="8718621"/>
            <a:ext cx="309261" cy="278721"/>
          </a:xfrm>
          <a:custGeom>
            <a:avLst/>
            <a:gdLst/>
            <a:ahLst/>
            <a:cxnLst/>
            <a:rect r="r" b="b" t="t" l="l"/>
            <a:pathLst>
              <a:path h="278721" w="309261">
                <a:moveTo>
                  <a:pt x="0" y="0"/>
                </a:moveTo>
                <a:lnTo>
                  <a:pt x="309261" y="0"/>
                </a:lnTo>
                <a:lnTo>
                  <a:pt x="309261" y="278721"/>
                </a:lnTo>
                <a:lnTo>
                  <a:pt x="0" y="2787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11022" y="8703351"/>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6310" y="7613566"/>
            <a:ext cx="309261" cy="309261"/>
          </a:xfrm>
          <a:custGeom>
            <a:avLst/>
            <a:gdLst/>
            <a:ahLst/>
            <a:cxnLst/>
            <a:rect r="r" b="b" t="t" l="l"/>
            <a:pathLst>
              <a:path h="309261" w="309261">
                <a:moveTo>
                  <a:pt x="0" y="0"/>
                </a:moveTo>
                <a:lnTo>
                  <a:pt x="309261" y="0"/>
                </a:lnTo>
                <a:lnTo>
                  <a:pt x="309261" y="309261"/>
                </a:lnTo>
                <a:lnTo>
                  <a:pt x="0" y="309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811022" y="7627676"/>
            <a:ext cx="309261" cy="281041"/>
          </a:xfrm>
          <a:custGeom>
            <a:avLst/>
            <a:gdLst/>
            <a:ahLst/>
            <a:cxnLst/>
            <a:rect r="r" b="b" t="t" l="l"/>
            <a:pathLst>
              <a:path h="281041" w="309261">
                <a:moveTo>
                  <a:pt x="0" y="0"/>
                </a:moveTo>
                <a:lnTo>
                  <a:pt x="309261" y="0"/>
                </a:lnTo>
                <a:lnTo>
                  <a:pt x="309261" y="281041"/>
                </a:lnTo>
                <a:lnTo>
                  <a:pt x="0" y="281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2169768" y="5824169"/>
            <a:ext cx="584287" cy="383505"/>
          </a:xfrm>
          <a:custGeom>
            <a:avLst/>
            <a:gdLst/>
            <a:ahLst/>
            <a:cxnLst/>
            <a:rect r="r" b="b" t="t" l="l"/>
            <a:pathLst>
              <a:path h="383505" w="584287">
                <a:moveTo>
                  <a:pt x="0" y="383504"/>
                </a:moveTo>
                <a:lnTo>
                  <a:pt x="584287" y="383504"/>
                </a:lnTo>
                <a:lnTo>
                  <a:pt x="584287" y="0"/>
                </a:lnTo>
                <a:lnTo>
                  <a:pt x="0" y="0"/>
                </a:lnTo>
                <a:lnTo>
                  <a:pt x="0" y="38350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6825907" y="7539835"/>
            <a:ext cx="2610237" cy="456722"/>
          </a:xfrm>
          <a:prstGeom prst="rect">
            <a:avLst/>
          </a:prstGeom>
        </p:spPr>
        <p:txBody>
          <a:bodyPr anchor="t" rtlCol="false" tIns="0" lIns="0" bIns="0" rIns="0">
            <a:spAutoFit/>
          </a:bodyPr>
          <a:lstStyle/>
          <a:p>
            <a:pPr algn="ctr">
              <a:lnSpc>
                <a:spcPts val="1831"/>
              </a:lnSpc>
            </a:pPr>
            <a:r>
              <a:rPr lang="en-US" sz="1526">
                <a:solidFill>
                  <a:srgbClr val="FFFFFF"/>
                </a:solidFill>
                <a:latin typeface="Helios"/>
                <a:ea typeface="Helios"/>
                <a:cs typeface="Helios"/>
                <a:sym typeface="Helios"/>
              </a:rPr>
              <a:t>Collecting Demographic and Psychographics Data</a:t>
            </a:r>
          </a:p>
        </p:txBody>
      </p:sp>
      <p:sp>
        <p:nvSpPr>
          <p:cNvPr name="TextBox 8" id="8"/>
          <p:cNvSpPr txBox="true"/>
          <p:nvPr/>
        </p:nvSpPr>
        <p:spPr>
          <a:xfrm rot="0">
            <a:off x="704332" y="3524553"/>
            <a:ext cx="16970420" cy="11009757"/>
          </a:xfrm>
          <a:prstGeom prst="rect">
            <a:avLst/>
          </a:prstGeom>
        </p:spPr>
        <p:txBody>
          <a:bodyPr anchor="t" rtlCol="false" tIns="0" lIns="0" bIns="0" rIns="0">
            <a:spAutoFit/>
          </a:bodyPr>
          <a:lstStyle/>
          <a:p>
            <a:pPr algn="just">
              <a:lnSpc>
                <a:spcPts val="5904"/>
              </a:lnSpc>
            </a:pPr>
            <a:r>
              <a:rPr lang="en-US" sz="3600" b="true">
                <a:solidFill>
                  <a:srgbClr val="000000"/>
                </a:solidFill>
                <a:latin typeface="Helios Bold"/>
                <a:ea typeface="Helios Bold"/>
                <a:cs typeface="Helios Bold"/>
                <a:sym typeface="Helios Bold"/>
              </a:rPr>
              <a:t>3. GBFS với Euclidean Distance</a:t>
            </a:r>
          </a:p>
          <a:p>
            <a:pPr algn="just">
              <a:lnSpc>
                <a:spcPts val="5904"/>
              </a:lnSpc>
            </a:pPr>
          </a:p>
          <a:p>
            <a:pPr algn="l" marL="539756" indent="-269878" lvl="1">
              <a:lnSpc>
                <a:spcPts val="4100"/>
              </a:lnSpc>
              <a:buFont typeface="Arial"/>
              <a:buChar char="•"/>
            </a:pPr>
            <a:r>
              <a:rPr lang="en-US" b="true" sz="2500">
                <a:solidFill>
                  <a:srgbClr val="000000"/>
                </a:solidFill>
                <a:latin typeface="Helios Bold"/>
                <a:ea typeface="Helios Bold"/>
                <a:cs typeface="Helios Bold"/>
                <a:sym typeface="Helios Bold"/>
              </a:rPr>
              <a:t> </a:t>
            </a:r>
            <a:r>
              <a:rPr lang="en-US" sz="2500">
                <a:solidFill>
                  <a:srgbClr val="000000"/>
                </a:solidFill>
                <a:latin typeface="Helios"/>
                <a:ea typeface="Helios"/>
                <a:cs typeface="Helios"/>
                <a:sym typeface="Helios"/>
              </a:rPr>
              <a:t>Khi áp dụng GBFS với Euclidean Distance cho bài toán tìm đường trên bản đồ:</a:t>
            </a:r>
          </a:p>
          <a:p>
            <a:pPr algn="l" marL="539756" indent="-269878" lvl="1">
              <a:lnSpc>
                <a:spcPts val="4100"/>
              </a:lnSpc>
              <a:buFont typeface="Arial"/>
              <a:buChar char="•"/>
            </a:pPr>
            <a:r>
              <a:rPr lang="en-US" sz="2500">
                <a:solidFill>
                  <a:srgbClr val="000000"/>
                </a:solidFill>
                <a:latin typeface="Helios"/>
                <a:ea typeface="Helios"/>
                <a:cs typeface="Helios"/>
                <a:sym typeface="Helios"/>
              </a:rPr>
              <a:t>Thuật toán chạy nhanh hơn A*, vì không cần cộng thêm chi phí g(n).</a:t>
            </a:r>
          </a:p>
          <a:p>
            <a:pPr algn="l" marL="539756" indent="-269878" lvl="1">
              <a:lnSpc>
                <a:spcPts val="4100"/>
              </a:lnSpc>
              <a:buFont typeface="Arial"/>
              <a:buChar char="•"/>
            </a:pPr>
            <a:r>
              <a:rPr lang="en-US" sz="2500">
                <a:solidFill>
                  <a:srgbClr val="000000"/>
                </a:solidFill>
                <a:latin typeface="Helios"/>
                <a:ea typeface="Helios"/>
                <a:cs typeface="Helios"/>
                <a:sym typeface="Helios"/>
              </a:rPr>
              <a:t>Đường đi thường ngắn hơn về trực quan, vì heuristic Euclidean hướng thẳng đến mục tiêu.</a:t>
            </a:r>
          </a:p>
          <a:p>
            <a:pPr algn="l" marL="539756" indent="-269878" lvl="1">
              <a:lnSpc>
                <a:spcPts val="4100"/>
              </a:lnSpc>
              <a:buFont typeface="Arial"/>
              <a:buChar char="•"/>
            </a:pPr>
            <a:r>
              <a:rPr lang="en-US" sz="2500">
                <a:solidFill>
                  <a:srgbClr val="000000"/>
                </a:solidFill>
                <a:latin typeface="Helios"/>
                <a:ea typeface="Helios"/>
                <a:cs typeface="Helios"/>
                <a:sym typeface="Helios"/>
              </a:rPr>
              <a:t>Tuy nhiên, kết quả không đảm bảo là đường đi ngắn nhất — đôi khi GBFS có thể chọn một đường “đi tắt” nhưng thực ra tốn nhiều bước hơn do bị chặn.</a:t>
            </a:r>
          </a:p>
          <a:p>
            <a:pPr algn="l" marL="539756" indent="-269878" lvl="1">
              <a:lnSpc>
                <a:spcPts val="4100"/>
              </a:lnSpc>
              <a:buFont typeface="Arial"/>
              <a:buChar char="•"/>
            </a:pPr>
            <a:r>
              <a:rPr lang="en-US" sz="2500">
                <a:solidFill>
                  <a:srgbClr val="000000"/>
                </a:solidFill>
                <a:latin typeface="Helios"/>
                <a:ea typeface="Helios"/>
                <a:cs typeface="Helios"/>
                <a:sym typeface="Helios"/>
              </a:rPr>
              <a:t>Trong thực nghiệm, chi phí đường đi thường cao hơn A*, nhưng số nút mở rộng ít hơn → tiết kiệm thời gian và bộ nhớ.</a:t>
            </a:r>
          </a:p>
          <a:p>
            <a:pPr algn="ctr">
              <a:lnSpc>
                <a:spcPts val="5904"/>
              </a:lnSpc>
            </a:pPr>
          </a:p>
          <a:p>
            <a:pPr algn="just">
              <a:lnSpc>
                <a:spcPts val="5904"/>
              </a:lnSpc>
            </a:pPr>
          </a:p>
          <a:p>
            <a:pPr algn="just">
              <a:lnSpc>
                <a:spcPts val="5904"/>
              </a:lnSpc>
            </a:pPr>
          </a:p>
          <a:p>
            <a:pPr algn="just">
              <a:lnSpc>
                <a:spcPts val="5904"/>
              </a:lnSpc>
            </a:pPr>
          </a:p>
          <a:p>
            <a:pPr algn="just">
              <a:lnSpc>
                <a:spcPts val="5904"/>
              </a:lnSpc>
            </a:pPr>
          </a:p>
          <a:p>
            <a:pPr algn="just">
              <a:lnSpc>
                <a:spcPts val="5904"/>
              </a:lnSpc>
            </a:pPr>
          </a:p>
          <a:p>
            <a:pPr algn="just">
              <a:lnSpc>
                <a:spcPts val="5904"/>
              </a:lnSpc>
            </a:pPr>
          </a:p>
          <a:p>
            <a:pPr algn="just">
              <a:lnSpc>
                <a:spcPts val="5904"/>
              </a:lnSpc>
            </a:pPr>
          </a:p>
        </p:txBody>
      </p:sp>
      <p:sp>
        <p:nvSpPr>
          <p:cNvPr name="TextBox 9" id="9"/>
          <p:cNvSpPr txBox="true"/>
          <p:nvPr/>
        </p:nvSpPr>
        <p:spPr>
          <a:xfrm rot="0">
            <a:off x="2874674" y="1727438"/>
            <a:ext cx="12111633" cy="797562"/>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Explore heuristic values for an empty maze</a:t>
            </a:r>
          </a:p>
        </p:txBody>
      </p:sp>
      <p:sp>
        <p:nvSpPr>
          <p:cNvPr name="TextBox 10" id="10"/>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11" id="11"/>
          <p:cNvSpPr txBox="true"/>
          <p:nvPr/>
        </p:nvSpPr>
        <p:spPr>
          <a:xfrm rot="0">
            <a:off x="704332" y="2635130"/>
            <a:ext cx="2190155" cy="797562"/>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Helios Bold"/>
                <a:ea typeface="Helios Bold"/>
                <a:cs typeface="Helios Bold"/>
                <a:sym typeface="Helios Bold"/>
              </a:rPr>
              <a:t>Kết quả</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3" id="3"/>
          <p:cNvSpPr txBox="true"/>
          <p:nvPr/>
        </p:nvSpPr>
        <p:spPr>
          <a:xfrm rot="0">
            <a:off x="-753447" y="3416652"/>
            <a:ext cx="12583885" cy="681269"/>
          </a:xfrm>
          <a:prstGeom prst="rect">
            <a:avLst/>
          </a:prstGeom>
        </p:spPr>
        <p:txBody>
          <a:bodyPr anchor="t" rtlCol="false" tIns="0" lIns="0" bIns="0" rIns="0">
            <a:spAutoFit/>
          </a:bodyPr>
          <a:lstStyle/>
          <a:p>
            <a:pPr algn="ctr">
              <a:lnSpc>
                <a:spcPts val="5435"/>
              </a:lnSpc>
              <a:spcBef>
                <a:spcPct val="0"/>
              </a:spcBef>
            </a:pPr>
            <a:r>
              <a:rPr lang="en-US" b="true" sz="3882">
                <a:solidFill>
                  <a:srgbClr val="16599D"/>
                </a:solidFill>
                <a:latin typeface="Helios Bold"/>
                <a:ea typeface="Helios Bold"/>
                <a:cs typeface="Helios Bold"/>
                <a:sym typeface="Helios Bold"/>
              </a:rPr>
              <a:t>2. Solv</a:t>
            </a:r>
            <a:r>
              <a:rPr lang="en-US" b="true" sz="3882">
                <a:solidFill>
                  <a:srgbClr val="16599D"/>
                </a:solidFill>
                <a:latin typeface="Helios Bold"/>
                <a:ea typeface="Helios Bold"/>
                <a:cs typeface="Helios Bold"/>
                <a:sym typeface="Helios Bold"/>
              </a:rPr>
              <a:t>ing a maze using a goal-base Agent</a:t>
            </a:r>
          </a:p>
        </p:txBody>
      </p:sp>
      <p:grpSp>
        <p:nvGrpSpPr>
          <p:cNvPr name="Group 4" id="4"/>
          <p:cNvGrpSpPr/>
          <p:nvPr/>
        </p:nvGrpSpPr>
        <p:grpSpPr>
          <a:xfrm rot="0">
            <a:off x="10035705" y="4756592"/>
            <a:ext cx="7660333" cy="4114800"/>
            <a:chOff x="0" y="0"/>
            <a:chExt cx="10213777" cy="5486400"/>
          </a:xfrm>
        </p:grpSpPr>
        <p:pic>
          <p:nvPicPr>
            <p:cNvPr name="Picture 5" id="5"/>
            <p:cNvPicPr>
              <a:picLocks noChangeAspect="true"/>
            </p:cNvPicPr>
            <p:nvPr/>
          </p:nvPicPr>
          <p:blipFill>
            <a:blip r:embed="rId2"/>
            <a:srcRect l="14274" t="22465" r="0" b="5160"/>
            <a:stretch>
              <a:fillRect/>
            </a:stretch>
          </p:blipFill>
          <p:spPr>
            <a:xfrm flipH="true" flipV="false">
              <a:off x="0" y="0"/>
              <a:ext cx="10213777" cy="5486400"/>
            </a:xfrm>
            <a:prstGeom prst="rect">
              <a:avLst/>
            </a:prstGeom>
          </p:spPr>
        </p:pic>
      </p:gr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436776" y="432648"/>
            <a:ext cx="7414449" cy="972821"/>
          </a:xfrm>
          <a:prstGeom prst="rect">
            <a:avLst/>
          </a:prstGeom>
        </p:spPr>
        <p:txBody>
          <a:bodyPr anchor="t" rtlCol="false" tIns="0" lIns="0" bIns="0" rIns="0">
            <a:spAutoFit/>
          </a:bodyPr>
          <a:lstStyle/>
          <a:p>
            <a:pPr algn="l">
              <a:lnSpc>
                <a:spcPts val="7669"/>
              </a:lnSpc>
            </a:pPr>
            <a:r>
              <a:rPr lang="en-US" b="true" sz="5899">
                <a:solidFill>
                  <a:srgbClr val="16599D"/>
                </a:solidFill>
                <a:latin typeface="Helios Bold"/>
                <a:ea typeface="Helios Bold"/>
                <a:cs typeface="Helios Bold"/>
                <a:sym typeface="Helios Bold"/>
              </a:rPr>
              <a:t>LAB02_02_SEARCH</a:t>
            </a:r>
          </a:p>
        </p:txBody>
      </p:sp>
      <p:sp>
        <p:nvSpPr>
          <p:cNvPr name="TextBox 3" id="3"/>
          <p:cNvSpPr txBox="true"/>
          <p:nvPr/>
        </p:nvSpPr>
        <p:spPr>
          <a:xfrm rot="0">
            <a:off x="2564359" y="1357844"/>
            <a:ext cx="17498575" cy="8727817"/>
          </a:xfrm>
          <a:prstGeom prst="rect">
            <a:avLst/>
          </a:prstGeom>
        </p:spPr>
        <p:txBody>
          <a:bodyPr anchor="t" rtlCol="false" tIns="0" lIns="0" bIns="0" rIns="0">
            <a:spAutoFit/>
          </a:bodyPr>
          <a:lstStyle/>
          <a:p>
            <a:pPr algn="l">
              <a:lnSpc>
                <a:spcPts val="2922"/>
              </a:lnSpc>
              <a:spcBef>
                <a:spcPct val="0"/>
              </a:spcBef>
            </a:pPr>
            <a:r>
              <a:rPr lang="en-US" b="true" sz="2087">
                <a:solidFill>
                  <a:srgbClr val="000000"/>
                </a:solidFill>
                <a:latin typeface="Helios Bold"/>
                <a:ea typeface="Helios Bold"/>
                <a:cs typeface="Helios Bold"/>
                <a:sym typeface="Helios Bold"/>
              </a:rPr>
              <a:t>Nhiệm vụ</a:t>
            </a:r>
          </a:p>
          <a:p>
            <a:pPr algn="l">
              <a:lnSpc>
                <a:spcPts val="2922"/>
              </a:lnSpc>
              <a:spcBef>
                <a:spcPct val="0"/>
              </a:spcBef>
            </a:pPr>
            <a:r>
              <a:rPr lang="en-US" b="true" sz="2087">
                <a:solidFill>
                  <a:srgbClr val="000000"/>
                </a:solidFill>
                <a:latin typeface="Helios Bold"/>
                <a:ea typeface="Helios Bold"/>
                <a:cs typeface="Helios Bold"/>
                <a:sym typeface="Helios Bold"/>
              </a:rPr>
              <a:t>Mục tiêu là:</a:t>
            </a:r>
          </a:p>
          <a:p>
            <a:pPr algn="l">
              <a:lnSpc>
                <a:spcPts val="2922"/>
              </a:lnSpc>
              <a:spcBef>
                <a:spcPct val="0"/>
              </a:spcBef>
            </a:pPr>
          </a:p>
          <a:p>
            <a:pPr algn="l">
              <a:lnSpc>
                <a:spcPts val="2922"/>
              </a:lnSpc>
              <a:spcBef>
                <a:spcPct val="0"/>
              </a:spcBef>
            </a:pPr>
            <a:r>
              <a:rPr lang="en-US" b="true" sz="2087">
                <a:solidFill>
                  <a:srgbClr val="000000"/>
                </a:solidFill>
                <a:latin typeface="Helios Bold"/>
                <a:ea typeface="Helios Bold"/>
                <a:cs typeface="Helios Bold"/>
                <a:sym typeface="Helios Bold"/>
              </a:rPr>
              <a:t>1. Cài đặt các thuật toán tìm kiếm:</a:t>
            </a:r>
          </a:p>
          <a:p>
            <a:pPr algn="l" marL="450673" indent="-225337" lvl="1">
              <a:lnSpc>
                <a:spcPts val="2922"/>
              </a:lnSpc>
              <a:spcBef>
                <a:spcPct val="0"/>
              </a:spcBef>
              <a:buFont typeface="Arial"/>
              <a:buChar char="•"/>
            </a:pPr>
            <a:r>
              <a:rPr lang="en-US" sz="2087">
                <a:solidFill>
                  <a:srgbClr val="000000"/>
                </a:solidFill>
                <a:latin typeface="Helios"/>
                <a:ea typeface="Helios"/>
                <a:cs typeface="Helios"/>
                <a:sym typeface="Helios"/>
              </a:rPr>
              <a:t>Breadth-first Search (BFS)</a:t>
            </a:r>
          </a:p>
          <a:p>
            <a:pPr algn="l" marL="450673" indent="-225337" lvl="1">
              <a:lnSpc>
                <a:spcPts val="2922"/>
              </a:lnSpc>
              <a:spcBef>
                <a:spcPct val="0"/>
              </a:spcBef>
              <a:buFont typeface="Arial"/>
              <a:buChar char="•"/>
            </a:pPr>
            <a:r>
              <a:rPr lang="en-US" sz="2087">
                <a:solidFill>
                  <a:srgbClr val="000000"/>
                </a:solidFill>
                <a:latin typeface="Helios"/>
                <a:ea typeface="Helios"/>
                <a:cs typeface="Helios"/>
                <a:sym typeface="Helios"/>
              </a:rPr>
              <a:t>Depth-first Search (DFS)</a:t>
            </a:r>
          </a:p>
          <a:p>
            <a:pPr algn="l" marL="450673" indent="-225337" lvl="1">
              <a:lnSpc>
                <a:spcPts val="2922"/>
              </a:lnSpc>
              <a:spcBef>
                <a:spcPct val="0"/>
              </a:spcBef>
              <a:buFont typeface="Arial"/>
              <a:buChar char="•"/>
            </a:pPr>
            <a:r>
              <a:rPr lang="en-US" sz="2087">
                <a:solidFill>
                  <a:srgbClr val="000000"/>
                </a:solidFill>
                <a:latin typeface="Helios"/>
                <a:ea typeface="Helios"/>
                <a:cs typeface="Helios"/>
                <a:sym typeface="Helios"/>
              </a:rPr>
              <a:t>Greedy Best-first Search (GBFS)</a:t>
            </a:r>
          </a:p>
          <a:p>
            <a:pPr algn="l" marL="450673" indent="-225337" lvl="1">
              <a:lnSpc>
                <a:spcPts val="2922"/>
              </a:lnSpc>
              <a:spcBef>
                <a:spcPct val="0"/>
              </a:spcBef>
              <a:buFont typeface="Arial"/>
              <a:buChar char="•"/>
            </a:pPr>
            <a:r>
              <a:rPr lang="en-US" sz="2087">
                <a:solidFill>
                  <a:srgbClr val="000000"/>
                </a:solidFill>
                <a:latin typeface="Helios"/>
                <a:ea typeface="Helios"/>
                <a:cs typeface="Helios"/>
                <a:sym typeface="Helios"/>
              </a:rPr>
              <a:t>A* Search</a:t>
            </a:r>
          </a:p>
          <a:p>
            <a:pPr algn="l">
              <a:lnSpc>
                <a:spcPts val="2922"/>
              </a:lnSpc>
              <a:spcBef>
                <a:spcPct val="0"/>
              </a:spcBef>
            </a:pPr>
          </a:p>
          <a:p>
            <a:pPr algn="l">
              <a:lnSpc>
                <a:spcPts val="2922"/>
              </a:lnSpc>
              <a:spcBef>
                <a:spcPct val="0"/>
              </a:spcBef>
            </a:pPr>
            <a:r>
              <a:rPr lang="en-US" b="true" sz="2087">
                <a:solidFill>
                  <a:srgbClr val="000000"/>
                </a:solidFill>
                <a:latin typeface="Helios Bold"/>
                <a:ea typeface="Helios Bold"/>
                <a:cs typeface="Helios Bold"/>
                <a:sym typeface="Helios Bold"/>
              </a:rPr>
              <a:t>2. Thực nghiệm trên các loại mê cung:</a:t>
            </a:r>
          </a:p>
          <a:p>
            <a:pPr algn="l" marL="450673" indent="-225337" lvl="1">
              <a:lnSpc>
                <a:spcPts val="2922"/>
              </a:lnSpc>
              <a:spcBef>
                <a:spcPct val="0"/>
              </a:spcBef>
              <a:buFont typeface="Arial"/>
              <a:buChar char="•"/>
            </a:pPr>
            <a:r>
              <a:rPr lang="en-US" sz="2087" u="none">
                <a:solidFill>
                  <a:srgbClr val="000000"/>
                </a:solidFill>
                <a:latin typeface="Helios"/>
                <a:ea typeface="Helios"/>
                <a:cs typeface="Helios"/>
                <a:sym typeface="Helios"/>
              </a:rPr>
              <a:t>small</a:t>
            </a:r>
            <a:r>
              <a:rPr lang="en-US" sz="2087">
                <a:solidFill>
                  <a:srgbClr val="000000"/>
                </a:solidFill>
                <a:latin typeface="Helios"/>
                <a:ea typeface="Helios"/>
                <a:cs typeface="Helios"/>
                <a:sym typeface="Helios"/>
              </a:rPr>
              <a:t>, </a:t>
            </a:r>
            <a:r>
              <a:rPr lang="en-US" sz="2087" u="none">
                <a:solidFill>
                  <a:srgbClr val="000000"/>
                </a:solidFill>
                <a:latin typeface="Helios"/>
                <a:ea typeface="Helios"/>
                <a:cs typeface="Helios"/>
                <a:sym typeface="Helios"/>
              </a:rPr>
              <a:t>medium</a:t>
            </a:r>
            <a:r>
              <a:rPr lang="en-US" sz="2087">
                <a:solidFill>
                  <a:srgbClr val="000000"/>
                </a:solidFill>
                <a:latin typeface="Helios"/>
                <a:ea typeface="Helios"/>
                <a:cs typeface="Helios"/>
                <a:sym typeface="Helios"/>
              </a:rPr>
              <a:t>, </a:t>
            </a:r>
            <a:r>
              <a:rPr lang="en-US" sz="2087" u="none">
                <a:solidFill>
                  <a:srgbClr val="000000"/>
                </a:solidFill>
                <a:latin typeface="Helios"/>
                <a:ea typeface="Helios"/>
                <a:cs typeface="Helios"/>
                <a:sym typeface="Helios"/>
              </a:rPr>
              <a:t>large</a:t>
            </a:r>
          </a:p>
          <a:p>
            <a:pPr algn="l" marL="450673" indent="-225337" lvl="1">
              <a:lnSpc>
                <a:spcPts val="2922"/>
              </a:lnSpc>
              <a:spcBef>
                <a:spcPct val="0"/>
              </a:spcBef>
              <a:buFont typeface="Arial"/>
              <a:buChar char="•"/>
            </a:pPr>
            <a:r>
              <a:rPr lang="en-US" sz="2087">
                <a:solidFill>
                  <a:srgbClr val="000000"/>
                </a:solidFill>
                <a:latin typeface="Helios"/>
                <a:ea typeface="Helios"/>
                <a:cs typeface="Helios"/>
                <a:sym typeface="Helios"/>
              </a:rPr>
              <a:t>o</a:t>
            </a:r>
            <a:r>
              <a:rPr lang="en-US" sz="2087" u="none">
                <a:solidFill>
                  <a:srgbClr val="000000"/>
                </a:solidFill>
                <a:latin typeface="Helios"/>
                <a:ea typeface="Helios"/>
                <a:cs typeface="Helios"/>
                <a:sym typeface="Helios"/>
              </a:rPr>
              <a:t>pen</a:t>
            </a:r>
            <a:r>
              <a:rPr lang="en-US" sz="2087">
                <a:solidFill>
                  <a:srgbClr val="000000"/>
                </a:solidFill>
                <a:latin typeface="Helios"/>
                <a:ea typeface="Helios"/>
                <a:cs typeface="Helios"/>
                <a:sym typeface="Helios"/>
              </a:rPr>
              <a:t>, </a:t>
            </a:r>
            <a:r>
              <a:rPr lang="en-US" sz="2087" u="none">
                <a:solidFill>
                  <a:srgbClr val="000000"/>
                </a:solidFill>
                <a:latin typeface="Helios"/>
                <a:ea typeface="Helios"/>
                <a:cs typeface="Helios"/>
                <a:sym typeface="Helios"/>
              </a:rPr>
              <a:t>wall</a:t>
            </a:r>
            <a:r>
              <a:rPr lang="en-US" sz="2087">
                <a:solidFill>
                  <a:srgbClr val="000000"/>
                </a:solidFill>
                <a:latin typeface="Helios"/>
                <a:ea typeface="Helios"/>
                <a:cs typeface="Helios"/>
                <a:sym typeface="Helios"/>
              </a:rPr>
              <a:t>, </a:t>
            </a:r>
            <a:r>
              <a:rPr lang="en-US" sz="2087" u="none">
                <a:solidFill>
                  <a:srgbClr val="000000"/>
                </a:solidFill>
                <a:latin typeface="Helios"/>
                <a:ea typeface="Helios"/>
                <a:cs typeface="Helios"/>
                <a:sym typeface="Helios"/>
              </a:rPr>
              <a:t>loops</a:t>
            </a:r>
          </a:p>
          <a:p>
            <a:pPr algn="l" marL="450673" indent="-225337" lvl="1">
              <a:lnSpc>
                <a:spcPts val="2922"/>
              </a:lnSpc>
              <a:spcBef>
                <a:spcPct val="0"/>
              </a:spcBef>
              <a:buFont typeface="Arial"/>
              <a:buChar char="•"/>
            </a:pPr>
            <a:r>
              <a:rPr lang="en-US" sz="2087" u="none">
                <a:solidFill>
                  <a:srgbClr val="000000"/>
                </a:solidFill>
                <a:latin typeface="Helios"/>
                <a:ea typeface="Helios"/>
                <a:cs typeface="Helios"/>
                <a:sym typeface="Helios"/>
              </a:rPr>
              <a:t>empty</a:t>
            </a:r>
            <a:r>
              <a:rPr lang="en-US" sz="2087">
                <a:solidFill>
                  <a:srgbClr val="000000"/>
                </a:solidFill>
                <a:latin typeface="Helios"/>
                <a:ea typeface="Helios"/>
                <a:cs typeface="Helios"/>
                <a:sym typeface="Helios"/>
              </a:rPr>
              <a:t>, </a:t>
            </a:r>
            <a:r>
              <a:rPr lang="en-US" sz="2087" u="none">
                <a:solidFill>
                  <a:srgbClr val="000000"/>
                </a:solidFill>
                <a:latin typeface="Helios"/>
                <a:ea typeface="Helios"/>
                <a:cs typeface="Helios"/>
                <a:sym typeface="Helios"/>
              </a:rPr>
              <a:t>empty_2</a:t>
            </a:r>
          </a:p>
          <a:p>
            <a:pPr algn="l">
              <a:lnSpc>
                <a:spcPts val="2922"/>
              </a:lnSpc>
              <a:spcBef>
                <a:spcPct val="0"/>
              </a:spcBef>
            </a:pPr>
          </a:p>
          <a:p>
            <a:pPr algn="l">
              <a:lnSpc>
                <a:spcPts val="2922"/>
              </a:lnSpc>
              <a:spcBef>
                <a:spcPct val="0"/>
              </a:spcBef>
            </a:pPr>
            <a:r>
              <a:rPr lang="en-US" b="true" sz="2087">
                <a:solidFill>
                  <a:srgbClr val="000000"/>
                </a:solidFill>
                <a:latin typeface="Helios Bold"/>
                <a:ea typeface="Helios Bold"/>
                <a:cs typeface="Helios Bold"/>
                <a:sym typeface="Helios Bold"/>
              </a:rPr>
              <a:t>3. Thu thập kết quả cho mỗi thuật toán &amp; mê cung:</a:t>
            </a:r>
          </a:p>
          <a:p>
            <a:pPr algn="l" marL="450673" indent="-225337" lvl="1">
              <a:lnSpc>
                <a:spcPts val="2922"/>
              </a:lnSpc>
              <a:spcBef>
                <a:spcPct val="0"/>
              </a:spcBef>
              <a:buFont typeface="Arial"/>
              <a:buChar char="•"/>
            </a:pPr>
            <a:r>
              <a:rPr lang="en-US" sz="2087">
                <a:solidFill>
                  <a:srgbClr val="000000"/>
                </a:solidFill>
                <a:latin typeface="Helios"/>
                <a:ea typeface="Helios"/>
                <a:cs typeface="Helios"/>
                <a:sym typeface="Helios"/>
              </a:rPr>
              <a:t>Lời giải &amp; chi phí đường đi (path cost)</a:t>
            </a:r>
          </a:p>
          <a:p>
            <a:pPr algn="l" marL="450673" indent="-225337" lvl="1">
              <a:lnSpc>
                <a:spcPts val="2922"/>
              </a:lnSpc>
              <a:spcBef>
                <a:spcPct val="0"/>
              </a:spcBef>
              <a:buFont typeface="Arial"/>
              <a:buChar char="•"/>
            </a:pPr>
            <a:r>
              <a:rPr lang="en-US" sz="2087">
                <a:solidFill>
                  <a:srgbClr val="000000"/>
                </a:solidFill>
                <a:latin typeface="Helios"/>
                <a:ea typeface="Helios"/>
                <a:cs typeface="Helios"/>
                <a:sym typeface="Helios"/>
              </a:rPr>
              <a:t>Số nút mở rộng (nodes expanded)</a:t>
            </a:r>
          </a:p>
          <a:p>
            <a:pPr algn="l" marL="450673" indent="-225337" lvl="1">
              <a:lnSpc>
                <a:spcPts val="2922"/>
              </a:lnSpc>
              <a:spcBef>
                <a:spcPct val="0"/>
              </a:spcBef>
              <a:buFont typeface="Arial"/>
              <a:buChar char="•"/>
            </a:pPr>
            <a:r>
              <a:rPr lang="en-US" sz="2087">
                <a:solidFill>
                  <a:srgbClr val="000000"/>
                </a:solidFill>
                <a:latin typeface="Helios"/>
                <a:ea typeface="Helios"/>
                <a:cs typeface="Helios"/>
                <a:sym typeface="Helios"/>
              </a:rPr>
              <a:t>Độ sâu cây tối đa (max tree depth)</a:t>
            </a:r>
          </a:p>
          <a:p>
            <a:pPr algn="l" marL="450673" indent="-225337" lvl="1">
              <a:lnSpc>
                <a:spcPts val="2922"/>
              </a:lnSpc>
              <a:spcBef>
                <a:spcPct val="0"/>
              </a:spcBef>
              <a:buFont typeface="Arial"/>
              <a:buChar char="•"/>
            </a:pPr>
            <a:r>
              <a:rPr lang="en-US" sz="2087">
                <a:solidFill>
                  <a:srgbClr val="000000"/>
                </a:solidFill>
                <a:latin typeface="Helios"/>
                <a:ea typeface="Helios"/>
                <a:cs typeface="Helios"/>
                <a:sym typeface="Helios"/>
              </a:rPr>
              <a:t>Kích thước lớn nhất của frontier</a:t>
            </a:r>
          </a:p>
          <a:p>
            <a:pPr algn="l">
              <a:lnSpc>
                <a:spcPts val="2922"/>
              </a:lnSpc>
              <a:spcBef>
                <a:spcPct val="0"/>
              </a:spcBef>
            </a:pPr>
          </a:p>
          <a:p>
            <a:pPr algn="l">
              <a:lnSpc>
                <a:spcPts val="2922"/>
              </a:lnSpc>
              <a:spcBef>
                <a:spcPct val="0"/>
              </a:spcBef>
            </a:pPr>
            <a:r>
              <a:rPr lang="en-US" b="true" sz="2087">
                <a:solidFill>
                  <a:srgbClr val="000000"/>
                </a:solidFill>
                <a:latin typeface="Helios Bold"/>
                <a:ea typeface="Helios Bold"/>
                <a:cs typeface="Helios Bold"/>
                <a:sym typeface="Helios Bold"/>
              </a:rPr>
              <a:t>4. Trực quan hóa kết quả:</a:t>
            </a:r>
          </a:p>
          <a:p>
            <a:pPr algn="l" marL="450673" indent="-225337" lvl="1">
              <a:lnSpc>
                <a:spcPts val="2922"/>
              </a:lnSpc>
              <a:spcBef>
                <a:spcPct val="0"/>
              </a:spcBef>
              <a:buFont typeface="Arial"/>
              <a:buChar char="•"/>
            </a:pPr>
            <a:r>
              <a:rPr lang="en-US" sz="2087">
                <a:solidFill>
                  <a:srgbClr val="000000"/>
                </a:solidFill>
                <a:latin typeface="Helios"/>
                <a:ea typeface="Helios"/>
                <a:cs typeface="Helios"/>
                <a:sym typeface="Helios"/>
              </a:rPr>
              <a:t>Hiển thị đường đi tìm được</a:t>
            </a:r>
          </a:p>
          <a:p>
            <a:pPr algn="l" marL="450673" indent="-225337" lvl="1">
              <a:lnSpc>
                <a:spcPts val="2922"/>
              </a:lnSpc>
              <a:spcBef>
                <a:spcPct val="0"/>
              </a:spcBef>
              <a:buFont typeface="Arial"/>
              <a:buChar char="•"/>
            </a:pPr>
            <a:r>
              <a:rPr lang="en-US" sz="2087">
                <a:solidFill>
                  <a:srgbClr val="000000"/>
                </a:solidFill>
                <a:latin typeface="Helios"/>
                <a:ea typeface="Helios"/>
                <a:cs typeface="Helios"/>
                <a:sym typeface="Helios"/>
              </a:rPr>
              <a:t>Đánh dấu các ô đã thăm và đường đi cuối cùng</a:t>
            </a:r>
          </a:p>
          <a:p>
            <a:pPr algn="l">
              <a:lnSpc>
                <a:spcPts val="2922"/>
              </a:lnSpc>
              <a:spcBef>
                <a:spcPct val="0"/>
              </a:spcBef>
            </a:pPr>
          </a:p>
        </p:txBody>
      </p:sp>
      <p:grpSp>
        <p:nvGrpSpPr>
          <p:cNvPr name="Group 4" id="4"/>
          <p:cNvGrpSpPr/>
          <p:nvPr/>
        </p:nvGrpSpPr>
        <p:grpSpPr>
          <a:xfrm rot="0">
            <a:off x="9652604" y="1405469"/>
            <a:ext cx="6397241" cy="8229600"/>
            <a:chOff x="0" y="0"/>
            <a:chExt cx="8529655" cy="10972800"/>
          </a:xfrm>
        </p:grpSpPr>
        <p:pic>
          <p:nvPicPr>
            <p:cNvPr name="Picture 5" id="5"/>
            <p:cNvPicPr>
              <a:picLocks noChangeAspect="true"/>
            </p:cNvPicPr>
            <p:nvPr/>
          </p:nvPicPr>
          <p:blipFill>
            <a:blip r:embed="rId2"/>
            <a:srcRect l="25748" t="0" r="22428" b="0"/>
            <a:stretch>
              <a:fillRect/>
            </a:stretch>
          </p:blipFill>
          <p:spPr>
            <a:xfrm flipH="true" flipV="false">
              <a:off x="0" y="0"/>
              <a:ext cx="8529655" cy="10972800"/>
            </a:xfrm>
            <a:prstGeom prst="rect">
              <a:avLst/>
            </a:prstGeom>
          </p:spPr>
        </p:pic>
      </p:gr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04905" y="534049"/>
            <a:ext cx="7392177" cy="8172025"/>
          </a:xfrm>
          <a:prstGeom prst="rect">
            <a:avLst/>
          </a:prstGeom>
        </p:spPr>
        <p:txBody>
          <a:bodyPr anchor="t" rtlCol="false" tIns="0" lIns="0" bIns="0" rIns="0">
            <a:spAutoFit/>
          </a:bodyPr>
          <a:lstStyle/>
          <a:p>
            <a:pPr algn="just">
              <a:lnSpc>
                <a:spcPts val="2823"/>
              </a:lnSpc>
              <a:spcBef>
                <a:spcPct val="0"/>
              </a:spcBef>
            </a:pPr>
            <a:r>
              <a:rPr lang="en-US" b="true" sz="2016">
                <a:solidFill>
                  <a:srgbClr val="000000"/>
                </a:solidFill>
                <a:latin typeface="Helios Bold"/>
                <a:ea typeface="Helios Bold"/>
                <a:cs typeface="Helios Bold"/>
                <a:sym typeface="Helios Bold"/>
              </a:rPr>
              <a:t>Yêu cầu chung [10 điểm]</a:t>
            </a:r>
          </a:p>
          <a:p>
            <a:pPr algn="just">
              <a:lnSpc>
                <a:spcPts val="2823"/>
              </a:lnSpc>
              <a:spcBef>
                <a:spcPct val="0"/>
              </a:spcBef>
            </a:pPr>
          </a:p>
          <a:p>
            <a:pPr algn="just">
              <a:lnSpc>
                <a:spcPts val="2823"/>
              </a:lnSpc>
              <a:spcBef>
                <a:spcPct val="0"/>
              </a:spcBef>
            </a:pPr>
            <a:r>
              <a:rPr lang="en-US" b="true" sz="2016">
                <a:solidFill>
                  <a:srgbClr val="000000"/>
                </a:solidFill>
                <a:latin typeface="Helios Bold"/>
                <a:ea typeface="Helios Bold"/>
                <a:cs typeface="Helios Bold"/>
                <a:sym typeface="Helios Bold"/>
              </a:rPr>
              <a:t>1. Đảm bảo bạn đang dùng phiên bản mới nhất của notebook này.</a:t>
            </a:r>
          </a:p>
          <a:p>
            <a:pPr algn="just">
              <a:lnSpc>
                <a:spcPts val="2823"/>
              </a:lnSpc>
              <a:spcBef>
                <a:spcPct val="0"/>
              </a:spcBef>
            </a:pPr>
          </a:p>
          <a:p>
            <a:pPr algn="just">
              <a:lnSpc>
                <a:spcPts val="2823"/>
              </a:lnSpc>
              <a:spcBef>
                <a:spcPct val="0"/>
              </a:spcBef>
            </a:pPr>
            <a:r>
              <a:rPr lang="en-US" b="true" sz="2016">
                <a:solidFill>
                  <a:srgbClr val="000000"/>
                </a:solidFill>
                <a:latin typeface="Helios Bold"/>
                <a:ea typeface="Helios Bold"/>
                <a:cs typeface="Helios Bold"/>
                <a:sym typeface="Helios Bold"/>
              </a:rPr>
              <a:t>2. Cài đặt của bạn có thể dùng các thư viện như math, numpy, scipy, nhưng không dùng các thư viện đã cài sẵn agent thông minh hoặc các thuật toán tìm kiếm hoàn chỉnh. Cố gắng giữ mã nguồn đơn giản! Ở khóa học này chúng ta muốn học về các thuật toán và thường không cần thiết kế hướng đối tượng phức tạp.</a:t>
            </a:r>
          </a:p>
          <a:p>
            <a:pPr algn="just">
              <a:lnSpc>
                <a:spcPts val="2823"/>
              </a:lnSpc>
              <a:spcBef>
                <a:spcPct val="0"/>
              </a:spcBef>
            </a:pPr>
          </a:p>
          <a:p>
            <a:pPr algn="just">
              <a:lnSpc>
                <a:spcPts val="2823"/>
              </a:lnSpc>
              <a:spcBef>
                <a:spcPct val="0"/>
              </a:spcBef>
            </a:pPr>
            <a:r>
              <a:rPr lang="en-US" b="true" sz="2016">
                <a:solidFill>
                  <a:srgbClr val="000000"/>
                </a:solidFill>
                <a:latin typeface="Helios Bold"/>
                <a:ea typeface="Helios Bold"/>
                <a:cs typeface="Helios Bold"/>
                <a:sym typeface="Helios Bold"/>
              </a:rPr>
              <a:t>3. Notebook của bạn cần được trình bày chuyên nghiệp.</a:t>
            </a:r>
          </a:p>
          <a:p>
            <a:pPr algn="just">
              <a:lnSpc>
                <a:spcPts val="2823"/>
              </a:lnSpc>
              <a:spcBef>
                <a:spcPct val="0"/>
              </a:spcBef>
            </a:pPr>
            <a:r>
              <a:rPr lang="en-US" sz="2016">
                <a:solidFill>
                  <a:srgbClr val="000000"/>
                </a:solidFill>
                <a:latin typeface="Helios"/>
                <a:ea typeface="Helios"/>
                <a:cs typeface="Helios"/>
                <a:sym typeface="Helios"/>
              </a:rPr>
              <a:t>o Thêm các ô markdown để giải thích, thêm chú thích trong mã, chèn bảng và sử dụng matplotlib để vẽ biểu đồ khi cần thiết.</a:t>
            </a:r>
          </a:p>
          <a:p>
            <a:pPr algn="just">
              <a:lnSpc>
                <a:spcPts val="2823"/>
              </a:lnSpc>
              <a:spcBef>
                <a:spcPct val="0"/>
              </a:spcBef>
            </a:pPr>
            <a:r>
              <a:rPr lang="en-US" sz="2016">
                <a:solidFill>
                  <a:srgbClr val="000000"/>
                </a:solidFill>
                <a:latin typeface="Helios"/>
                <a:ea typeface="Helios"/>
                <a:cs typeface="Helios"/>
                <a:sym typeface="Helios"/>
              </a:rPr>
              <a:t>o Không hiển thị các đầu ra dùng để gỡ lỗi hoặc in ra lượng lớn thông tin thừa.</a:t>
            </a:r>
          </a:p>
          <a:p>
            <a:pPr algn="just">
              <a:lnSpc>
                <a:spcPts val="2823"/>
              </a:lnSpc>
              <a:spcBef>
                <a:spcPct val="0"/>
              </a:spcBef>
            </a:pPr>
            <a:r>
              <a:rPr lang="en-US" sz="2016">
                <a:solidFill>
                  <a:srgbClr val="000000"/>
                </a:solidFill>
                <a:latin typeface="Helios"/>
                <a:ea typeface="Helios"/>
                <a:cs typeface="Helios"/>
                <a:sym typeface="Helios"/>
              </a:rPr>
              <a:t>o Kiểm tra rằng file nộp có thể đọc được và chứa tất cả hình/biểu đồ.</a:t>
            </a:r>
          </a:p>
          <a:p>
            <a:pPr algn="just">
              <a:lnSpc>
                <a:spcPts val="2823"/>
              </a:lnSpc>
              <a:spcBef>
                <a:spcPct val="0"/>
              </a:spcBef>
            </a:pPr>
          </a:p>
          <a:p>
            <a:pPr algn="just">
              <a:lnSpc>
                <a:spcPts val="2823"/>
              </a:lnSpc>
              <a:spcBef>
                <a:spcPct val="0"/>
              </a:spcBef>
            </a:pPr>
            <a:r>
              <a:rPr lang="en-US" b="true" sz="2016">
                <a:solidFill>
                  <a:srgbClr val="000000"/>
                </a:solidFill>
                <a:latin typeface="Helios Bold"/>
                <a:ea typeface="Helios Bold"/>
                <a:cs typeface="Helios Bold"/>
                <a:sym typeface="Helios Bold"/>
              </a:rPr>
              <a:t>4. Ghi chú cho mã của bạn</a:t>
            </a:r>
            <a:r>
              <a:rPr lang="en-US" sz="2016">
                <a:solidFill>
                  <a:srgbClr val="000000"/>
                </a:solidFill>
                <a:latin typeface="Helios"/>
                <a:ea typeface="Helios"/>
                <a:cs typeface="Helios"/>
                <a:sym typeface="Helios"/>
              </a:rPr>
              <a:t>. Dùng comment trong mã và thêm phần thảo luận về cách cài đặt hoạt động cùng các lựa chọn thiết kế của bạn.</a:t>
            </a:r>
          </a:p>
        </p:txBody>
      </p:sp>
      <p:grpSp>
        <p:nvGrpSpPr>
          <p:cNvPr name="Group 3" id="3"/>
          <p:cNvGrpSpPr/>
          <p:nvPr/>
        </p:nvGrpSpPr>
        <p:grpSpPr>
          <a:xfrm rot="0">
            <a:off x="9144000" y="2775261"/>
            <a:ext cx="9040082" cy="3737225"/>
            <a:chOff x="0" y="0"/>
            <a:chExt cx="12053443" cy="4982967"/>
          </a:xfrm>
        </p:grpSpPr>
        <p:pic>
          <p:nvPicPr>
            <p:cNvPr name="Picture 4" id="4"/>
            <p:cNvPicPr>
              <a:picLocks noChangeAspect="true"/>
            </p:cNvPicPr>
            <p:nvPr/>
          </p:nvPicPr>
          <p:blipFill>
            <a:blip r:embed="rId2"/>
            <a:srcRect l="0" t="8167" r="0" b="29899"/>
            <a:stretch>
              <a:fillRect/>
            </a:stretch>
          </p:blipFill>
          <p:spPr>
            <a:xfrm flipH="false" flipV="false">
              <a:off x="0" y="0"/>
              <a:ext cx="12053443" cy="4982967"/>
            </a:xfrm>
            <a:prstGeom prst="rect">
              <a:avLst/>
            </a:prstGeom>
          </p:spPr>
        </p:pic>
      </p:grpSp>
    </p:spTree>
  </p:cSld>
  <p:clrMapOvr>
    <a:masterClrMapping/>
  </p:clrMapOvr>
</p:sld>
</file>

<file path=ppt/slides/slide4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931869" y="376130"/>
            <a:ext cx="13838439" cy="495736"/>
          </a:xfrm>
          <a:prstGeom prst="rect">
            <a:avLst/>
          </a:prstGeom>
        </p:spPr>
        <p:txBody>
          <a:bodyPr anchor="t" rtlCol="false" tIns="0" lIns="0" bIns="0" rIns="0">
            <a:spAutoFit/>
          </a:bodyPr>
          <a:lstStyle/>
          <a:p>
            <a:pPr algn="ctr">
              <a:lnSpc>
                <a:spcPts val="3915"/>
              </a:lnSpc>
              <a:spcBef>
                <a:spcPct val="0"/>
              </a:spcBef>
            </a:pPr>
            <a:r>
              <a:rPr lang="en-US" b="true" sz="2796">
                <a:solidFill>
                  <a:srgbClr val="000000"/>
                </a:solidFill>
                <a:latin typeface="Helios Bold"/>
                <a:ea typeface="Helios Bold"/>
                <a:cs typeface="Helios Bold"/>
                <a:sym typeface="Helios Bold"/>
              </a:rPr>
              <a:t>Nhiệm vụ 1: Xác định bài toán tìm kiếm và xác định kích thước bài toán [10 điểm]</a:t>
            </a:r>
          </a:p>
        </p:txBody>
      </p:sp>
      <p:sp>
        <p:nvSpPr>
          <p:cNvPr name="TextBox 3" id="3"/>
          <p:cNvSpPr txBox="true"/>
          <p:nvPr/>
        </p:nvSpPr>
        <p:spPr>
          <a:xfrm rot="0">
            <a:off x="2053786" y="1955105"/>
            <a:ext cx="13915527" cy="5941229"/>
          </a:xfrm>
          <a:prstGeom prst="rect">
            <a:avLst/>
          </a:prstGeom>
        </p:spPr>
        <p:txBody>
          <a:bodyPr anchor="t" rtlCol="false" tIns="0" lIns="0" bIns="0" rIns="0">
            <a:spAutoFit/>
          </a:bodyPr>
          <a:lstStyle/>
          <a:p>
            <a:pPr algn="just" marL="523407" indent="-261704" lvl="1">
              <a:lnSpc>
                <a:spcPts val="3394"/>
              </a:lnSpc>
              <a:spcBef>
                <a:spcPct val="0"/>
              </a:spcBef>
              <a:buFont typeface="Arial"/>
              <a:buChar char="•"/>
            </a:pPr>
            <a:r>
              <a:rPr lang="en-US" sz="2424">
                <a:solidFill>
                  <a:srgbClr val="000000"/>
                </a:solidFill>
                <a:latin typeface="Helios"/>
                <a:ea typeface="Helios"/>
                <a:cs typeface="Helios"/>
                <a:sym typeface="Helios"/>
              </a:rPr>
              <a:t>Trạng thái ban đầu (Initial state): Vị trí được đánh dấu 'S' trong mê cung, biểu diễn dưới dạng bộ (row, col).</a:t>
            </a:r>
          </a:p>
          <a:p>
            <a:pPr algn="just">
              <a:lnSpc>
                <a:spcPts val="3394"/>
              </a:lnSpc>
              <a:spcBef>
                <a:spcPct val="0"/>
              </a:spcBef>
            </a:pPr>
          </a:p>
          <a:p>
            <a:pPr algn="just" marL="523407" indent="-261704" lvl="1">
              <a:lnSpc>
                <a:spcPts val="3394"/>
              </a:lnSpc>
              <a:spcBef>
                <a:spcPct val="0"/>
              </a:spcBef>
              <a:buFont typeface="Arial"/>
              <a:buChar char="•"/>
            </a:pPr>
            <a:r>
              <a:rPr lang="en-US" sz="2424">
                <a:solidFill>
                  <a:srgbClr val="000000"/>
                </a:solidFill>
                <a:latin typeface="Helios"/>
                <a:ea typeface="Helios"/>
                <a:cs typeface="Helios"/>
                <a:sym typeface="Helios"/>
              </a:rPr>
              <a:t>Hành động (Actions): Các bước di chuyển có thể từ một trạng thái: 'lên', 'xuống', 'trái', 'phải', với điều kiện vị trí mới không phải là tường ('X') và nằm trong phạm vi mê cung.</a:t>
            </a:r>
          </a:p>
          <a:p>
            <a:pPr algn="just">
              <a:lnSpc>
                <a:spcPts val="3394"/>
              </a:lnSpc>
              <a:spcBef>
                <a:spcPct val="0"/>
              </a:spcBef>
            </a:pPr>
          </a:p>
          <a:p>
            <a:pPr algn="just" marL="523407" indent="-261704" lvl="1">
              <a:lnSpc>
                <a:spcPts val="3394"/>
              </a:lnSpc>
              <a:spcBef>
                <a:spcPct val="0"/>
              </a:spcBef>
              <a:buFont typeface="Arial"/>
              <a:buChar char="•"/>
            </a:pPr>
            <a:r>
              <a:rPr lang="en-US" sz="2424">
                <a:solidFill>
                  <a:srgbClr val="000000"/>
                </a:solidFill>
                <a:latin typeface="Helios"/>
                <a:ea typeface="Helios"/>
                <a:cs typeface="Helios"/>
                <a:sym typeface="Helios"/>
              </a:rPr>
              <a:t>Mô hình chuyển trạng thái (Transition model): Với trạng thái (row, col) và hành động, trạng thái mới sẽ là (row-1, col) cho 'lên', (row+1, col) cho 'xuống', (row, col-1) cho 'trái', (row, col+1) cho 'phải', nếu hợp lệ.</a:t>
            </a:r>
          </a:p>
          <a:p>
            <a:pPr algn="just">
              <a:lnSpc>
                <a:spcPts val="3394"/>
              </a:lnSpc>
              <a:spcBef>
                <a:spcPct val="0"/>
              </a:spcBef>
            </a:pPr>
          </a:p>
          <a:p>
            <a:pPr algn="just" marL="523407" indent="-261704" lvl="1">
              <a:lnSpc>
                <a:spcPts val="3394"/>
              </a:lnSpc>
              <a:spcBef>
                <a:spcPct val="0"/>
              </a:spcBef>
              <a:buFont typeface="Arial"/>
              <a:buChar char="•"/>
            </a:pPr>
            <a:r>
              <a:rPr lang="en-US" sz="2424">
                <a:solidFill>
                  <a:srgbClr val="000000"/>
                </a:solidFill>
                <a:latin typeface="Helios"/>
                <a:ea typeface="Helios"/>
                <a:cs typeface="Helios"/>
                <a:sym typeface="Helios"/>
              </a:rPr>
              <a:t>Trạng thái đích (Goal state): Vị trí được đánh dấu 'G' trong mê cung.</a:t>
            </a:r>
          </a:p>
          <a:p>
            <a:pPr algn="just">
              <a:lnSpc>
                <a:spcPts val="3394"/>
              </a:lnSpc>
              <a:spcBef>
                <a:spcPct val="0"/>
              </a:spcBef>
            </a:pPr>
          </a:p>
          <a:p>
            <a:pPr algn="just" marL="523407" indent="-261704" lvl="1">
              <a:lnSpc>
                <a:spcPts val="3394"/>
              </a:lnSpc>
              <a:spcBef>
                <a:spcPct val="0"/>
              </a:spcBef>
              <a:buFont typeface="Arial"/>
              <a:buChar char="•"/>
            </a:pPr>
            <a:r>
              <a:rPr lang="en-US" sz="2424">
                <a:solidFill>
                  <a:srgbClr val="000000"/>
                </a:solidFill>
                <a:latin typeface="Helios"/>
                <a:ea typeface="Helios"/>
                <a:cs typeface="Helios"/>
                <a:sym typeface="Helios"/>
              </a:rPr>
              <a:t>Chi phí đường đi (Path cost): Mỗi bước di chuyển có chi phí là 1, do đó tổng chi phí bằng số bước đi (độ dài đường đi – 1).</a:t>
            </a:r>
          </a:p>
        </p:txBody>
      </p:sp>
    </p:spTree>
  </p:cSld>
  <p:clrMapOvr>
    <a:masterClrMapping/>
  </p:clrMapOvr>
</p:sld>
</file>

<file path=ppt/slides/slide4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17716" y="2123032"/>
            <a:ext cx="15866745" cy="5974261"/>
          </a:xfrm>
          <a:prstGeom prst="rect">
            <a:avLst/>
          </a:prstGeom>
        </p:spPr>
        <p:txBody>
          <a:bodyPr anchor="t" rtlCol="false" tIns="0" lIns="0" bIns="0" rIns="0">
            <a:spAutoFit/>
          </a:bodyPr>
          <a:lstStyle/>
          <a:p>
            <a:pPr algn="just" marL="669643" indent="-334821" lvl="1">
              <a:lnSpc>
                <a:spcPts val="4342"/>
              </a:lnSpc>
              <a:spcBef>
                <a:spcPct val="0"/>
              </a:spcBef>
              <a:buFont typeface="Arial"/>
              <a:buChar char="•"/>
            </a:pPr>
            <a:r>
              <a:rPr lang="en-US" sz="3101">
                <a:solidFill>
                  <a:srgbClr val="000000"/>
                </a:solidFill>
                <a:latin typeface="Helios"/>
                <a:ea typeface="Helios"/>
                <a:cs typeface="Helios"/>
                <a:sym typeface="Helios"/>
              </a:rPr>
              <a:t>$n$: kích thước không gian trạng thái (state space size): Số lượng ô có thể đi được trong mê cung (không tính tường 'X'). Ví dụ, trong small_maze, đếm số ô ' ', 'S', 'G'.</a:t>
            </a:r>
          </a:p>
          <a:p>
            <a:pPr algn="just">
              <a:lnSpc>
                <a:spcPts val="4342"/>
              </a:lnSpc>
              <a:spcBef>
                <a:spcPct val="0"/>
              </a:spcBef>
            </a:pPr>
          </a:p>
          <a:p>
            <a:pPr algn="just" marL="669643" indent="-334821" lvl="1">
              <a:lnSpc>
                <a:spcPts val="4342"/>
              </a:lnSpc>
              <a:spcBef>
                <a:spcPct val="0"/>
              </a:spcBef>
              <a:buFont typeface="Arial"/>
              <a:buChar char="•"/>
            </a:pPr>
            <a:r>
              <a:rPr lang="en-US" sz="3101">
                <a:solidFill>
                  <a:srgbClr val="000000"/>
                </a:solidFill>
                <a:latin typeface="Helios"/>
                <a:ea typeface="Helios"/>
                <a:cs typeface="Helios"/>
                <a:sym typeface="Helios"/>
              </a:rPr>
              <a:t>$d$: độ sâu của lời giải tối ưu (depth of the optimal solution): Độ dài đường đi ngắn nhất từ S đến G (tìm bằng BFS).</a:t>
            </a:r>
          </a:p>
          <a:p>
            <a:pPr algn="just">
              <a:lnSpc>
                <a:spcPts val="4342"/>
              </a:lnSpc>
              <a:spcBef>
                <a:spcPct val="0"/>
              </a:spcBef>
            </a:pPr>
          </a:p>
          <a:p>
            <a:pPr algn="just" marL="669643" indent="-334821" lvl="1">
              <a:lnSpc>
                <a:spcPts val="4342"/>
              </a:lnSpc>
              <a:spcBef>
                <a:spcPct val="0"/>
              </a:spcBef>
              <a:buFont typeface="Arial"/>
              <a:buChar char="•"/>
            </a:pPr>
            <a:r>
              <a:rPr lang="en-US" sz="3101">
                <a:solidFill>
                  <a:srgbClr val="000000"/>
                </a:solidFill>
                <a:latin typeface="Helios"/>
                <a:ea typeface="Helios"/>
                <a:cs typeface="Helios"/>
                <a:sym typeface="Helios"/>
              </a:rPr>
              <a:t>$m$: độ sâu tối đa của cây (maximum depth of tree): Trong trường hợp xấu nhất có thể lên đến $n-1$ (đi qua tất cả ô theo kiểu “rắn bò”).</a:t>
            </a:r>
          </a:p>
          <a:p>
            <a:pPr algn="just">
              <a:lnSpc>
                <a:spcPts val="4342"/>
              </a:lnSpc>
              <a:spcBef>
                <a:spcPct val="0"/>
              </a:spcBef>
            </a:pPr>
          </a:p>
          <a:p>
            <a:pPr algn="just" marL="669643" indent="-334821" lvl="1">
              <a:lnSpc>
                <a:spcPts val="4342"/>
              </a:lnSpc>
              <a:spcBef>
                <a:spcPct val="0"/>
              </a:spcBef>
              <a:buFont typeface="Arial"/>
              <a:buChar char="•"/>
            </a:pPr>
            <a:r>
              <a:rPr lang="en-US" sz="3101">
                <a:solidFill>
                  <a:srgbClr val="000000"/>
                </a:solidFill>
                <a:latin typeface="Helios"/>
                <a:ea typeface="Helios"/>
                <a:cs typeface="Helios"/>
                <a:sym typeface="Helios"/>
              </a:rPr>
              <a:t>$b$: hệ số phân nhánh tối đa (maximum branching factor): Tối đa là 4 (lên, xuống, trái, phải), nhưng ít hơn ở gần tường hoặc góc.</a:t>
            </a:r>
          </a:p>
        </p:txBody>
      </p:sp>
      <p:sp>
        <p:nvSpPr>
          <p:cNvPr name="TextBox 3" id="3"/>
          <p:cNvSpPr txBox="true"/>
          <p:nvPr/>
        </p:nvSpPr>
        <p:spPr>
          <a:xfrm rot="0">
            <a:off x="1931869" y="376130"/>
            <a:ext cx="13838439" cy="495736"/>
          </a:xfrm>
          <a:prstGeom prst="rect">
            <a:avLst/>
          </a:prstGeom>
        </p:spPr>
        <p:txBody>
          <a:bodyPr anchor="t" rtlCol="false" tIns="0" lIns="0" bIns="0" rIns="0">
            <a:spAutoFit/>
          </a:bodyPr>
          <a:lstStyle/>
          <a:p>
            <a:pPr algn="ctr">
              <a:lnSpc>
                <a:spcPts val="3915"/>
              </a:lnSpc>
              <a:spcBef>
                <a:spcPct val="0"/>
              </a:spcBef>
            </a:pPr>
            <a:r>
              <a:rPr lang="en-US" b="true" sz="2796">
                <a:solidFill>
                  <a:srgbClr val="000000"/>
                </a:solidFill>
                <a:latin typeface="Helios Bold"/>
                <a:ea typeface="Helios Bold"/>
                <a:cs typeface="Helios Bold"/>
                <a:sym typeface="Helios Bold"/>
              </a:rPr>
              <a:t>Nhiệm vụ 1: Xác định bài toán tìm kiếm và xác định kích thước bài toán [10 điểm]</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32109"/>
            <a:ext cx="7611824" cy="5052348"/>
          </a:xfrm>
          <a:custGeom>
            <a:avLst/>
            <a:gdLst/>
            <a:ahLst/>
            <a:cxnLst/>
            <a:rect r="r" b="b" t="t" l="l"/>
            <a:pathLst>
              <a:path h="5052348" w="7611824">
                <a:moveTo>
                  <a:pt x="0" y="0"/>
                </a:moveTo>
                <a:lnTo>
                  <a:pt x="7611824" y="0"/>
                </a:lnTo>
                <a:lnTo>
                  <a:pt x="7611824" y="5052348"/>
                </a:lnTo>
                <a:lnTo>
                  <a:pt x="0" y="5052348"/>
                </a:lnTo>
                <a:lnTo>
                  <a:pt x="0" y="0"/>
                </a:lnTo>
                <a:close/>
              </a:path>
            </a:pathLst>
          </a:custGeom>
          <a:blipFill>
            <a:blip r:embed="rId2"/>
            <a:stretch>
              <a:fillRect l="0" t="0" r="0" b="0"/>
            </a:stretch>
          </a:blipFill>
        </p:spPr>
      </p:sp>
      <p:sp>
        <p:nvSpPr>
          <p:cNvPr name="Freeform 3" id="3"/>
          <p:cNvSpPr/>
          <p:nvPr/>
        </p:nvSpPr>
        <p:spPr>
          <a:xfrm flipH="false" flipV="false" rot="0">
            <a:off x="8640524" y="732109"/>
            <a:ext cx="6498486" cy="8961781"/>
          </a:xfrm>
          <a:custGeom>
            <a:avLst/>
            <a:gdLst/>
            <a:ahLst/>
            <a:cxnLst/>
            <a:rect r="r" b="b" t="t" l="l"/>
            <a:pathLst>
              <a:path h="8961781" w="6498486">
                <a:moveTo>
                  <a:pt x="0" y="0"/>
                </a:moveTo>
                <a:lnTo>
                  <a:pt x="6498485" y="0"/>
                </a:lnTo>
                <a:lnTo>
                  <a:pt x="6498485" y="8961781"/>
                </a:lnTo>
                <a:lnTo>
                  <a:pt x="0" y="8961781"/>
                </a:lnTo>
                <a:lnTo>
                  <a:pt x="0" y="0"/>
                </a:lnTo>
                <a:close/>
              </a:path>
            </a:pathLst>
          </a:custGeom>
          <a:blipFill>
            <a:blip r:embed="rId3"/>
            <a:stretch>
              <a:fillRect l="0" t="0" r="-1015" b="0"/>
            </a:stretch>
          </a:blipFill>
        </p:spPr>
      </p:sp>
      <p:sp>
        <p:nvSpPr>
          <p:cNvPr name="TextBox 4" id="4"/>
          <p:cNvSpPr txBox="true"/>
          <p:nvPr/>
        </p:nvSpPr>
        <p:spPr>
          <a:xfrm rot="0">
            <a:off x="1167122" y="57843"/>
            <a:ext cx="15953756" cy="511522"/>
          </a:xfrm>
          <a:prstGeom prst="rect">
            <a:avLst/>
          </a:prstGeom>
        </p:spPr>
        <p:txBody>
          <a:bodyPr anchor="t" rtlCol="false" tIns="0" lIns="0" bIns="0" rIns="0">
            <a:spAutoFit/>
          </a:bodyPr>
          <a:lstStyle/>
          <a:p>
            <a:pPr algn="ctr">
              <a:lnSpc>
                <a:spcPts val="4146"/>
              </a:lnSpc>
              <a:spcBef>
                <a:spcPct val="0"/>
              </a:spcBef>
            </a:pPr>
            <a:r>
              <a:rPr lang="en-US" b="true" sz="2961">
                <a:solidFill>
                  <a:srgbClr val="000000"/>
                </a:solidFill>
                <a:latin typeface="Helios Bold"/>
                <a:ea typeface="Helios Bold"/>
                <a:cs typeface="Helios Bold"/>
                <a:sym typeface="Helios Bold"/>
              </a:rPr>
              <a:t>Nhiệm vụ 2: Tìm kiếm không thông tin trước (Uninformed search): BFS và DFS [40 điểm]</a:t>
            </a:r>
          </a:p>
        </p:txBody>
      </p:sp>
      <p:sp>
        <p:nvSpPr>
          <p:cNvPr name="TextBox 5" id="5"/>
          <p:cNvSpPr txBox="true"/>
          <p:nvPr/>
        </p:nvSpPr>
        <p:spPr>
          <a:xfrm rot="0">
            <a:off x="919430" y="6066655"/>
            <a:ext cx="7505106" cy="2679065"/>
          </a:xfrm>
          <a:prstGeom prst="rect">
            <a:avLst/>
          </a:prstGeom>
        </p:spPr>
        <p:txBody>
          <a:bodyPr anchor="t" rtlCol="false" tIns="0" lIns="0" bIns="0" rIns="0">
            <a:spAutoFit/>
          </a:bodyPr>
          <a:lstStyle/>
          <a:p>
            <a:pPr algn="just">
              <a:lnSpc>
                <a:spcPts val="2659"/>
              </a:lnSpc>
            </a:pPr>
            <a:r>
              <a:rPr lang="en-US" sz="1899" b="true">
                <a:solidFill>
                  <a:srgbClr val="000000"/>
                </a:solidFill>
                <a:latin typeface="Helios Bold"/>
                <a:ea typeface="Helios Bold"/>
                <a:cs typeface="Helios Bold"/>
                <a:sym typeface="Helios Bold"/>
              </a:rPr>
              <a:t>BFS và DFS (không dùng cấu trúc reached) xử lý các vòng lặp (cycles) như thế nào?</a:t>
            </a:r>
          </a:p>
          <a:p>
            <a:pPr algn="just">
              <a:lnSpc>
                <a:spcPts val="2659"/>
              </a:lnSpc>
            </a:pPr>
          </a:p>
          <a:p>
            <a:pPr algn="just">
              <a:lnSpc>
                <a:spcPts val="2659"/>
              </a:lnSpc>
              <a:spcBef>
                <a:spcPct val="0"/>
              </a:spcBef>
            </a:pPr>
            <a:r>
              <a:rPr lang="en-US" sz="1899">
                <a:solidFill>
                  <a:srgbClr val="000000"/>
                </a:solidFill>
                <a:latin typeface="Helios"/>
                <a:ea typeface="Helios"/>
                <a:cs typeface="Helios"/>
                <a:sym typeface="Helios"/>
              </a:rPr>
              <a:t>BFS: Dùng tập reached để tránh trạng thái trùng, ngăn vòng lặp hiệu quả.</a:t>
            </a:r>
          </a:p>
          <a:p>
            <a:pPr algn="just">
              <a:lnSpc>
                <a:spcPts val="2659"/>
              </a:lnSpc>
              <a:spcBef>
                <a:spcPct val="0"/>
              </a:spcBef>
            </a:pPr>
            <a:r>
              <a:rPr lang="en-US" sz="1899">
                <a:solidFill>
                  <a:srgbClr val="000000"/>
                </a:solidFill>
                <a:latin typeface="Helios"/>
                <a:ea typeface="Helios"/>
                <a:cs typeface="Helios"/>
                <a:sym typeface="Helios"/>
              </a:rPr>
              <a:t>DFS: Chỉ dùng path_set để tránh vòng lặp tức thời, vẫn có thể đi thừa → kém hiệu quả, dễ lặp vô hạn trong mê cung nhiều chu trình (vd: open_maze).</a:t>
            </a:r>
          </a:p>
        </p:txBody>
      </p:sp>
    </p:spTree>
  </p:cSld>
  <p:clrMapOvr>
    <a:masterClrMapping/>
  </p:clrMapOvr>
</p:sld>
</file>

<file path=ppt/slides/slide4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414362" y="981075"/>
            <a:ext cx="13459276" cy="1360679"/>
          </a:xfrm>
          <a:prstGeom prst="rect">
            <a:avLst/>
          </a:prstGeom>
        </p:spPr>
        <p:txBody>
          <a:bodyPr anchor="t" rtlCol="false" tIns="0" lIns="0" bIns="0" rIns="0">
            <a:spAutoFit/>
          </a:bodyPr>
          <a:lstStyle/>
          <a:p>
            <a:pPr algn="just">
              <a:lnSpc>
                <a:spcPts val="3597"/>
              </a:lnSpc>
              <a:spcBef>
                <a:spcPct val="0"/>
              </a:spcBef>
            </a:pPr>
            <a:r>
              <a:rPr lang="en-US" b="true" sz="2569">
                <a:solidFill>
                  <a:srgbClr val="000000"/>
                </a:solidFill>
                <a:latin typeface="Helios Bold"/>
                <a:ea typeface="Helios Bold"/>
                <a:cs typeface="Helios Bold"/>
                <a:sym typeface="Helios Bold"/>
              </a:rPr>
              <a:t>Các cài đặt của bạn có hoàn chỉnh và tối ưu không? Giải thích lý do. Độ phức tạp thời gian và không gian của mỗi cài đặt của bạn là bao nhiêu? Đặc biệt thảo luận sự khác biệt về độ phức tạp không gian giữa BFS và DFS.</a:t>
            </a:r>
          </a:p>
        </p:txBody>
      </p:sp>
      <p:sp>
        <p:nvSpPr>
          <p:cNvPr name="TextBox 3" id="3"/>
          <p:cNvSpPr txBox="true"/>
          <p:nvPr/>
        </p:nvSpPr>
        <p:spPr>
          <a:xfrm rot="0">
            <a:off x="1028700" y="3574068"/>
            <a:ext cx="16371967" cy="2292194"/>
          </a:xfrm>
          <a:prstGeom prst="rect">
            <a:avLst/>
          </a:prstGeom>
        </p:spPr>
        <p:txBody>
          <a:bodyPr anchor="t" rtlCol="false" tIns="0" lIns="0" bIns="0" rIns="0">
            <a:spAutoFit/>
          </a:bodyPr>
          <a:lstStyle/>
          <a:p>
            <a:pPr algn="just" marL="568846" indent="-284423" lvl="1">
              <a:lnSpc>
                <a:spcPts val="3688"/>
              </a:lnSpc>
              <a:spcBef>
                <a:spcPct val="0"/>
              </a:spcBef>
              <a:buFont typeface="Arial"/>
              <a:buChar char="•"/>
            </a:pPr>
            <a:r>
              <a:rPr lang="en-US" sz="2634">
                <a:solidFill>
                  <a:srgbClr val="000000"/>
                </a:solidFill>
                <a:latin typeface="Helios"/>
                <a:ea typeface="Helios"/>
                <a:cs typeface="Helios"/>
                <a:sym typeface="Helios"/>
              </a:rPr>
              <a:t>BFS: Hoàn chỉnh, tối ưu; Thời gian &amp; bộ nhớ O(b^d) → tốn nhiều bộ nhớ.</a:t>
            </a:r>
          </a:p>
          <a:p>
            <a:pPr algn="just">
              <a:lnSpc>
                <a:spcPts val="3688"/>
              </a:lnSpc>
              <a:spcBef>
                <a:spcPct val="0"/>
              </a:spcBef>
            </a:pPr>
          </a:p>
          <a:p>
            <a:pPr algn="just" marL="568846" indent="-284423" lvl="1">
              <a:lnSpc>
                <a:spcPts val="3688"/>
              </a:lnSpc>
              <a:spcBef>
                <a:spcPct val="0"/>
              </a:spcBef>
              <a:buFont typeface="Arial"/>
              <a:buChar char="•"/>
            </a:pPr>
            <a:r>
              <a:rPr lang="en-US" sz="2634">
                <a:solidFill>
                  <a:srgbClr val="000000"/>
                </a:solidFill>
                <a:latin typeface="Helios"/>
                <a:ea typeface="Helios"/>
                <a:cs typeface="Helios"/>
                <a:sym typeface="Helios"/>
              </a:rPr>
              <a:t>DFS: Hoàn chỉnh (nếu hữu hạn), không tối ưu; Thời gian O(b^m), bộ nhớ O(b·m) → tiết kiệm bộ nhớ hơn.</a:t>
            </a:r>
          </a:p>
          <a:p>
            <a:pPr algn="just">
              <a:lnSpc>
                <a:spcPts val="3688"/>
              </a:lnSpc>
              <a:spcBef>
                <a:spcPct val="0"/>
              </a:spcBef>
            </a:pPr>
          </a:p>
          <a:p>
            <a:pPr algn="just" marL="568846" indent="-284423" lvl="1">
              <a:lnSpc>
                <a:spcPts val="3688"/>
              </a:lnSpc>
              <a:spcBef>
                <a:spcPct val="0"/>
              </a:spcBef>
              <a:buFont typeface="Arial"/>
              <a:buChar char="•"/>
            </a:pPr>
            <a:r>
              <a:rPr lang="en-US" sz="2634">
                <a:solidFill>
                  <a:srgbClr val="000000"/>
                </a:solidFill>
                <a:latin typeface="Helios"/>
                <a:ea typeface="Helios"/>
                <a:cs typeface="Helios"/>
                <a:sym typeface="Helios"/>
              </a:rPr>
              <a:t>Khác biệt chính: BFS tốn bộ nhớ theo hàm mũ, DFS chỉ cần bộ nhớ tuyến tính theo độ sâu.</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18923" y="3787787"/>
            <a:ext cx="7445124" cy="5989538"/>
          </a:xfrm>
          <a:custGeom>
            <a:avLst/>
            <a:gdLst/>
            <a:ahLst/>
            <a:cxnLst/>
            <a:rect r="r" b="b" t="t" l="l"/>
            <a:pathLst>
              <a:path h="5989538" w="7445124">
                <a:moveTo>
                  <a:pt x="0" y="0"/>
                </a:moveTo>
                <a:lnTo>
                  <a:pt x="7445124" y="0"/>
                </a:lnTo>
                <a:lnTo>
                  <a:pt x="7445124" y="5989539"/>
                </a:lnTo>
                <a:lnTo>
                  <a:pt x="0" y="5989539"/>
                </a:lnTo>
                <a:lnTo>
                  <a:pt x="0" y="0"/>
                </a:lnTo>
                <a:close/>
              </a:path>
            </a:pathLst>
          </a:custGeom>
          <a:blipFill>
            <a:blip r:embed="rId2"/>
            <a:stretch>
              <a:fillRect l="0" t="0" r="0" b="0"/>
            </a:stretch>
          </a:blipFill>
        </p:spPr>
      </p:sp>
      <p:sp>
        <p:nvSpPr>
          <p:cNvPr name="Freeform 3" id="3"/>
          <p:cNvSpPr/>
          <p:nvPr/>
        </p:nvSpPr>
        <p:spPr>
          <a:xfrm flipH="false" flipV="false" rot="0">
            <a:off x="9838210" y="1364034"/>
            <a:ext cx="7046132" cy="8413292"/>
          </a:xfrm>
          <a:custGeom>
            <a:avLst/>
            <a:gdLst/>
            <a:ahLst/>
            <a:cxnLst/>
            <a:rect r="r" b="b" t="t" l="l"/>
            <a:pathLst>
              <a:path h="8413292" w="7046132">
                <a:moveTo>
                  <a:pt x="0" y="0"/>
                </a:moveTo>
                <a:lnTo>
                  <a:pt x="7046132" y="0"/>
                </a:lnTo>
                <a:lnTo>
                  <a:pt x="7046132" y="8413292"/>
                </a:lnTo>
                <a:lnTo>
                  <a:pt x="0" y="8413292"/>
                </a:lnTo>
                <a:lnTo>
                  <a:pt x="0" y="0"/>
                </a:lnTo>
                <a:close/>
              </a:path>
            </a:pathLst>
          </a:custGeom>
          <a:blipFill>
            <a:blip r:embed="rId3"/>
            <a:stretch>
              <a:fillRect l="0" t="0" r="0" b="0"/>
            </a:stretch>
          </a:blipFill>
        </p:spPr>
      </p:sp>
      <p:sp>
        <p:nvSpPr>
          <p:cNvPr name="TextBox 4" id="4"/>
          <p:cNvSpPr txBox="true"/>
          <p:nvPr/>
        </p:nvSpPr>
        <p:spPr>
          <a:xfrm rot="0">
            <a:off x="212475" y="404044"/>
            <a:ext cx="17863049" cy="442879"/>
          </a:xfrm>
          <a:prstGeom prst="rect">
            <a:avLst/>
          </a:prstGeom>
        </p:spPr>
        <p:txBody>
          <a:bodyPr anchor="t" rtlCol="false" tIns="0" lIns="0" bIns="0" rIns="0">
            <a:spAutoFit/>
          </a:bodyPr>
          <a:lstStyle/>
          <a:p>
            <a:pPr algn="ctr">
              <a:lnSpc>
                <a:spcPts val="3520"/>
              </a:lnSpc>
              <a:spcBef>
                <a:spcPct val="0"/>
              </a:spcBef>
            </a:pPr>
            <a:r>
              <a:rPr lang="en-US" b="true" sz="2514">
                <a:solidFill>
                  <a:srgbClr val="000000"/>
                </a:solidFill>
                <a:latin typeface="Helios Bold"/>
                <a:ea typeface="Helios Bold"/>
                <a:cs typeface="Helios Bold"/>
                <a:sym typeface="Helios Bold"/>
              </a:rPr>
              <a:t>Nhiệm vụ 3: Tìm kiếm có thông tin trước (Informed search): Cài đặt Greedy Best-First Search và A* Search [20 điểm]</a:t>
            </a:r>
          </a:p>
        </p:txBody>
      </p:sp>
      <p:sp>
        <p:nvSpPr>
          <p:cNvPr name="TextBox 5" id="5"/>
          <p:cNvSpPr txBox="true"/>
          <p:nvPr/>
        </p:nvSpPr>
        <p:spPr>
          <a:xfrm rot="0">
            <a:off x="1586445" y="1306884"/>
            <a:ext cx="7310080" cy="2424421"/>
          </a:xfrm>
          <a:prstGeom prst="rect">
            <a:avLst/>
          </a:prstGeom>
        </p:spPr>
        <p:txBody>
          <a:bodyPr anchor="t" rtlCol="false" tIns="0" lIns="0" bIns="0" rIns="0">
            <a:spAutoFit/>
          </a:bodyPr>
          <a:lstStyle/>
          <a:p>
            <a:pPr algn="just">
              <a:lnSpc>
                <a:spcPts val="2815"/>
              </a:lnSpc>
              <a:spcBef>
                <a:spcPct val="0"/>
              </a:spcBef>
            </a:pPr>
            <a:r>
              <a:rPr lang="en-US" sz="2010">
                <a:solidFill>
                  <a:srgbClr val="000000"/>
                </a:solidFill>
                <a:latin typeface="Helios"/>
                <a:ea typeface="Helios"/>
                <a:cs typeface="Helios"/>
                <a:sym typeface="Helios"/>
              </a:rPr>
              <a:t>Bạn có thể sử dụng bản đồ để ước lượng khoảng cách từ vị trí hiện tại đến trạng thái mục tiêu bằng khoảng cách Manhattan (xem Taxicab geometry) làm hàm heuristic.</a:t>
            </a:r>
          </a:p>
          <a:p>
            <a:pPr algn="just">
              <a:lnSpc>
                <a:spcPts val="2815"/>
              </a:lnSpc>
              <a:spcBef>
                <a:spcPct val="0"/>
              </a:spcBef>
            </a:pPr>
          </a:p>
          <a:p>
            <a:pPr algn="just">
              <a:lnSpc>
                <a:spcPts val="2815"/>
              </a:lnSpc>
              <a:spcBef>
                <a:spcPct val="0"/>
              </a:spcBef>
            </a:pPr>
            <a:r>
              <a:rPr lang="en-US" sz="2010">
                <a:solidFill>
                  <a:srgbClr val="000000"/>
                </a:solidFill>
                <a:latin typeface="Helios"/>
                <a:ea typeface="Helios"/>
                <a:cs typeface="Helios"/>
                <a:sym typeface="Helios"/>
              </a:rPr>
              <a:t>Cả hai thuật toán đều dựa trên Best-First Search, chỉ cần thay đổi nhỏ so với thuật toán BFS mà bạn đã cài đặt trước đó (tham khảo giáo trình/slides).</a:t>
            </a:r>
          </a:p>
        </p:txBody>
      </p:sp>
    </p:spTree>
  </p:cSld>
  <p:clrMapOvr>
    <a:masterClrMapping/>
  </p:clrMapOvr>
</p:sld>
</file>

<file path=ppt/slides/slide5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3037763"/>
            <a:ext cx="16582855" cy="2889538"/>
          </a:xfrm>
          <a:prstGeom prst="rect">
            <a:avLst/>
          </a:prstGeom>
        </p:spPr>
        <p:txBody>
          <a:bodyPr anchor="t" rtlCol="false" tIns="0" lIns="0" bIns="0" rIns="0">
            <a:spAutoFit/>
          </a:bodyPr>
          <a:lstStyle/>
          <a:p>
            <a:pPr algn="just">
              <a:lnSpc>
                <a:spcPts val="3298"/>
              </a:lnSpc>
              <a:spcBef>
                <a:spcPct val="0"/>
              </a:spcBef>
            </a:pPr>
            <a:r>
              <a:rPr lang="en-US" b="true" sz="2356">
                <a:solidFill>
                  <a:srgbClr val="000000"/>
                </a:solidFill>
                <a:latin typeface="Helios Bold"/>
                <a:ea typeface="Helios Bold"/>
                <a:cs typeface="Helios Bold"/>
                <a:sym typeface="Helios Bold"/>
              </a:rPr>
              <a:t>Các cài đặt của bạn có hoàn chỉnh và tối ưu không? Độ phức tạp thời gian và không gian của chúng là bao nhiêu?</a:t>
            </a:r>
          </a:p>
          <a:p>
            <a:pPr algn="just">
              <a:lnSpc>
                <a:spcPts val="3298"/>
              </a:lnSpc>
              <a:spcBef>
                <a:spcPct val="0"/>
              </a:spcBef>
            </a:pPr>
          </a:p>
          <a:p>
            <a:pPr algn="just">
              <a:lnSpc>
                <a:spcPts val="3298"/>
              </a:lnSpc>
              <a:spcBef>
                <a:spcPct val="0"/>
              </a:spcBef>
            </a:pPr>
            <a:r>
              <a:rPr lang="en-US" sz="2356">
                <a:solidFill>
                  <a:srgbClr val="000000"/>
                </a:solidFill>
                <a:latin typeface="Helios"/>
                <a:ea typeface="Helios"/>
                <a:cs typeface="Helios"/>
                <a:sym typeface="Helios"/>
              </a:rPr>
              <a:t> GBFS: Hoàn chỉnh nếu heuristic là nhất quán, nhưng không tối ưu (có thể tìm đường đi không tối ưu do tính tham lam). Thời gian/Bộ nhớ: O(b^m) trong trường hợp xấu nhất.</a:t>
            </a:r>
          </a:p>
          <a:p>
            <a:pPr algn="just">
              <a:lnSpc>
                <a:spcPts val="3298"/>
              </a:lnSpc>
              <a:spcBef>
                <a:spcPct val="0"/>
              </a:spcBef>
            </a:pPr>
          </a:p>
          <a:p>
            <a:pPr algn="just">
              <a:lnSpc>
                <a:spcPts val="3298"/>
              </a:lnSpc>
              <a:spcBef>
                <a:spcPct val="0"/>
              </a:spcBef>
            </a:pPr>
            <a:r>
              <a:rPr lang="en-US" sz="2356">
                <a:solidFill>
                  <a:srgbClr val="000000"/>
                </a:solidFill>
                <a:latin typeface="Helios"/>
                <a:ea typeface="Helios"/>
                <a:cs typeface="Helios"/>
                <a:sym typeface="Helios"/>
              </a:rPr>
              <a:t> A*: Hoàn chỉnh và tối ưu (với heuristic chấp nhận được như Manhattan). Thời gian/Bộ nhớ: O(b^d) với heuristic tốt, nhưng trong trường hợp xấu nhất vẫn tăng theo hàm mũ.</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39037" y="1538611"/>
            <a:ext cx="8152584" cy="4436425"/>
          </a:xfrm>
          <a:custGeom>
            <a:avLst/>
            <a:gdLst/>
            <a:ahLst/>
            <a:cxnLst/>
            <a:rect r="r" b="b" t="t" l="l"/>
            <a:pathLst>
              <a:path h="4436425" w="8152584">
                <a:moveTo>
                  <a:pt x="0" y="0"/>
                </a:moveTo>
                <a:lnTo>
                  <a:pt x="8152584" y="0"/>
                </a:lnTo>
                <a:lnTo>
                  <a:pt x="8152584" y="4436426"/>
                </a:lnTo>
                <a:lnTo>
                  <a:pt x="0" y="4436426"/>
                </a:lnTo>
                <a:lnTo>
                  <a:pt x="0" y="0"/>
                </a:lnTo>
                <a:close/>
              </a:path>
            </a:pathLst>
          </a:custGeom>
          <a:blipFill>
            <a:blip r:embed="rId2"/>
            <a:stretch>
              <a:fillRect l="0" t="0" r="0" b="0"/>
            </a:stretch>
          </a:blipFill>
        </p:spPr>
      </p:sp>
      <p:sp>
        <p:nvSpPr>
          <p:cNvPr name="TextBox 3" id="3"/>
          <p:cNvSpPr txBox="true"/>
          <p:nvPr/>
        </p:nvSpPr>
        <p:spPr>
          <a:xfrm rot="0">
            <a:off x="3360547" y="619926"/>
            <a:ext cx="10846967" cy="722298"/>
          </a:xfrm>
          <a:prstGeom prst="rect">
            <a:avLst/>
          </a:prstGeom>
        </p:spPr>
        <p:txBody>
          <a:bodyPr anchor="t" rtlCol="false" tIns="0" lIns="0" bIns="0" rIns="0">
            <a:spAutoFit/>
          </a:bodyPr>
          <a:lstStyle/>
          <a:p>
            <a:pPr algn="ctr">
              <a:lnSpc>
                <a:spcPts val="5722"/>
              </a:lnSpc>
              <a:spcBef>
                <a:spcPct val="0"/>
              </a:spcBef>
            </a:pPr>
            <a:r>
              <a:rPr lang="en-US" b="true" sz="4087">
                <a:solidFill>
                  <a:srgbClr val="000000"/>
                </a:solidFill>
                <a:latin typeface="Helios Bold"/>
                <a:ea typeface="Helios Bold"/>
                <a:cs typeface="Helios Bold"/>
                <a:sym typeface="Helios Bold"/>
              </a:rPr>
              <a:t>Nhiệm vụ 4: So sánh và thảo luận [20 điểm]</a:t>
            </a:r>
          </a:p>
        </p:txBody>
      </p:sp>
      <p:sp>
        <p:nvSpPr>
          <p:cNvPr name="Freeform 4" id="4"/>
          <p:cNvSpPr/>
          <p:nvPr/>
        </p:nvSpPr>
        <p:spPr>
          <a:xfrm flipH="false" flipV="false" rot="0">
            <a:off x="129119" y="6219712"/>
            <a:ext cx="8654912" cy="3257225"/>
          </a:xfrm>
          <a:custGeom>
            <a:avLst/>
            <a:gdLst/>
            <a:ahLst/>
            <a:cxnLst/>
            <a:rect r="r" b="b" t="t" l="l"/>
            <a:pathLst>
              <a:path h="3257225" w="8654912">
                <a:moveTo>
                  <a:pt x="0" y="0"/>
                </a:moveTo>
                <a:lnTo>
                  <a:pt x="8654911" y="0"/>
                </a:lnTo>
                <a:lnTo>
                  <a:pt x="8654911" y="3257225"/>
                </a:lnTo>
                <a:lnTo>
                  <a:pt x="0" y="3257225"/>
                </a:lnTo>
                <a:lnTo>
                  <a:pt x="0" y="0"/>
                </a:lnTo>
                <a:close/>
              </a:path>
            </a:pathLst>
          </a:custGeom>
          <a:blipFill>
            <a:blip r:embed="rId3"/>
            <a:stretch>
              <a:fillRect l="0" t="0" r="0" b="0"/>
            </a:stretch>
          </a:blipFill>
        </p:spPr>
      </p:sp>
      <p:sp>
        <p:nvSpPr>
          <p:cNvPr name="Freeform 5" id="5"/>
          <p:cNvSpPr/>
          <p:nvPr/>
        </p:nvSpPr>
        <p:spPr>
          <a:xfrm flipH="false" flipV="false" rot="0">
            <a:off x="8622437" y="1342224"/>
            <a:ext cx="8912209" cy="8470889"/>
          </a:xfrm>
          <a:custGeom>
            <a:avLst/>
            <a:gdLst/>
            <a:ahLst/>
            <a:cxnLst/>
            <a:rect r="r" b="b" t="t" l="l"/>
            <a:pathLst>
              <a:path h="8470889" w="8912209">
                <a:moveTo>
                  <a:pt x="0" y="0"/>
                </a:moveTo>
                <a:lnTo>
                  <a:pt x="8912209" y="0"/>
                </a:lnTo>
                <a:lnTo>
                  <a:pt x="8912209" y="8470889"/>
                </a:lnTo>
                <a:lnTo>
                  <a:pt x="0" y="8470889"/>
                </a:lnTo>
                <a:lnTo>
                  <a:pt x="0" y="0"/>
                </a:lnTo>
                <a:close/>
              </a:path>
            </a:pathLst>
          </a:custGeom>
          <a:blipFill>
            <a:blip r:embed="rId4"/>
            <a:stretch>
              <a:fillRect l="0" t="0" r="0" b="0"/>
            </a:stretch>
          </a:blipFill>
        </p:spPr>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8449944" cy="2051946"/>
          </a:xfrm>
          <a:custGeom>
            <a:avLst/>
            <a:gdLst/>
            <a:ahLst/>
            <a:cxnLst/>
            <a:rect r="r" b="b" t="t" l="l"/>
            <a:pathLst>
              <a:path h="2051946" w="8449944">
                <a:moveTo>
                  <a:pt x="0" y="0"/>
                </a:moveTo>
                <a:lnTo>
                  <a:pt x="8449944" y="0"/>
                </a:lnTo>
                <a:lnTo>
                  <a:pt x="8449944" y="2051946"/>
                </a:lnTo>
                <a:lnTo>
                  <a:pt x="0" y="2051946"/>
                </a:lnTo>
                <a:lnTo>
                  <a:pt x="0" y="0"/>
                </a:lnTo>
                <a:close/>
              </a:path>
            </a:pathLst>
          </a:custGeom>
          <a:blipFill>
            <a:blip r:embed="rId2"/>
            <a:stretch>
              <a:fillRect l="0" t="0" r="-138" b="0"/>
            </a:stretch>
          </a:blipFill>
        </p:spPr>
      </p:sp>
      <p:sp>
        <p:nvSpPr>
          <p:cNvPr name="Freeform 3" id="3"/>
          <p:cNvSpPr/>
          <p:nvPr/>
        </p:nvSpPr>
        <p:spPr>
          <a:xfrm flipH="false" flipV="false" rot="0">
            <a:off x="0" y="2592132"/>
            <a:ext cx="8449944" cy="2038549"/>
          </a:xfrm>
          <a:custGeom>
            <a:avLst/>
            <a:gdLst/>
            <a:ahLst/>
            <a:cxnLst/>
            <a:rect r="r" b="b" t="t" l="l"/>
            <a:pathLst>
              <a:path h="2038549" w="8449944">
                <a:moveTo>
                  <a:pt x="0" y="0"/>
                </a:moveTo>
                <a:lnTo>
                  <a:pt x="8449944" y="0"/>
                </a:lnTo>
                <a:lnTo>
                  <a:pt x="8449944" y="2038549"/>
                </a:lnTo>
                <a:lnTo>
                  <a:pt x="0" y="2038549"/>
                </a:lnTo>
                <a:lnTo>
                  <a:pt x="0" y="0"/>
                </a:lnTo>
                <a:close/>
              </a:path>
            </a:pathLst>
          </a:custGeom>
          <a:blipFill>
            <a:blip r:embed="rId3"/>
            <a:stretch>
              <a:fillRect l="0" t="0" r="0" b="0"/>
            </a:stretch>
          </a:blipFill>
        </p:spPr>
      </p:sp>
      <p:sp>
        <p:nvSpPr>
          <p:cNvPr name="Freeform 4" id="4"/>
          <p:cNvSpPr/>
          <p:nvPr/>
        </p:nvSpPr>
        <p:spPr>
          <a:xfrm flipH="false" flipV="false" rot="0">
            <a:off x="0" y="5170868"/>
            <a:ext cx="8449944" cy="2101924"/>
          </a:xfrm>
          <a:custGeom>
            <a:avLst/>
            <a:gdLst/>
            <a:ahLst/>
            <a:cxnLst/>
            <a:rect r="r" b="b" t="t" l="l"/>
            <a:pathLst>
              <a:path h="2101924" w="8449944">
                <a:moveTo>
                  <a:pt x="0" y="0"/>
                </a:moveTo>
                <a:lnTo>
                  <a:pt x="8449944" y="0"/>
                </a:lnTo>
                <a:lnTo>
                  <a:pt x="8449944" y="2101924"/>
                </a:lnTo>
                <a:lnTo>
                  <a:pt x="0" y="2101924"/>
                </a:lnTo>
                <a:lnTo>
                  <a:pt x="0" y="0"/>
                </a:lnTo>
                <a:close/>
              </a:path>
            </a:pathLst>
          </a:custGeom>
          <a:blipFill>
            <a:blip r:embed="rId4"/>
            <a:stretch>
              <a:fillRect l="0" t="0" r="0" b="0"/>
            </a:stretch>
          </a:blipFill>
        </p:spPr>
      </p:sp>
      <p:sp>
        <p:nvSpPr>
          <p:cNvPr name="Freeform 5" id="5"/>
          <p:cNvSpPr/>
          <p:nvPr/>
        </p:nvSpPr>
        <p:spPr>
          <a:xfrm flipH="false" flipV="false" rot="0">
            <a:off x="0" y="7921016"/>
            <a:ext cx="8449944" cy="2365984"/>
          </a:xfrm>
          <a:custGeom>
            <a:avLst/>
            <a:gdLst/>
            <a:ahLst/>
            <a:cxnLst/>
            <a:rect r="r" b="b" t="t" l="l"/>
            <a:pathLst>
              <a:path h="2365984" w="8449944">
                <a:moveTo>
                  <a:pt x="0" y="0"/>
                </a:moveTo>
                <a:lnTo>
                  <a:pt x="8449944" y="0"/>
                </a:lnTo>
                <a:lnTo>
                  <a:pt x="8449944" y="2365984"/>
                </a:lnTo>
                <a:lnTo>
                  <a:pt x="0" y="2365984"/>
                </a:lnTo>
                <a:lnTo>
                  <a:pt x="0" y="0"/>
                </a:lnTo>
                <a:close/>
              </a:path>
            </a:pathLst>
          </a:custGeom>
          <a:blipFill>
            <a:blip r:embed="rId5"/>
            <a:stretch>
              <a:fillRect l="0" t="0" r="0" b="0"/>
            </a:stretch>
          </a:blipFill>
        </p:spPr>
      </p:sp>
      <p:sp>
        <p:nvSpPr>
          <p:cNvPr name="Freeform 6" id="6"/>
          <p:cNvSpPr/>
          <p:nvPr/>
        </p:nvSpPr>
        <p:spPr>
          <a:xfrm flipH="false" flipV="false" rot="0">
            <a:off x="9869761" y="0"/>
            <a:ext cx="8418239" cy="2051946"/>
          </a:xfrm>
          <a:custGeom>
            <a:avLst/>
            <a:gdLst/>
            <a:ahLst/>
            <a:cxnLst/>
            <a:rect r="r" b="b" t="t" l="l"/>
            <a:pathLst>
              <a:path h="2051946" w="8418239">
                <a:moveTo>
                  <a:pt x="0" y="0"/>
                </a:moveTo>
                <a:lnTo>
                  <a:pt x="8418239" y="0"/>
                </a:lnTo>
                <a:lnTo>
                  <a:pt x="8418239" y="2051946"/>
                </a:lnTo>
                <a:lnTo>
                  <a:pt x="0" y="2051946"/>
                </a:lnTo>
                <a:lnTo>
                  <a:pt x="0" y="0"/>
                </a:lnTo>
                <a:close/>
              </a:path>
            </a:pathLst>
          </a:custGeom>
          <a:blipFill>
            <a:blip r:embed="rId6"/>
            <a:stretch>
              <a:fillRect l="0" t="0" r="0" b="0"/>
            </a:stretch>
          </a:blipFill>
        </p:spPr>
      </p:sp>
      <p:sp>
        <p:nvSpPr>
          <p:cNvPr name="Freeform 7" id="7"/>
          <p:cNvSpPr/>
          <p:nvPr/>
        </p:nvSpPr>
        <p:spPr>
          <a:xfrm flipH="false" flipV="false" rot="0">
            <a:off x="9869761" y="2592132"/>
            <a:ext cx="8418239" cy="2378152"/>
          </a:xfrm>
          <a:custGeom>
            <a:avLst/>
            <a:gdLst/>
            <a:ahLst/>
            <a:cxnLst/>
            <a:rect r="r" b="b" t="t" l="l"/>
            <a:pathLst>
              <a:path h="2378152" w="8418239">
                <a:moveTo>
                  <a:pt x="0" y="0"/>
                </a:moveTo>
                <a:lnTo>
                  <a:pt x="8418239" y="0"/>
                </a:lnTo>
                <a:lnTo>
                  <a:pt x="8418239" y="2378153"/>
                </a:lnTo>
                <a:lnTo>
                  <a:pt x="0" y="2378153"/>
                </a:lnTo>
                <a:lnTo>
                  <a:pt x="0" y="0"/>
                </a:lnTo>
                <a:close/>
              </a:path>
            </a:pathLst>
          </a:custGeom>
          <a:blipFill>
            <a:blip r:embed="rId7"/>
            <a:stretch>
              <a:fillRect l="0" t="0" r="0" b="0"/>
            </a:stretch>
          </a:blipFill>
        </p:spPr>
      </p:sp>
      <p:sp>
        <p:nvSpPr>
          <p:cNvPr name="Freeform 8" id="8"/>
          <p:cNvSpPr/>
          <p:nvPr/>
        </p:nvSpPr>
        <p:spPr>
          <a:xfrm flipH="false" flipV="false" rot="0">
            <a:off x="9869761" y="5170868"/>
            <a:ext cx="8418239" cy="2378152"/>
          </a:xfrm>
          <a:custGeom>
            <a:avLst/>
            <a:gdLst/>
            <a:ahLst/>
            <a:cxnLst/>
            <a:rect r="r" b="b" t="t" l="l"/>
            <a:pathLst>
              <a:path h="2378152" w="8418239">
                <a:moveTo>
                  <a:pt x="0" y="0"/>
                </a:moveTo>
                <a:lnTo>
                  <a:pt x="8418239" y="0"/>
                </a:lnTo>
                <a:lnTo>
                  <a:pt x="8418239" y="2378153"/>
                </a:lnTo>
                <a:lnTo>
                  <a:pt x="0" y="2378153"/>
                </a:lnTo>
                <a:lnTo>
                  <a:pt x="0" y="0"/>
                </a:lnTo>
                <a:close/>
              </a:path>
            </a:pathLst>
          </a:custGeom>
          <a:blipFill>
            <a:blip r:embed="rId8"/>
            <a:stretch>
              <a:fillRect l="0" t="0" r="0" b="0"/>
            </a:stretch>
          </a:blipFill>
        </p:spPr>
      </p:sp>
      <p:sp>
        <p:nvSpPr>
          <p:cNvPr name="Freeform 9" id="9"/>
          <p:cNvSpPr/>
          <p:nvPr/>
        </p:nvSpPr>
        <p:spPr>
          <a:xfrm flipH="false" flipV="false" rot="0">
            <a:off x="9869761" y="7887802"/>
            <a:ext cx="8418239" cy="2399198"/>
          </a:xfrm>
          <a:custGeom>
            <a:avLst/>
            <a:gdLst/>
            <a:ahLst/>
            <a:cxnLst/>
            <a:rect r="r" b="b" t="t" l="l"/>
            <a:pathLst>
              <a:path h="2399198" w="8418239">
                <a:moveTo>
                  <a:pt x="0" y="0"/>
                </a:moveTo>
                <a:lnTo>
                  <a:pt x="8418239" y="0"/>
                </a:lnTo>
                <a:lnTo>
                  <a:pt x="8418239" y="2399198"/>
                </a:lnTo>
                <a:lnTo>
                  <a:pt x="0" y="2399198"/>
                </a:lnTo>
                <a:lnTo>
                  <a:pt x="0" y="0"/>
                </a:lnTo>
                <a:close/>
              </a:path>
            </a:pathLst>
          </a:custGeom>
          <a:blipFill>
            <a:blip r:embed="rId9"/>
            <a:stretch>
              <a:fillRect l="0" t="0" r="0" b="0"/>
            </a:stretch>
          </a:blipFill>
        </p:spPr>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763066" y="2605326"/>
            <a:ext cx="9524934" cy="2854987"/>
          </a:xfrm>
          <a:custGeom>
            <a:avLst/>
            <a:gdLst/>
            <a:ahLst/>
            <a:cxnLst/>
            <a:rect r="r" b="b" t="t" l="l"/>
            <a:pathLst>
              <a:path h="2854987" w="9524934">
                <a:moveTo>
                  <a:pt x="0" y="0"/>
                </a:moveTo>
                <a:lnTo>
                  <a:pt x="9524934" y="0"/>
                </a:lnTo>
                <a:lnTo>
                  <a:pt x="9524934" y="2854987"/>
                </a:lnTo>
                <a:lnTo>
                  <a:pt x="0" y="2854987"/>
                </a:lnTo>
                <a:lnTo>
                  <a:pt x="0" y="0"/>
                </a:lnTo>
                <a:close/>
              </a:path>
            </a:pathLst>
          </a:custGeom>
          <a:blipFill>
            <a:blip r:embed="rId2"/>
            <a:stretch>
              <a:fillRect l="0" t="0" r="0" b="0"/>
            </a:stretch>
          </a:blipFill>
        </p:spPr>
      </p:sp>
      <p:sp>
        <p:nvSpPr>
          <p:cNvPr name="Freeform 3" id="3"/>
          <p:cNvSpPr/>
          <p:nvPr/>
        </p:nvSpPr>
        <p:spPr>
          <a:xfrm flipH="false" flipV="false" rot="0">
            <a:off x="8765967" y="5460313"/>
            <a:ext cx="9522033" cy="1842974"/>
          </a:xfrm>
          <a:custGeom>
            <a:avLst/>
            <a:gdLst/>
            <a:ahLst/>
            <a:cxnLst/>
            <a:rect r="r" b="b" t="t" l="l"/>
            <a:pathLst>
              <a:path h="1842974" w="9522033">
                <a:moveTo>
                  <a:pt x="0" y="0"/>
                </a:moveTo>
                <a:lnTo>
                  <a:pt x="9522033" y="0"/>
                </a:lnTo>
                <a:lnTo>
                  <a:pt x="9522033" y="1842974"/>
                </a:lnTo>
                <a:lnTo>
                  <a:pt x="0" y="1842974"/>
                </a:lnTo>
                <a:lnTo>
                  <a:pt x="0" y="0"/>
                </a:lnTo>
                <a:close/>
              </a:path>
            </a:pathLst>
          </a:custGeom>
          <a:blipFill>
            <a:blip r:embed="rId3"/>
            <a:stretch>
              <a:fillRect l="0" t="0" r="0" b="0"/>
            </a:stretch>
          </a:blipFill>
        </p:spPr>
      </p:sp>
      <p:sp>
        <p:nvSpPr>
          <p:cNvPr name="TextBox 4" id="4"/>
          <p:cNvSpPr txBox="true"/>
          <p:nvPr/>
        </p:nvSpPr>
        <p:spPr>
          <a:xfrm rot="0">
            <a:off x="634931" y="1236277"/>
            <a:ext cx="7734366" cy="8193021"/>
          </a:xfrm>
          <a:prstGeom prst="rect">
            <a:avLst/>
          </a:prstGeom>
        </p:spPr>
        <p:txBody>
          <a:bodyPr anchor="t" rtlCol="false" tIns="0" lIns="0" bIns="0" rIns="0">
            <a:spAutoFit/>
          </a:bodyPr>
          <a:lstStyle/>
          <a:p>
            <a:pPr algn="just" marL="593939" indent="-296969" lvl="1">
              <a:lnSpc>
                <a:spcPts val="3851"/>
              </a:lnSpc>
              <a:spcBef>
                <a:spcPct val="0"/>
              </a:spcBef>
              <a:buFont typeface="Arial"/>
              <a:buChar char="•"/>
            </a:pPr>
            <a:r>
              <a:rPr lang="en-US" sz="2750">
                <a:solidFill>
                  <a:srgbClr val="000000"/>
                </a:solidFill>
                <a:latin typeface="Helios"/>
                <a:ea typeface="Helios"/>
                <a:cs typeface="Helios"/>
                <a:sym typeface="Helios"/>
              </a:rPr>
              <a:t>Hiểu rõ thuật toán: Thấy rõ cách BFS, DFS, GBFS, A* hoạt động và khác biệt.</a:t>
            </a:r>
          </a:p>
          <a:p>
            <a:pPr algn="just">
              <a:lnSpc>
                <a:spcPts val="3851"/>
              </a:lnSpc>
              <a:spcBef>
                <a:spcPct val="0"/>
              </a:spcBef>
            </a:pPr>
          </a:p>
          <a:p>
            <a:pPr algn="just" marL="593939" indent="-296969" lvl="1">
              <a:lnSpc>
                <a:spcPts val="3851"/>
              </a:lnSpc>
              <a:spcBef>
                <a:spcPct val="0"/>
              </a:spcBef>
              <a:buFont typeface="Arial"/>
              <a:buChar char="•"/>
            </a:pPr>
            <a:r>
              <a:rPr lang="en-US" sz="2750">
                <a:solidFill>
                  <a:srgbClr val="000000"/>
                </a:solidFill>
                <a:latin typeface="Helios"/>
                <a:ea typeface="Helios"/>
                <a:cs typeface="Helios"/>
                <a:sym typeface="Helios"/>
              </a:rPr>
              <a:t>Cấu trúc dữ liệu quan trọng: Frontier, visited ảnh hưởng trực tiếp đến hiệu quả.</a:t>
            </a:r>
          </a:p>
          <a:p>
            <a:pPr algn="just">
              <a:lnSpc>
                <a:spcPts val="3851"/>
              </a:lnSpc>
              <a:spcBef>
                <a:spcPct val="0"/>
              </a:spcBef>
            </a:pPr>
          </a:p>
          <a:p>
            <a:pPr algn="just" marL="593939" indent="-296969" lvl="1">
              <a:lnSpc>
                <a:spcPts val="3851"/>
              </a:lnSpc>
              <a:spcBef>
                <a:spcPct val="0"/>
              </a:spcBef>
              <a:buFont typeface="Arial"/>
              <a:buChar char="•"/>
            </a:pPr>
            <a:r>
              <a:rPr lang="en-US" sz="2750">
                <a:solidFill>
                  <a:srgbClr val="000000"/>
                </a:solidFill>
                <a:latin typeface="Helios"/>
                <a:ea typeface="Helios"/>
                <a:cs typeface="Helios"/>
                <a:sym typeface="Helios"/>
              </a:rPr>
              <a:t>Quản lý bộ nhớ: BFS tốn nhiều bộ nhớ; DFS tiết kiệm nhưng dễ lặp.</a:t>
            </a:r>
          </a:p>
          <a:p>
            <a:pPr algn="just">
              <a:lnSpc>
                <a:spcPts val="3851"/>
              </a:lnSpc>
              <a:spcBef>
                <a:spcPct val="0"/>
              </a:spcBef>
            </a:pPr>
          </a:p>
          <a:p>
            <a:pPr algn="just" marL="593939" indent="-296969" lvl="1">
              <a:lnSpc>
                <a:spcPts val="3851"/>
              </a:lnSpc>
              <a:spcBef>
                <a:spcPct val="0"/>
              </a:spcBef>
              <a:buFont typeface="Arial"/>
              <a:buChar char="•"/>
            </a:pPr>
            <a:r>
              <a:rPr lang="en-US" sz="2750">
                <a:solidFill>
                  <a:srgbClr val="000000"/>
                </a:solidFill>
                <a:latin typeface="Helios"/>
                <a:ea typeface="Helios"/>
                <a:cs typeface="Helios"/>
                <a:sym typeface="Helios"/>
              </a:rPr>
              <a:t>Heuristic: Giúp GBFS, A* nhanh hơn; A* vẫn đảm bảo tối ưu.</a:t>
            </a:r>
          </a:p>
          <a:p>
            <a:pPr algn="just">
              <a:lnSpc>
                <a:spcPts val="3851"/>
              </a:lnSpc>
              <a:spcBef>
                <a:spcPct val="0"/>
              </a:spcBef>
            </a:pPr>
          </a:p>
          <a:p>
            <a:pPr algn="just" marL="593939" indent="-296969" lvl="1">
              <a:lnSpc>
                <a:spcPts val="3851"/>
              </a:lnSpc>
              <a:spcBef>
                <a:spcPct val="0"/>
              </a:spcBef>
              <a:buFont typeface="Arial"/>
              <a:buChar char="•"/>
            </a:pPr>
            <a:r>
              <a:rPr lang="en-US" sz="2750">
                <a:solidFill>
                  <a:srgbClr val="000000"/>
                </a:solidFill>
                <a:latin typeface="Helios"/>
                <a:ea typeface="Helios"/>
                <a:cs typeface="Helios"/>
                <a:sym typeface="Helios"/>
              </a:rPr>
              <a:t>Trực quan hóa &amp; gỡ lỗi: Cần thiết để hiểu và kiểm tra thuật toán.</a:t>
            </a:r>
          </a:p>
          <a:p>
            <a:pPr algn="just">
              <a:lnSpc>
                <a:spcPts val="3851"/>
              </a:lnSpc>
              <a:spcBef>
                <a:spcPct val="0"/>
              </a:spcBef>
            </a:pPr>
          </a:p>
          <a:p>
            <a:pPr algn="just" marL="593939" indent="-296969" lvl="1">
              <a:lnSpc>
                <a:spcPts val="3851"/>
              </a:lnSpc>
              <a:spcBef>
                <a:spcPct val="0"/>
              </a:spcBef>
              <a:buFont typeface="Arial"/>
              <a:buChar char="•"/>
            </a:pPr>
            <a:r>
              <a:rPr lang="en-US" sz="2750">
                <a:solidFill>
                  <a:srgbClr val="000000"/>
                </a:solidFill>
                <a:latin typeface="Helios"/>
                <a:ea typeface="Helios"/>
                <a:cs typeface="Helios"/>
                <a:sym typeface="Helios"/>
              </a:rPr>
              <a:t>Trade-off: Luôn có đánh đổi giữa thời gian, bộ nhớ và tối ưu.</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F7FBFF"/>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6708426" y="1007040"/>
            <a:ext cx="11641929" cy="11641929"/>
          </a:xfrm>
          <a:custGeom>
            <a:avLst/>
            <a:gdLst/>
            <a:ahLst/>
            <a:cxnLst/>
            <a:rect r="r" b="b" t="t" l="l"/>
            <a:pathLst>
              <a:path h="11641929" w="11641929">
                <a:moveTo>
                  <a:pt x="0" y="0"/>
                </a:moveTo>
                <a:lnTo>
                  <a:pt x="11641929" y="0"/>
                </a:lnTo>
                <a:lnTo>
                  <a:pt x="11641929" y="11641929"/>
                </a:lnTo>
                <a:lnTo>
                  <a:pt x="0" y="11641929"/>
                </a:lnTo>
                <a:lnTo>
                  <a:pt x="0" y="0"/>
                </a:lnTo>
                <a:close/>
              </a:path>
            </a:pathLst>
          </a:custGeom>
          <a:blipFill>
            <a:blip r:embed="rId2">
              <a:alphaModFix amt="6999"/>
            </a:blip>
            <a:stretch>
              <a:fillRect l="0" t="0" r="0" b="0"/>
            </a:stretch>
          </a:blipFill>
        </p:spPr>
      </p:sp>
      <p:grpSp>
        <p:nvGrpSpPr>
          <p:cNvPr name="Group 3" id="3"/>
          <p:cNvGrpSpPr/>
          <p:nvPr/>
        </p:nvGrpSpPr>
        <p:grpSpPr>
          <a:xfrm rot="-2700000">
            <a:off x="-5431574" y="1475689"/>
            <a:ext cx="10863149" cy="10863149"/>
            <a:chOff x="0" y="0"/>
            <a:chExt cx="2041549" cy="2041549"/>
          </a:xfrm>
        </p:grpSpPr>
        <p:sp>
          <p:nvSpPr>
            <p:cNvPr name="Freeform 4" id="4"/>
            <p:cNvSpPr/>
            <p:nvPr/>
          </p:nvSpPr>
          <p:spPr>
            <a:xfrm flipH="false" flipV="false" rot="0">
              <a:off x="0" y="0"/>
              <a:ext cx="2041549" cy="2041549"/>
            </a:xfrm>
            <a:custGeom>
              <a:avLst/>
              <a:gdLst/>
              <a:ahLst/>
              <a:cxnLst/>
              <a:rect r="r" b="b" t="t" l="l"/>
              <a:pathLst>
                <a:path h="2041549" w="2041549">
                  <a:moveTo>
                    <a:pt x="71268" y="0"/>
                  </a:moveTo>
                  <a:lnTo>
                    <a:pt x="1970282" y="0"/>
                  </a:lnTo>
                  <a:cubicBezTo>
                    <a:pt x="1989183" y="0"/>
                    <a:pt x="2007310" y="7509"/>
                    <a:pt x="2020675" y="20874"/>
                  </a:cubicBezTo>
                  <a:cubicBezTo>
                    <a:pt x="2034041" y="34239"/>
                    <a:pt x="2041549" y="52366"/>
                    <a:pt x="2041549" y="71268"/>
                  </a:cubicBezTo>
                  <a:lnTo>
                    <a:pt x="2041549" y="1970282"/>
                  </a:lnTo>
                  <a:cubicBezTo>
                    <a:pt x="2041549" y="2009642"/>
                    <a:pt x="2009642" y="2041549"/>
                    <a:pt x="1970282" y="2041549"/>
                  </a:cubicBezTo>
                  <a:lnTo>
                    <a:pt x="71268" y="2041549"/>
                  </a:lnTo>
                  <a:cubicBezTo>
                    <a:pt x="31908" y="2041549"/>
                    <a:pt x="0" y="2009642"/>
                    <a:pt x="0" y="1970282"/>
                  </a:cubicBezTo>
                  <a:lnTo>
                    <a:pt x="0" y="71268"/>
                  </a:lnTo>
                  <a:cubicBezTo>
                    <a:pt x="0" y="31908"/>
                    <a:pt x="31908" y="0"/>
                    <a:pt x="71268" y="0"/>
                  </a:cubicBezTo>
                  <a:close/>
                </a:path>
              </a:pathLst>
            </a:custGeom>
            <a:solidFill>
              <a:srgbClr val="FFFFFF"/>
            </a:solidFill>
          </p:spPr>
        </p:sp>
        <p:sp>
          <p:nvSpPr>
            <p:cNvPr name="TextBox 5" id="5"/>
            <p:cNvSpPr txBox="true"/>
            <p:nvPr/>
          </p:nvSpPr>
          <p:spPr>
            <a:xfrm>
              <a:off x="0" y="-47625"/>
              <a:ext cx="2041549" cy="208917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2700000">
            <a:off x="3826817" y="519180"/>
            <a:ext cx="5636927" cy="605970"/>
          </a:xfrm>
          <a:custGeom>
            <a:avLst/>
            <a:gdLst/>
            <a:ahLst/>
            <a:cxnLst/>
            <a:rect r="r" b="b" t="t" l="l"/>
            <a:pathLst>
              <a:path h="605970" w="5636927">
                <a:moveTo>
                  <a:pt x="0" y="0"/>
                </a:moveTo>
                <a:lnTo>
                  <a:pt x="5636927" y="0"/>
                </a:lnTo>
                <a:lnTo>
                  <a:pt x="5636927" y="605969"/>
                </a:lnTo>
                <a:lnTo>
                  <a:pt x="0" y="605969"/>
                </a:lnTo>
                <a:lnTo>
                  <a:pt x="0" y="0"/>
                </a:lnTo>
                <a:close/>
              </a:path>
            </a:pathLst>
          </a:custGeom>
          <a:blipFill>
            <a:blip r:embed="rId3"/>
            <a:stretch>
              <a:fillRect l="0" t="0" r="0" b="0"/>
            </a:stretch>
          </a:blipFill>
        </p:spPr>
      </p:sp>
      <p:grpSp>
        <p:nvGrpSpPr>
          <p:cNvPr name="Group 7" id="7"/>
          <p:cNvGrpSpPr/>
          <p:nvPr/>
        </p:nvGrpSpPr>
        <p:grpSpPr>
          <a:xfrm rot="-8100000">
            <a:off x="5876289" y="161638"/>
            <a:ext cx="4275519" cy="1410169"/>
            <a:chOff x="0" y="0"/>
            <a:chExt cx="1273995" cy="420194"/>
          </a:xfrm>
        </p:grpSpPr>
        <p:sp>
          <p:nvSpPr>
            <p:cNvPr name="Freeform 8" id="8"/>
            <p:cNvSpPr/>
            <p:nvPr/>
          </p:nvSpPr>
          <p:spPr>
            <a:xfrm flipH="false" flipV="false" rot="0">
              <a:off x="0" y="0"/>
              <a:ext cx="1273995" cy="420194"/>
            </a:xfrm>
            <a:custGeom>
              <a:avLst/>
              <a:gdLst/>
              <a:ahLst/>
              <a:cxnLst/>
              <a:rect r="r" b="b" t="t" l="l"/>
              <a:pathLst>
                <a:path h="420194" w="1273995">
                  <a:moveTo>
                    <a:pt x="0" y="0"/>
                  </a:moveTo>
                  <a:lnTo>
                    <a:pt x="1273995" y="0"/>
                  </a:lnTo>
                  <a:lnTo>
                    <a:pt x="1273995" y="420194"/>
                  </a:lnTo>
                  <a:lnTo>
                    <a:pt x="0" y="420194"/>
                  </a:lnTo>
                  <a:close/>
                </a:path>
              </a:pathLst>
            </a:custGeom>
            <a:solidFill>
              <a:srgbClr val="16599D"/>
            </a:solidFill>
          </p:spPr>
        </p:sp>
        <p:sp>
          <p:nvSpPr>
            <p:cNvPr name="TextBox 9" id="9"/>
            <p:cNvSpPr txBox="true"/>
            <p:nvPr/>
          </p:nvSpPr>
          <p:spPr>
            <a:xfrm>
              <a:off x="0" y="-47625"/>
              <a:ext cx="1273995" cy="467819"/>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2700000">
            <a:off x="4743053" y="-287989"/>
            <a:ext cx="5636927" cy="605970"/>
          </a:xfrm>
          <a:custGeom>
            <a:avLst/>
            <a:gdLst/>
            <a:ahLst/>
            <a:cxnLst/>
            <a:rect r="r" b="b" t="t" l="l"/>
            <a:pathLst>
              <a:path h="605970" w="5636927">
                <a:moveTo>
                  <a:pt x="0" y="0"/>
                </a:moveTo>
                <a:lnTo>
                  <a:pt x="5636926" y="0"/>
                </a:lnTo>
                <a:lnTo>
                  <a:pt x="5636926" y="605970"/>
                </a:lnTo>
                <a:lnTo>
                  <a:pt x="0" y="605970"/>
                </a:lnTo>
                <a:lnTo>
                  <a:pt x="0" y="0"/>
                </a:lnTo>
                <a:close/>
              </a:path>
            </a:pathLst>
          </a:custGeom>
          <a:blipFill>
            <a:blip r:embed="rId3"/>
            <a:stretch>
              <a:fillRect l="0" t="0" r="0" b="0"/>
            </a:stretch>
          </a:blipFill>
        </p:spPr>
      </p:sp>
      <p:grpSp>
        <p:nvGrpSpPr>
          <p:cNvPr name="Group 11" id="11"/>
          <p:cNvGrpSpPr/>
          <p:nvPr/>
        </p:nvGrpSpPr>
        <p:grpSpPr>
          <a:xfrm rot="-8100000">
            <a:off x="6778257" y="-611085"/>
            <a:ext cx="4275519" cy="1369813"/>
            <a:chOff x="0" y="0"/>
            <a:chExt cx="1273995" cy="408169"/>
          </a:xfrm>
        </p:grpSpPr>
        <p:sp>
          <p:nvSpPr>
            <p:cNvPr name="Freeform 12" id="12"/>
            <p:cNvSpPr/>
            <p:nvPr/>
          </p:nvSpPr>
          <p:spPr>
            <a:xfrm flipH="false" flipV="false" rot="0">
              <a:off x="0" y="0"/>
              <a:ext cx="1273995" cy="408169"/>
            </a:xfrm>
            <a:custGeom>
              <a:avLst/>
              <a:gdLst/>
              <a:ahLst/>
              <a:cxnLst/>
              <a:rect r="r" b="b" t="t" l="l"/>
              <a:pathLst>
                <a:path h="408169" w="1273995">
                  <a:moveTo>
                    <a:pt x="0" y="0"/>
                  </a:moveTo>
                  <a:lnTo>
                    <a:pt x="1273995" y="0"/>
                  </a:lnTo>
                  <a:lnTo>
                    <a:pt x="1273995" y="408169"/>
                  </a:lnTo>
                  <a:lnTo>
                    <a:pt x="0" y="408169"/>
                  </a:lnTo>
                  <a:close/>
                </a:path>
              </a:pathLst>
            </a:custGeom>
            <a:solidFill>
              <a:srgbClr val="2978C8"/>
            </a:solidFill>
          </p:spPr>
        </p:sp>
        <p:sp>
          <p:nvSpPr>
            <p:cNvPr name="TextBox 13" id="13"/>
            <p:cNvSpPr txBox="true"/>
            <p:nvPr/>
          </p:nvSpPr>
          <p:spPr>
            <a:xfrm>
              <a:off x="0" y="-47625"/>
              <a:ext cx="1273995" cy="455794"/>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2700000">
            <a:off x="9562903" y="-1975037"/>
            <a:ext cx="11641929" cy="11641929"/>
          </a:xfrm>
          <a:custGeom>
            <a:avLst/>
            <a:gdLst/>
            <a:ahLst/>
            <a:cxnLst/>
            <a:rect r="r" b="b" t="t" l="l"/>
            <a:pathLst>
              <a:path h="11641929" w="11641929">
                <a:moveTo>
                  <a:pt x="0" y="0"/>
                </a:moveTo>
                <a:lnTo>
                  <a:pt x="11641929" y="0"/>
                </a:lnTo>
                <a:lnTo>
                  <a:pt x="11641929" y="11641930"/>
                </a:lnTo>
                <a:lnTo>
                  <a:pt x="0" y="11641930"/>
                </a:lnTo>
                <a:lnTo>
                  <a:pt x="0" y="0"/>
                </a:lnTo>
                <a:close/>
              </a:path>
            </a:pathLst>
          </a:custGeom>
          <a:blipFill>
            <a:blip r:embed="rId2">
              <a:alphaModFix amt="58000"/>
            </a:blip>
            <a:stretch>
              <a:fillRect l="0" t="0" r="0" b="0"/>
            </a:stretch>
          </a:blipFill>
        </p:spPr>
      </p:sp>
      <p:grpSp>
        <p:nvGrpSpPr>
          <p:cNvPr name="Group 15" id="15"/>
          <p:cNvGrpSpPr/>
          <p:nvPr/>
        </p:nvGrpSpPr>
        <p:grpSpPr>
          <a:xfrm rot="-2700000">
            <a:off x="9894321" y="-1643619"/>
            <a:ext cx="10863149" cy="10863149"/>
            <a:chOff x="0" y="0"/>
            <a:chExt cx="2041549" cy="2041549"/>
          </a:xfrm>
        </p:grpSpPr>
        <p:sp>
          <p:nvSpPr>
            <p:cNvPr name="Freeform 16" id="16"/>
            <p:cNvSpPr/>
            <p:nvPr/>
          </p:nvSpPr>
          <p:spPr>
            <a:xfrm flipH="false" flipV="false" rot="0">
              <a:off x="0" y="0"/>
              <a:ext cx="2041549" cy="2041549"/>
            </a:xfrm>
            <a:custGeom>
              <a:avLst/>
              <a:gdLst/>
              <a:ahLst/>
              <a:cxnLst/>
              <a:rect r="r" b="b" t="t" l="l"/>
              <a:pathLst>
                <a:path h="2041549" w="2041549">
                  <a:moveTo>
                    <a:pt x="71268" y="0"/>
                  </a:moveTo>
                  <a:lnTo>
                    <a:pt x="1970282" y="0"/>
                  </a:lnTo>
                  <a:cubicBezTo>
                    <a:pt x="1989183" y="0"/>
                    <a:pt x="2007310" y="7509"/>
                    <a:pt x="2020675" y="20874"/>
                  </a:cubicBezTo>
                  <a:cubicBezTo>
                    <a:pt x="2034041" y="34239"/>
                    <a:pt x="2041549" y="52366"/>
                    <a:pt x="2041549" y="71268"/>
                  </a:cubicBezTo>
                  <a:lnTo>
                    <a:pt x="2041549" y="1970282"/>
                  </a:lnTo>
                  <a:cubicBezTo>
                    <a:pt x="2041549" y="2009642"/>
                    <a:pt x="2009642" y="2041549"/>
                    <a:pt x="1970282" y="2041549"/>
                  </a:cubicBezTo>
                  <a:lnTo>
                    <a:pt x="71268" y="2041549"/>
                  </a:lnTo>
                  <a:cubicBezTo>
                    <a:pt x="31908" y="2041549"/>
                    <a:pt x="0" y="2009642"/>
                    <a:pt x="0" y="1970282"/>
                  </a:cubicBezTo>
                  <a:lnTo>
                    <a:pt x="0" y="71268"/>
                  </a:lnTo>
                  <a:cubicBezTo>
                    <a:pt x="0" y="31908"/>
                    <a:pt x="31908" y="0"/>
                    <a:pt x="71268" y="0"/>
                  </a:cubicBezTo>
                  <a:close/>
                </a:path>
              </a:pathLst>
            </a:custGeom>
            <a:solidFill>
              <a:srgbClr val="FFFFFF"/>
            </a:solidFill>
          </p:spPr>
        </p:sp>
        <p:sp>
          <p:nvSpPr>
            <p:cNvPr name="TextBox 17" id="17"/>
            <p:cNvSpPr txBox="true"/>
            <p:nvPr/>
          </p:nvSpPr>
          <p:spPr>
            <a:xfrm>
              <a:off x="0" y="-47625"/>
              <a:ext cx="2041549" cy="2089174"/>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8624254" y="-2913686"/>
            <a:ext cx="13403282" cy="13403282"/>
            <a:chOff x="0" y="0"/>
            <a:chExt cx="812800" cy="812800"/>
          </a:xfrm>
        </p:grpSpPr>
        <p:sp>
          <p:nvSpPr>
            <p:cNvPr name="Freeform 19" id="19"/>
            <p:cNvSpPr/>
            <p:nvPr/>
          </p:nvSpPr>
          <p:spPr>
            <a:xfrm flipH="false" flipV="false" rot="0">
              <a:off x="14834" y="14834"/>
              <a:ext cx="783132" cy="783132"/>
            </a:xfrm>
            <a:custGeom>
              <a:avLst/>
              <a:gdLst/>
              <a:ahLst/>
              <a:cxnLst/>
              <a:rect r="r" b="b" t="t" l="l"/>
              <a:pathLst>
                <a:path h="783132" w="783132">
                  <a:moveTo>
                    <a:pt x="416889" y="10489"/>
                  </a:moveTo>
                  <a:lnTo>
                    <a:pt x="772643" y="366243"/>
                  </a:lnTo>
                  <a:cubicBezTo>
                    <a:pt x="779359" y="372959"/>
                    <a:pt x="783132" y="382068"/>
                    <a:pt x="783132" y="391566"/>
                  </a:cubicBezTo>
                  <a:cubicBezTo>
                    <a:pt x="783132" y="401064"/>
                    <a:pt x="779359" y="410173"/>
                    <a:pt x="772643" y="416889"/>
                  </a:cubicBezTo>
                  <a:lnTo>
                    <a:pt x="416889" y="772643"/>
                  </a:lnTo>
                  <a:cubicBezTo>
                    <a:pt x="410173" y="779359"/>
                    <a:pt x="401064" y="783132"/>
                    <a:pt x="391566" y="783132"/>
                  </a:cubicBezTo>
                  <a:cubicBezTo>
                    <a:pt x="382068" y="783132"/>
                    <a:pt x="372959" y="779359"/>
                    <a:pt x="366243" y="772643"/>
                  </a:cubicBezTo>
                  <a:lnTo>
                    <a:pt x="10489" y="416889"/>
                  </a:lnTo>
                  <a:cubicBezTo>
                    <a:pt x="3773" y="410173"/>
                    <a:pt x="0" y="401064"/>
                    <a:pt x="0" y="391566"/>
                  </a:cubicBezTo>
                  <a:cubicBezTo>
                    <a:pt x="0" y="382068"/>
                    <a:pt x="3773" y="372959"/>
                    <a:pt x="10489" y="366243"/>
                  </a:cubicBezTo>
                  <a:lnTo>
                    <a:pt x="366243" y="10489"/>
                  </a:lnTo>
                  <a:cubicBezTo>
                    <a:pt x="372959" y="3773"/>
                    <a:pt x="382068" y="0"/>
                    <a:pt x="391566" y="0"/>
                  </a:cubicBezTo>
                  <a:cubicBezTo>
                    <a:pt x="401064" y="0"/>
                    <a:pt x="410173" y="3773"/>
                    <a:pt x="416889" y="10489"/>
                  </a:cubicBezTo>
                  <a:close/>
                </a:path>
              </a:pathLst>
            </a:custGeom>
            <a:blipFill>
              <a:blip r:embed="rId4"/>
              <a:stretch>
                <a:fillRect l="-22082" t="-3974" r="-36719" b="-1894"/>
              </a:stretch>
            </a:blipFill>
          </p:spPr>
        </p:sp>
      </p:grpSp>
      <p:sp>
        <p:nvSpPr>
          <p:cNvPr name="Freeform 20" id="20"/>
          <p:cNvSpPr/>
          <p:nvPr/>
        </p:nvSpPr>
        <p:spPr>
          <a:xfrm flipH="false" flipV="false" rot="8100000">
            <a:off x="7965362" y="10637768"/>
            <a:ext cx="5636927" cy="605970"/>
          </a:xfrm>
          <a:custGeom>
            <a:avLst/>
            <a:gdLst/>
            <a:ahLst/>
            <a:cxnLst/>
            <a:rect r="r" b="b" t="t" l="l"/>
            <a:pathLst>
              <a:path h="605970" w="5636927">
                <a:moveTo>
                  <a:pt x="0" y="0"/>
                </a:moveTo>
                <a:lnTo>
                  <a:pt x="5636927" y="0"/>
                </a:lnTo>
                <a:lnTo>
                  <a:pt x="5636927" y="605969"/>
                </a:lnTo>
                <a:lnTo>
                  <a:pt x="0" y="605969"/>
                </a:lnTo>
                <a:lnTo>
                  <a:pt x="0" y="0"/>
                </a:lnTo>
                <a:close/>
              </a:path>
            </a:pathLst>
          </a:custGeom>
          <a:blipFill>
            <a:blip r:embed="rId3"/>
            <a:stretch>
              <a:fillRect l="0" t="0" r="0" b="0"/>
            </a:stretch>
          </a:blipFill>
        </p:spPr>
      </p:sp>
      <p:grpSp>
        <p:nvGrpSpPr>
          <p:cNvPr name="Group 21" id="21"/>
          <p:cNvGrpSpPr/>
          <p:nvPr/>
        </p:nvGrpSpPr>
        <p:grpSpPr>
          <a:xfrm rot="-2700000">
            <a:off x="10719628" y="6615897"/>
            <a:ext cx="10211745" cy="2440924"/>
            <a:chOff x="0" y="0"/>
            <a:chExt cx="3042837" cy="727333"/>
          </a:xfrm>
        </p:grpSpPr>
        <p:sp>
          <p:nvSpPr>
            <p:cNvPr name="Freeform 22" id="22"/>
            <p:cNvSpPr/>
            <p:nvPr/>
          </p:nvSpPr>
          <p:spPr>
            <a:xfrm flipH="false" flipV="false" rot="0">
              <a:off x="0" y="0"/>
              <a:ext cx="3042837" cy="727333"/>
            </a:xfrm>
            <a:custGeom>
              <a:avLst/>
              <a:gdLst/>
              <a:ahLst/>
              <a:cxnLst/>
              <a:rect r="r" b="b" t="t" l="l"/>
              <a:pathLst>
                <a:path h="727333" w="3042837">
                  <a:moveTo>
                    <a:pt x="0" y="0"/>
                  </a:moveTo>
                  <a:lnTo>
                    <a:pt x="3042837" y="0"/>
                  </a:lnTo>
                  <a:lnTo>
                    <a:pt x="3042837" y="727333"/>
                  </a:lnTo>
                  <a:lnTo>
                    <a:pt x="0" y="727333"/>
                  </a:lnTo>
                  <a:close/>
                </a:path>
              </a:pathLst>
            </a:custGeom>
            <a:solidFill>
              <a:srgbClr val="16599D"/>
            </a:solidFill>
          </p:spPr>
        </p:sp>
        <p:sp>
          <p:nvSpPr>
            <p:cNvPr name="TextBox 23" id="23"/>
            <p:cNvSpPr txBox="true"/>
            <p:nvPr/>
          </p:nvSpPr>
          <p:spPr>
            <a:xfrm>
              <a:off x="0" y="-47625"/>
              <a:ext cx="3042837" cy="774958"/>
            </a:xfrm>
            <a:prstGeom prst="rect">
              <a:avLst/>
            </a:prstGeom>
          </p:spPr>
          <p:txBody>
            <a:bodyPr anchor="ctr" rtlCol="false" tIns="50800" lIns="50800" bIns="50800" rIns="50800"/>
            <a:lstStyle/>
            <a:p>
              <a:pPr algn="ctr">
                <a:lnSpc>
                  <a:spcPts val="2659"/>
                </a:lnSpc>
                <a:spcBef>
                  <a:spcPct val="0"/>
                </a:spcBef>
              </a:pPr>
            </a:p>
          </p:txBody>
        </p:sp>
      </p:grpSp>
      <p:sp>
        <p:nvSpPr>
          <p:cNvPr name="Freeform 24" id="24"/>
          <p:cNvSpPr/>
          <p:nvPr/>
        </p:nvSpPr>
        <p:spPr>
          <a:xfrm flipH="false" flipV="false" rot="8100000">
            <a:off x="13721104" y="8138017"/>
            <a:ext cx="5636927" cy="605970"/>
          </a:xfrm>
          <a:custGeom>
            <a:avLst/>
            <a:gdLst/>
            <a:ahLst/>
            <a:cxnLst/>
            <a:rect r="r" b="b" t="t" l="l"/>
            <a:pathLst>
              <a:path h="605970" w="5636927">
                <a:moveTo>
                  <a:pt x="0" y="0"/>
                </a:moveTo>
                <a:lnTo>
                  <a:pt x="5636926" y="0"/>
                </a:lnTo>
                <a:lnTo>
                  <a:pt x="5636926" y="605970"/>
                </a:lnTo>
                <a:lnTo>
                  <a:pt x="0" y="605970"/>
                </a:lnTo>
                <a:lnTo>
                  <a:pt x="0" y="0"/>
                </a:lnTo>
                <a:close/>
              </a:path>
            </a:pathLst>
          </a:custGeom>
          <a:blipFill>
            <a:blip r:embed="rId3"/>
            <a:stretch>
              <a:fillRect l="0" t="0" r="0" b="0"/>
            </a:stretch>
          </a:blipFill>
        </p:spPr>
      </p:sp>
      <p:grpSp>
        <p:nvGrpSpPr>
          <p:cNvPr name="Group 25" id="25"/>
          <p:cNvGrpSpPr/>
          <p:nvPr/>
        </p:nvGrpSpPr>
        <p:grpSpPr>
          <a:xfrm rot="-2700000">
            <a:off x="14773604" y="8138004"/>
            <a:ext cx="5641848" cy="2550578"/>
            <a:chOff x="0" y="0"/>
            <a:chExt cx="1681125" cy="760006"/>
          </a:xfrm>
        </p:grpSpPr>
        <p:sp>
          <p:nvSpPr>
            <p:cNvPr name="Freeform 26" id="26"/>
            <p:cNvSpPr/>
            <p:nvPr/>
          </p:nvSpPr>
          <p:spPr>
            <a:xfrm flipH="false" flipV="false" rot="0">
              <a:off x="0" y="0"/>
              <a:ext cx="1681125" cy="760006"/>
            </a:xfrm>
            <a:custGeom>
              <a:avLst/>
              <a:gdLst/>
              <a:ahLst/>
              <a:cxnLst/>
              <a:rect r="r" b="b" t="t" l="l"/>
              <a:pathLst>
                <a:path h="760006" w="1681125">
                  <a:moveTo>
                    <a:pt x="0" y="0"/>
                  </a:moveTo>
                  <a:lnTo>
                    <a:pt x="1681125" y="0"/>
                  </a:lnTo>
                  <a:lnTo>
                    <a:pt x="1681125" y="760006"/>
                  </a:lnTo>
                  <a:lnTo>
                    <a:pt x="0" y="760006"/>
                  </a:lnTo>
                  <a:close/>
                </a:path>
              </a:pathLst>
            </a:custGeom>
            <a:solidFill>
              <a:srgbClr val="2978C8"/>
            </a:solidFill>
          </p:spPr>
        </p:sp>
        <p:sp>
          <p:nvSpPr>
            <p:cNvPr name="TextBox 27" id="27"/>
            <p:cNvSpPr txBox="true"/>
            <p:nvPr/>
          </p:nvSpPr>
          <p:spPr>
            <a:xfrm>
              <a:off x="0" y="-47625"/>
              <a:ext cx="1681125" cy="807631"/>
            </a:xfrm>
            <a:prstGeom prst="rect">
              <a:avLst/>
            </a:prstGeom>
          </p:spPr>
          <p:txBody>
            <a:bodyPr anchor="ctr" rtlCol="false" tIns="50800" lIns="50800" bIns="50800" rIns="50800"/>
            <a:lstStyle/>
            <a:p>
              <a:pPr algn="ctr">
                <a:lnSpc>
                  <a:spcPts val="2659"/>
                </a:lnSpc>
                <a:spcBef>
                  <a:spcPct val="0"/>
                </a:spcBef>
              </a:pPr>
            </a:p>
          </p:txBody>
        </p:sp>
      </p:grpSp>
      <p:sp>
        <p:nvSpPr>
          <p:cNvPr name="Freeform 28" id="28"/>
          <p:cNvSpPr/>
          <p:nvPr/>
        </p:nvSpPr>
        <p:spPr>
          <a:xfrm flipH="false" flipV="false" rot="0">
            <a:off x="1028700" y="1275300"/>
            <a:ext cx="825645" cy="690102"/>
          </a:xfrm>
          <a:custGeom>
            <a:avLst/>
            <a:gdLst/>
            <a:ahLst/>
            <a:cxnLst/>
            <a:rect r="r" b="b" t="t" l="l"/>
            <a:pathLst>
              <a:path h="690102" w="825645">
                <a:moveTo>
                  <a:pt x="0" y="0"/>
                </a:moveTo>
                <a:lnTo>
                  <a:pt x="825645" y="0"/>
                </a:lnTo>
                <a:lnTo>
                  <a:pt x="825645" y="690102"/>
                </a:lnTo>
                <a:lnTo>
                  <a:pt x="0" y="6901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9" id="29"/>
          <p:cNvGrpSpPr/>
          <p:nvPr/>
        </p:nvGrpSpPr>
        <p:grpSpPr>
          <a:xfrm rot="-10800000">
            <a:off x="1028700" y="5772330"/>
            <a:ext cx="934250" cy="106173"/>
            <a:chOff x="0" y="0"/>
            <a:chExt cx="278383" cy="31637"/>
          </a:xfrm>
        </p:grpSpPr>
        <p:sp>
          <p:nvSpPr>
            <p:cNvPr name="Freeform 30" id="30"/>
            <p:cNvSpPr/>
            <p:nvPr/>
          </p:nvSpPr>
          <p:spPr>
            <a:xfrm flipH="false" flipV="false" rot="0">
              <a:off x="0" y="0"/>
              <a:ext cx="278383" cy="31637"/>
            </a:xfrm>
            <a:custGeom>
              <a:avLst/>
              <a:gdLst/>
              <a:ahLst/>
              <a:cxnLst/>
              <a:rect r="r" b="b" t="t" l="l"/>
              <a:pathLst>
                <a:path h="31637" w="278383">
                  <a:moveTo>
                    <a:pt x="15818" y="0"/>
                  </a:moveTo>
                  <a:lnTo>
                    <a:pt x="262564" y="0"/>
                  </a:lnTo>
                  <a:cubicBezTo>
                    <a:pt x="266759" y="0"/>
                    <a:pt x="270783" y="1667"/>
                    <a:pt x="273749" y="4633"/>
                  </a:cubicBezTo>
                  <a:cubicBezTo>
                    <a:pt x="276716" y="7600"/>
                    <a:pt x="278383" y="11623"/>
                    <a:pt x="278383" y="15818"/>
                  </a:cubicBezTo>
                  <a:lnTo>
                    <a:pt x="278383" y="15818"/>
                  </a:lnTo>
                  <a:cubicBezTo>
                    <a:pt x="278383" y="24555"/>
                    <a:pt x="271300" y="31637"/>
                    <a:pt x="262564" y="31637"/>
                  </a:cubicBezTo>
                  <a:lnTo>
                    <a:pt x="15818" y="31637"/>
                  </a:lnTo>
                  <a:cubicBezTo>
                    <a:pt x="11623" y="31637"/>
                    <a:pt x="7600" y="29970"/>
                    <a:pt x="4633" y="27004"/>
                  </a:cubicBezTo>
                  <a:cubicBezTo>
                    <a:pt x="1667" y="24037"/>
                    <a:pt x="0" y="20014"/>
                    <a:pt x="0" y="15818"/>
                  </a:cubicBezTo>
                  <a:lnTo>
                    <a:pt x="0" y="15818"/>
                  </a:lnTo>
                  <a:cubicBezTo>
                    <a:pt x="0" y="11623"/>
                    <a:pt x="1667" y="7600"/>
                    <a:pt x="4633" y="4633"/>
                  </a:cubicBezTo>
                  <a:cubicBezTo>
                    <a:pt x="7600" y="1667"/>
                    <a:pt x="11623" y="0"/>
                    <a:pt x="15818" y="0"/>
                  </a:cubicBezTo>
                  <a:close/>
                </a:path>
              </a:pathLst>
            </a:custGeom>
            <a:solidFill>
              <a:srgbClr val="2978C8"/>
            </a:solidFill>
          </p:spPr>
        </p:sp>
        <p:sp>
          <p:nvSpPr>
            <p:cNvPr name="TextBox 31" id="31"/>
            <p:cNvSpPr txBox="true"/>
            <p:nvPr/>
          </p:nvSpPr>
          <p:spPr>
            <a:xfrm>
              <a:off x="0" y="-47625"/>
              <a:ext cx="278383" cy="79262"/>
            </a:xfrm>
            <a:prstGeom prst="rect">
              <a:avLst/>
            </a:prstGeom>
          </p:spPr>
          <p:txBody>
            <a:bodyPr anchor="ctr" rtlCol="false" tIns="50800" lIns="50800" bIns="50800" rIns="50800"/>
            <a:lstStyle/>
            <a:p>
              <a:pPr algn="ctr">
                <a:lnSpc>
                  <a:spcPts val="2659"/>
                </a:lnSpc>
                <a:spcBef>
                  <a:spcPct val="0"/>
                </a:spcBef>
              </a:pPr>
            </a:p>
          </p:txBody>
        </p:sp>
      </p:grpSp>
      <p:grpSp>
        <p:nvGrpSpPr>
          <p:cNvPr name="Group 32" id="32"/>
          <p:cNvGrpSpPr/>
          <p:nvPr/>
        </p:nvGrpSpPr>
        <p:grpSpPr>
          <a:xfrm rot="-10800000">
            <a:off x="2058200" y="5772330"/>
            <a:ext cx="312889" cy="106173"/>
            <a:chOff x="0" y="0"/>
            <a:chExt cx="93233" cy="31637"/>
          </a:xfrm>
        </p:grpSpPr>
        <p:sp>
          <p:nvSpPr>
            <p:cNvPr name="Freeform 33" id="33"/>
            <p:cNvSpPr/>
            <p:nvPr/>
          </p:nvSpPr>
          <p:spPr>
            <a:xfrm flipH="false" flipV="false" rot="0">
              <a:off x="0" y="0"/>
              <a:ext cx="93233" cy="31637"/>
            </a:xfrm>
            <a:custGeom>
              <a:avLst/>
              <a:gdLst/>
              <a:ahLst/>
              <a:cxnLst/>
              <a:rect r="r" b="b" t="t" l="l"/>
              <a:pathLst>
                <a:path h="31637" w="93233">
                  <a:moveTo>
                    <a:pt x="15818" y="0"/>
                  </a:moveTo>
                  <a:lnTo>
                    <a:pt x="77415" y="0"/>
                  </a:lnTo>
                  <a:cubicBezTo>
                    <a:pt x="86151" y="0"/>
                    <a:pt x="93233" y="7082"/>
                    <a:pt x="93233" y="15818"/>
                  </a:cubicBezTo>
                  <a:lnTo>
                    <a:pt x="93233" y="15818"/>
                  </a:lnTo>
                  <a:cubicBezTo>
                    <a:pt x="93233" y="20014"/>
                    <a:pt x="91566" y="24037"/>
                    <a:pt x="88600" y="27004"/>
                  </a:cubicBezTo>
                  <a:cubicBezTo>
                    <a:pt x="85633" y="29970"/>
                    <a:pt x="81610" y="31637"/>
                    <a:pt x="77415" y="31637"/>
                  </a:cubicBezTo>
                  <a:lnTo>
                    <a:pt x="15818" y="31637"/>
                  </a:lnTo>
                  <a:cubicBezTo>
                    <a:pt x="11623" y="31637"/>
                    <a:pt x="7600" y="29970"/>
                    <a:pt x="4633" y="27004"/>
                  </a:cubicBezTo>
                  <a:cubicBezTo>
                    <a:pt x="1667" y="24037"/>
                    <a:pt x="0" y="20014"/>
                    <a:pt x="0" y="15818"/>
                  </a:cubicBezTo>
                  <a:lnTo>
                    <a:pt x="0" y="15818"/>
                  </a:lnTo>
                  <a:cubicBezTo>
                    <a:pt x="0" y="11623"/>
                    <a:pt x="1667" y="7600"/>
                    <a:pt x="4633" y="4633"/>
                  </a:cubicBezTo>
                  <a:cubicBezTo>
                    <a:pt x="7600" y="1667"/>
                    <a:pt x="11623" y="0"/>
                    <a:pt x="15818" y="0"/>
                  </a:cubicBezTo>
                  <a:close/>
                </a:path>
              </a:pathLst>
            </a:custGeom>
            <a:solidFill>
              <a:srgbClr val="292A2B"/>
            </a:solidFill>
          </p:spPr>
        </p:sp>
        <p:sp>
          <p:nvSpPr>
            <p:cNvPr name="TextBox 34" id="34"/>
            <p:cNvSpPr txBox="true"/>
            <p:nvPr/>
          </p:nvSpPr>
          <p:spPr>
            <a:xfrm>
              <a:off x="0" y="-47625"/>
              <a:ext cx="93233" cy="79262"/>
            </a:xfrm>
            <a:prstGeom prst="rect">
              <a:avLst/>
            </a:prstGeom>
          </p:spPr>
          <p:txBody>
            <a:bodyPr anchor="ctr" rtlCol="false" tIns="50800" lIns="50800" bIns="50800" rIns="50800"/>
            <a:lstStyle/>
            <a:p>
              <a:pPr algn="ctr">
                <a:lnSpc>
                  <a:spcPts val="2659"/>
                </a:lnSpc>
                <a:spcBef>
                  <a:spcPct val="0"/>
                </a:spcBef>
              </a:pPr>
            </a:p>
          </p:txBody>
        </p:sp>
      </p:grpSp>
      <p:sp>
        <p:nvSpPr>
          <p:cNvPr name="TextBox 35" id="35"/>
          <p:cNvSpPr txBox="true"/>
          <p:nvPr/>
        </p:nvSpPr>
        <p:spPr>
          <a:xfrm rot="0">
            <a:off x="1065617" y="3466432"/>
            <a:ext cx="6615789" cy="1118810"/>
          </a:xfrm>
          <a:prstGeom prst="rect">
            <a:avLst/>
          </a:prstGeom>
        </p:spPr>
        <p:txBody>
          <a:bodyPr anchor="t" rtlCol="false" tIns="0" lIns="0" bIns="0" rIns="0">
            <a:spAutoFit/>
          </a:bodyPr>
          <a:lstStyle/>
          <a:p>
            <a:pPr algn="l">
              <a:lnSpc>
                <a:spcPts val="8469"/>
              </a:lnSpc>
            </a:pPr>
            <a:r>
              <a:rPr lang="en-US" b="true" sz="7699">
                <a:solidFill>
                  <a:srgbClr val="16599D"/>
                </a:solidFill>
                <a:latin typeface="Helios Bold"/>
                <a:ea typeface="Helios Bold"/>
                <a:cs typeface="Helios Bold"/>
                <a:sym typeface="Helios Bold"/>
              </a:rPr>
              <a:t>THANK YOU</a:t>
            </a:r>
          </a:p>
        </p:txBody>
      </p:sp>
      <p:sp>
        <p:nvSpPr>
          <p:cNvPr name="TextBox 36" id="36"/>
          <p:cNvSpPr txBox="true"/>
          <p:nvPr/>
        </p:nvSpPr>
        <p:spPr>
          <a:xfrm rot="0">
            <a:off x="1151791" y="6821538"/>
            <a:ext cx="6192835" cy="1408848"/>
          </a:xfrm>
          <a:prstGeom prst="rect">
            <a:avLst/>
          </a:prstGeom>
        </p:spPr>
        <p:txBody>
          <a:bodyPr anchor="t" rtlCol="false" tIns="0" lIns="0" bIns="0" rIns="0">
            <a:spAutoFit/>
          </a:bodyPr>
          <a:lstStyle/>
          <a:p>
            <a:pPr algn="l">
              <a:lnSpc>
                <a:spcPts val="5663"/>
              </a:lnSpc>
              <a:spcBef>
                <a:spcPct val="0"/>
              </a:spcBef>
            </a:pPr>
            <a:r>
              <a:rPr lang="en-US" sz="4045">
                <a:solidFill>
                  <a:srgbClr val="292A2B"/>
                </a:solidFill>
                <a:latin typeface="Helios"/>
                <a:ea typeface="Helios"/>
                <a:cs typeface="Helios"/>
                <a:sym typeface="Helios"/>
              </a:rPr>
              <a:t>FOR YOUR ATTENTION AND PARTICIPATION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DAG01etoFHg</dc:identifier>
  <dcterms:modified xsi:type="dcterms:W3CDTF">2011-08-01T06:04:30Z</dcterms:modified>
  <cp:revision>1</cp:revision>
  <dc:title>TTNTNC</dc:title>
</cp:coreProperties>
</file>